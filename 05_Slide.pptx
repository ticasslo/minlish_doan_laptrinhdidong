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7"/>
  </p:notesMasterIdLst>
  <p:sldIdLst>
    <p:sldId id="256" r:id="rId2"/>
    <p:sldId id="281" r:id="rId3"/>
    <p:sldId id="257" r:id="rId4"/>
    <p:sldId id="258" r:id="rId5"/>
    <p:sldId id="259" r:id="rId6"/>
    <p:sldId id="260" r:id="rId7"/>
    <p:sldId id="261" r:id="rId8"/>
    <p:sldId id="262" r:id="rId9"/>
    <p:sldId id="280" r:id="rId10"/>
    <p:sldId id="273" r:id="rId11"/>
    <p:sldId id="274" r:id="rId12"/>
    <p:sldId id="275" r:id="rId13"/>
    <p:sldId id="276" r:id="rId14"/>
    <p:sldId id="277" r:id="rId15"/>
    <p:sldId id="278" r:id="rId16"/>
    <p:sldId id="279" r:id="rId17"/>
    <p:sldId id="263" r:id="rId18"/>
    <p:sldId id="264" r:id="rId19"/>
    <p:sldId id="265" r:id="rId20"/>
    <p:sldId id="266" r:id="rId21"/>
    <p:sldId id="267" r:id="rId22"/>
    <p:sldId id="268" r:id="rId23"/>
    <p:sldId id="269" r:id="rId24"/>
    <p:sldId id="270" r:id="rId25"/>
    <p:sldId id="271" r:id="rId26"/>
    <p:sldId id="272" r:id="rId27"/>
    <p:sldId id="291" r:id="rId28"/>
    <p:sldId id="283" r:id="rId29"/>
    <p:sldId id="284" r:id="rId30"/>
    <p:sldId id="285" r:id="rId31"/>
    <p:sldId id="286" r:id="rId32"/>
    <p:sldId id="287" r:id="rId33"/>
    <p:sldId id="288" r:id="rId34"/>
    <p:sldId id="289" r:id="rId35"/>
    <p:sldId id="290" r:id="rId36"/>
  </p:sldIdLst>
  <p:sldSz cx="18288000" cy="10287000"/>
  <p:notesSz cx="6858000" cy="9144000"/>
  <p:embeddedFontLst>
    <p:embeddedFont>
      <p:font typeface="Fraunces" panose="020B0604020202020204" charset="-93"/>
      <p:regular r:id="rId38"/>
    </p:embeddedFont>
    <p:embeddedFont>
      <p:font typeface="Fraunces Bold" panose="020B0604020202020204" charset="-93"/>
      <p:regular r:id="rId39"/>
    </p:embeddedFont>
    <p:embeddedFont>
      <p:font typeface="Fraunces Italics" panose="020B0604020202020204" charset="0"/>
      <p:regular r:id="rId40"/>
    </p:embeddedFont>
    <p:embeddedFont>
      <p:font typeface="Montserrat Black" panose="00000A00000000000000" pitchFamily="2" charset="-93"/>
      <p:bold r:id="rId41"/>
      <p:boldItalic r:id="rId42"/>
    </p:embeddedFont>
    <p:embeddedFont>
      <p:font typeface="Montserrat Bold" panose="020B0604020202020204" charset="-93"/>
      <p:bold r:id="rId43"/>
    </p:embeddedFont>
    <p:embeddedFont>
      <p:font typeface="Montserrat ExtraBold" panose="00000900000000000000" pitchFamily="2" charset="-93"/>
      <p:bold r:id="rId44"/>
      <p:boldItalic r:id="rId45"/>
    </p:embeddedFont>
    <p:embeddedFont>
      <p:font typeface="Open Sans" panose="020B0606030504020204" pitchFamily="34" charset="0"/>
      <p:regular r:id="rId46"/>
      <p:bold r:id="rId47"/>
      <p:italic r:id="rId48"/>
      <p:boldItalic r:id="rId49"/>
    </p:embeddedFont>
    <p:embeddedFont>
      <p:font typeface="Open Sans Bold" panose="020B0806030504020204" charset="0"/>
      <p:bold r:id="rId50"/>
    </p:embeddedFont>
    <p:embeddedFont>
      <p:font typeface="Open Sans SemiBold" panose="020B0706030804020204" pitchFamily="34" charset="0"/>
      <p:bold r:id="rId51"/>
      <p:boldItalic r:id="rId5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6" userDrawn="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4" d="100"/>
          <a:sy n="54" d="100"/>
        </p:scale>
        <p:origin x="754" y="67"/>
      </p:cViewPr>
      <p:guideLst>
        <p:guide orient="horz" pos="2136"/>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47" Type="http://schemas.openxmlformats.org/officeDocument/2006/relationships/font" Target="fonts/font10.fntdata"/><Relationship Id="rId50" Type="http://schemas.openxmlformats.org/officeDocument/2006/relationships/font" Target="fonts/font13.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font" Target="fonts/font8.fntdata"/><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7.fntdata"/><Relationship Id="rId52" Type="http://schemas.openxmlformats.org/officeDocument/2006/relationships/font" Target="fonts/font1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6.fntdata"/><Relationship Id="rId48" Type="http://schemas.openxmlformats.org/officeDocument/2006/relationships/font" Target="fonts/font11.fntdata"/><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14.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font" Target="fonts/font4.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Đầu trang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Chỗ dành sẵn cho Ngày tháng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9D6714-1E2F-497C-A18F-E5E002DD4F33}" type="datetimeFigureOut">
              <a:rPr lang="vi-VN" smtClean="0"/>
              <a:t>05/06/2026</a:t>
            </a:fld>
            <a:endParaRPr lang="vi-VN"/>
          </a:p>
        </p:txBody>
      </p:sp>
      <p:sp>
        <p:nvSpPr>
          <p:cNvPr id="4" name="Chỗ dành sẵn cho Hình ảnh của Bản chiế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Chỗ dành sẵn cho Ghi ch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6" name="Chỗ dành sẵn cho Chân trang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Chỗ dành sẵn cho Số hiệu Bản chiế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580F70-608F-404B-A11F-FB944F98112E}" type="slidenum">
              <a:rPr lang="vi-VN" smtClean="0"/>
              <a:t>‹#›</a:t>
            </a:fld>
            <a:endParaRPr lang="vi-VN"/>
          </a:p>
        </p:txBody>
      </p:sp>
    </p:spTree>
    <p:extLst>
      <p:ext uri="{BB962C8B-B14F-4D97-AF65-F5344CB8AC3E}">
        <p14:creationId xmlns:p14="http://schemas.microsoft.com/office/powerpoint/2010/main" val="14689063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641CA-E614-1AA8-6E94-BBDE5139F5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2077DB-0736-5D0A-2EA7-2CDBFEF3E0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BFAFE4-CA42-110C-07BF-B97F290512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DA1EFE-15CC-E194-2606-80A44DF0EB71}"/>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8452758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 name="Google Shape;3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latin typeface="Montserrat ExtraBold" panose="00000900000000000000" pitchFamily="2" charset="-93"/>
            </a:endParaRPr>
          </a:p>
        </p:txBody>
      </p:sp>
      <p:sp>
        <p:nvSpPr>
          <p:cNvPr id="40" name="Google Shape;40;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atin typeface="Montserrat ExtraBold" panose="00000900000000000000" pitchFamily="2" charset="-93"/>
              </a:rPr>
              <a:t>3</a:t>
            </a:fld>
            <a:endParaRPr dirty="0">
              <a:latin typeface="Montserrat ExtraBold" panose="00000900000000000000" pitchFamily="2" charset="-93"/>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 name="Google Shape;7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latin typeface="Montserrat ExtraBold" panose="00000900000000000000" pitchFamily="2" charset="-93"/>
            </a:endParaRPr>
          </a:p>
        </p:txBody>
      </p:sp>
      <p:sp>
        <p:nvSpPr>
          <p:cNvPr id="72" name="Google Shape;72;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atin typeface="Montserrat ExtraBold" panose="00000900000000000000" pitchFamily="2" charset="-93"/>
              </a:rPr>
              <a:t>4</a:t>
            </a:fld>
            <a:endParaRPr dirty="0">
              <a:latin typeface="Montserrat ExtraBold" panose="00000900000000000000" pitchFamily="2" charset="-93"/>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 name="Google Shape;9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latin typeface="Montserrat ExtraBold" panose="00000900000000000000" pitchFamily="2" charset="-93"/>
            </a:endParaRPr>
          </a:p>
        </p:txBody>
      </p:sp>
      <p:sp>
        <p:nvSpPr>
          <p:cNvPr id="97" name="Google Shape;97;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atin typeface="Montserrat ExtraBold" panose="00000900000000000000" pitchFamily="2" charset="-93"/>
              </a:rPr>
              <a:t>5</a:t>
            </a:fld>
            <a:endParaRPr dirty="0">
              <a:latin typeface="Montserrat ExtraBold" panose="00000900000000000000" pitchFamily="2" charset="-93"/>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latin typeface="Montserrat ExtraBold" panose="00000900000000000000" pitchFamily="2" charset="-93"/>
            </a:endParaRPr>
          </a:p>
        </p:txBody>
      </p:sp>
      <p:sp>
        <p:nvSpPr>
          <p:cNvPr id="120" name="Google Shape;120;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atin typeface="Montserrat ExtraBold" panose="00000900000000000000" pitchFamily="2" charset="-93"/>
              </a:rPr>
              <a:t>6</a:t>
            </a:fld>
            <a:endParaRPr dirty="0">
              <a:latin typeface="Montserrat ExtraBold" panose="00000900000000000000" pitchFamily="2" charset="-93"/>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5" name="Google Shape;145;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latin typeface="Montserrat ExtraBold" panose="00000900000000000000" pitchFamily="2" charset="-93"/>
            </a:endParaRPr>
          </a:p>
        </p:txBody>
      </p:sp>
      <p:sp>
        <p:nvSpPr>
          <p:cNvPr id="146" name="Google Shape;146;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atin typeface="Montserrat ExtraBold" panose="00000900000000000000" pitchFamily="2" charset="-93"/>
              </a:rPr>
              <a:t>7</a:t>
            </a:fld>
            <a:endParaRPr dirty="0">
              <a:latin typeface="Montserrat ExtraBold" panose="00000900000000000000" pitchFamily="2" charset="-93"/>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5" name="Google Shape;175;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latin typeface="Montserrat ExtraBold" panose="00000900000000000000" pitchFamily="2" charset="-93"/>
            </a:endParaRPr>
          </a:p>
        </p:txBody>
      </p:sp>
      <p:sp>
        <p:nvSpPr>
          <p:cNvPr id="176" name="Google Shape;176;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atin typeface="Montserrat ExtraBold" panose="00000900000000000000" pitchFamily="2" charset="-93"/>
              </a:rPr>
              <a:t>8</a:t>
            </a:fld>
            <a:endParaRPr dirty="0">
              <a:latin typeface="Montserrat ExtraBold" panose="00000900000000000000" pitchFamily="2" charset="-93"/>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BE311-E596-875D-AEF2-BCC73FFDE8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3B3C60-F5C2-977B-4F8B-67AAC040D4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382EEF-90A6-9DD7-8352-D061E8C8B74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737846-0432-462F-DF65-DCF53FDB9D0F}"/>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4397671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Từ slide trước, chúng ta đã biết EngLishApp được xây dựng trên nền tảng thiết kế hệ thống vững chắc. Mô hình kiến trúc tổng quát của chúng tôi tập trung vào việc tách biệt rõ ràng các thành phần. Điều này giúp hệ thống dễ kiểm thử và bảo trì. Các dịch vụ dùng chung như cơ sở dữ liệu và Firebase hỗ trợ toàn bộ ứng dụng. Bây giờ, chúng ta sẽ đi sâu vào tổng quan kiến trúc phần mềm.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Từ mô hình kiến trúc tổng quát, chúng ta sẽ tìm hiểu về kiến trúc phần mềm của EngLishApp. Chúng tôi kết hợp Clean Architecture và MVVM để tách biệt giao diện, nghiệp vụ và dữ liệu. Mục tiêu là đảm bảo khả năng mở rộng, bảo trì và kiểm thử độc lập. Cấu trúc ba tầng Presentation, Domain và Data là xương sống của hệ thống. Bây giờ, chúng ta sẽ đi sâu vào chi tiết từng tầng kiến trúc.</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Tiếp nối từ tổng quan kiến trúc, chúng ta sẽ đi vào chi tiết từng tầng của EngLishApp. Tầng Presentation sử dụng Jetpack Compose và ViewModel để tạo giao diện người dùng hiện đại. Tầng Domain chứa các Use Cases và Repository Interfaces, là trung tâm logic nghiệp vụ. Tầng Data quản lý việc truy xuất dữ liệu từ Room DB, Firebase và Retrofit, hỗ trợ cơ chế Offline-first. Để quản lý các phụ thuộc, chúng tôi sử dụng Dagger Hilt. Tiếp theo, chúng ta sẽ xem cách các tầng này được tổ chức trong cấu trúc thư mục.</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Sau khi hiểu rõ về các tầng kiến trúc, chúng ta sẽ xem cách chúng được tổ chức trong cấu trúc thư mục Feature-Based. Cấu trúc này giúp chúng tôi tổ chức mã nguồn theo từng tính năng, với các thư mục chính như core, features và navigation. Mỗi module tính năng trong thư mục features đều chứa đầy đủ ba tầng Data, Domain và Presentation. Điều này không chỉ tối ưu hóa quá trình build mà còn hỗ trợ làm việc nhóm hiệu quả. Bây giờ, chúng ta sẽ chuyển sang một trong những thuật toán cốt lõi của ứng dụng.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Từ cấu trúc thư mục, chúng ta chuyển sang một trong những yếu tố quan trọng nhất của EngLishApp: thuật toán lặp lại ngắt quãng SM-2. Thuật toán này tối ưu hóa việc ghi nhớ dài hạn bằng cách điều chỉnh lịch ôn tập dựa trên phản hồi của người dùng. Các tham số chính như Ease Factor, Interval và Repetitions sẽ quyết định khi nào một từ vựng cần được ôn lại. Từ khó sẽ xuất hiện thường xuyên hơn, trong khi từ dễ sẽ có lịch ôn giãn cách. Điều này đảm bảo người dùng học tập hiệu quả nhất. Tiếp theo, chúng ta sẽ tìm hiểu cách quản lý hàng đợi flashcard trong một phiên học.</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Sau khi hiểu về thuật toán SM-2, chúng ta cần biết cách ứng dụng nó vào thực tế một phiên học. Đây là nơi quản lý hàng đợi flashcard phát huy tác dụng, đảm bảo bạn học hiệu quả nhất. Hệ thống sử dụng một hàng đợi linh hoạt để sắp xếp các thẻ. Nếu bạn đánh dấu một thẻ là 'Again', nó sẽ được đẩy xuống cuối hàng đợi để bạn ôn lại ngay trong phiên đó. Phiên học chỉ kết thúc khi tất cả các thẻ đã được bạn ghi nhớ, không còn thẻ nào cần ôn lại ngay lập tức. Điều này giúp bạn củng cố kiến thức ngay lập tức, không bỏ sót từ vựng khó. Tiếp theo, chúng ta sẽ xem xét cách dữ liệu được đồng bộ và xử lý.</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Sau khi đã học xong, việc đồng bộ dữ liệu và xử lý các tệp là rất quan trọng để duy trì thông tin của bạn. Chúng tôi sử dụng cơ chế Delta Sync, chỉ đồng bộ những thay đổi dựa trên Timestamp. Điều này giúp giảm đáng kể băng thông và tăng tốc độ đồng bộ, đặc biệt khi bạn có nhiều dữ liệu. Ngoài ra, ứng dụng còn hỗ trợ nhập xuất từ vựng qua tệp CSV, xử lý chính xác các ký tự đặc biệt. Với cơ chế Offline-first, dữ liệu của bạn luôn được ưu tiên lưu trữ cục bộ, chỉ đồng bộ lên đám mây khi có kết nối mạng. Tất cả những điều này đảm bảo trải nghiệm người dùng mượt mà và dữ liệu luôn chính xác. Bây giờ, chúng ta sẽ tổng kết lại toàn bộ thiết kế hệ thống.</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B2EB0-9AE1-ED5A-7BB9-453CCB3440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F0E63A-C80B-D5CF-2A79-FCE86000EC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FE4C61-E888-9DD0-BCC4-0C9B5A99DA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521A50-F5DF-D453-636C-C7547E47BDC0}"/>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4848789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extLst>
      <p:ext uri="{BB962C8B-B14F-4D97-AF65-F5344CB8AC3E}">
        <p14:creationId xmlns:p14="http://schemas.microsoft.com/office/powerpoint/2010/main" val="12234121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jp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4.jp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openxmlformats.org/officeDocument/2006/relationships/image" Target="../media/image18.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3.jpg"/><Relationship Id="rId7"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36.jpeg"/><Relationship Id="rId7" Type="http://schemas.openxmlformats.org/officeDocument/2006/relationships/image" Target="../media/image40.pn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9.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jpeg"/><Relationship Id="rId7" Type="http://schemas.openxmlformats.org/officeDocument/2006/relationships/image" Target="../media/image45.pn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44.png"/><Relationship Id="rId5" Type="http://schemas.openxmlformats.org/officeDocument/2006/relationships/image" Target="../media/image43.png"/><Relationship Id="rId10" Type="http://schemas.openxmlformats.org/officeDocument/2006/relationships/image" Target="../media/image48.png"/><Relationship Id="rId4" Type="http://schemas.openxmlformats.org/officeDocument/2006/relationships/image" Target="../media/image42.png"/><Relationship Id="rId9" Type="http://schemas.openxmlformats.org/officeDocument/2006/relationships/image" Target="../media/image47.png"/></Relationships>
</file>

<file path=ppt/slides/_rels/slide20.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21.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41.jpeg"/><Relationship Id="rId7" Type="http://schemas.openxmlformats.org/officeDocument/2006/relationships/image" Target="../media/image56.png"/><Relationship Id="rId2" Type="http://schemas.openxmlformats.org/officeDocument/2006/relationships/notesSlide" Target="../notesSlides/notesSlide20.xml"/><Relationship Id="rId1" Type="http://schemas.openxmlformats.org/officeDocument/2006/relationships/slideLayout" Target="../slideLayouts/slideLayout12.xml"/><Relationship Id="rId6" Type="http://schemas.openxmlformats.org/officeDocument/2006/relationships/image" Target="../media/image55.png"/><Relationship Id="rId5" Type="http://schemas.openxmlformats.org/officeDocument/2006/relationships/image" Target="../media/image54.png"/><Relationship Id="rId10" Type="http://schemas.openxmlformats.org/officeDocument/2006/relationships/image" Target="../media/image59.png"/><Relationship Id="rId4" Type="http://schemas.openxmlformats.org/officeDocument/2006/relationships/image" Target="../media/image53.png"/><Relationship Id="rId9" Type="http://schemas.openxmlformats.org/officeDocument/2006/relationships/image" Target="../media/image58.png"/></Relationships>
</file>

<file path=ppt/slides/_rels/slide22.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21.xml"/><Relationship Id="rId1" Type="http://schemas.openxmlformats.org/officeDocument/2006/relationships/slideLayout" Target="../slideLayouts/slideLayout12.xml"/><Relationship Id="rId5" Type="http://schemas.openxmlformats.org/officeDocument/2006/relationships/image" Target="../media/image62.png"/><Relationship Id="rId4" Type="http://schemas.openxmlformats.org/officeDocument/2006/relationships/image" Target="../media/image61.png"/></Relationships>
</file>

<file path=ppt/slides/_rels/slide23.xml.rels><?xml version="1.0" encoding="UTF-8" standalone="yes"?>
<Relationships xmlns="http://schemas.openxmlformats.org/package/2006/relationships"><Relationship Id="rId3" Type="http://schemas.openxmlformats.org/officeDocument/2006/relationships/image" Target="../media/image63.jpeg"/><Relationship Id="rId7" Type="http://schemas.openxmlformats.org/officeDocument/2006/relationships/image" Target="../media/image67.png"/><Relationship Id="rId2" Type="http://schemas.openxmlformats.org/officeDocument/2006/relationships/notesSlide" Target="../notesSlides/notesSlide22.xml"/><Relationship Id="rId1" Type="http://schemas.openxmlformats.org/officeDocument/2006/relationships/slideLayout" Target="../slideLayouts/slideLayout12.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24.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23.xml"/><Relationship Id="rId1" Type="http://schemas.openxmlformats.org/officeDocument/2006/relationships/slideLayout" Target="../slideLayouts/slideLayout12.xml"/><Relationship Id="rId5" Type="http://schemas.openxmlformats.org/officeDocument/2006/relationships/image" Target="../media/image70.png"/><Relationship Id="rId4" Type="http://schemas.openxmlformats.org/officeDocument/2006/relationships/image" Target="../media/image69.png"/></Relationships>
</file>

<file path=ppt/slides/_rels/slide25.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72.png"/></Relationships>
</file>

<file path=ppt/slides/_rels/slide26.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image" Target="../media/image73.jpeg"/><Relationship Id="rId7" Type="http://schemas.openxmlformats.org/officeDocument/2006/relationships/image" Target="../media/image77.png"/><Relationship Id="rId2" Type="http://schemas.openxmlformats.org/officeDocument/2006/relationships/notesSlide" Target="../notesSlides/notesSlide25.xml"/><Relationship Id="rId1" Type="http://schemas.openxmlformats.org/officeDocument/2006/relationships/slideLayout" Target="../slideLayouts/slideLayout12.xml"/><Relationship Id="rId6" Type="http://schemas.openxmlformats.org/officeDocument/2006/relationships/image" Target="../media/image76.png"/><Relationship Id="rId5" Type="http://schemas.openxmlformats.org/officeDocument/2006/relationships/image" Target="../media/image75.png"/><Relationship Id="rId10" Type="http://schemas.openxmlformats.org/officeDocument/2006/relationships/image" Target="../media/image80.png"/><Relationship Id="rId4" Type="http://schemas.openxmlformats.org/officeDocument/2006/relationships/image" Target="../media/image74.png"/><Relationship Id="rId9" Type="http://schemas.openxmlformats.org/officeDocument/2006/relationships/image" Target="../media/image79.png"/></Relationships>
</file>

<file path=ppt/slides/_rels/slide2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81.jpeg"/><Relationship Id="rId7" Type="http://schemas.openxmlformats.org/officeDocument/2006/relationships/image" Target="../media/image85.png"/><Relationship Id="rId2" Type="http://schemas.openxmlformats.org/officeDocument/2006/relationships/notesSlide" Target="../notesSlides/notesSlide27.xml"/><Relationship Id="rId1" Type="http://schemas.openxmlformats.org/officeDocument/2006/relationships/slideLayout" Target="../slideLayouts/slideLayout12.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s>
</file>

<file path=ppt/slides/_rels/slide29.xml.rels><?xml version="1.0" encoding="UTF-8" standalone="yes"?>
<Relationships xmlns="http://schemas.openxmlformats.org/package/2006/relationships"><Relationship Id="rId3" Type="http://schemas.openxmlformats.org/officeDocument/2006/relationships/image" Target="../media/image86.jpeg"/><Relationship Id="rId7" Type="http://schemas.openxmlformats.org/officeDocument/2006/relationships/image" Target="../media/image90.png"/><Relationship Id="rId2" Type="http://schemas.openxmlformats.org/officeDocument/2006/relationships/notesSlide" Target="../notesSlides/notesSlide28.xml"/><Relationship Id="rId1" Type="http://schemas.openxmlformats.org/officeDocument/2006/relationships/slideLayout" Target="../slideLayouts/slideLayout12.xml"/><Relationship Id="rId6" Type="http://schemas.openxmlformats.org/officeDocument/2006/relationships/image" Target="../media/image89.png"/><Relationship Id="rId5" Type="http://schemas.openxmlformats.org/officeDocument/2006/relationships/image" Target="../media/image88.png"/><Relationship Id="rId4" Type="http://schemas.openxmlformats.org/officeDocument/2006/relationships/image" Target="../media/image87.png"/></Relationships>
</file>

<file path=ppt/slides/_rels/slide30.xml.rels><?xml version="1.0" encoding="UTF-8" standalone="yes"?>
<Relationships xmlns="http://schemas.openxmlformats.org/package/2006/relationships"><Relationship Id="rId3" Type="http://schemas.openxmlformats.org/officeDocument/2006/relationships/image" Target="../media/image81.jpeg"/><Relationship Id="rId7" Type="http://schemas.openxmlformats.org/officeDocument/2006/relationships/image" Target="../media/image94.pn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s>
</file>

<file path=ppt/slides/_rels/slide31.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30.xml"/><Relationship Id="rId1" Type="http://schemas.openxmlformats.org/officeDocument/2006/relationships/slideLayout" Target="../slideLayouts/slideLayout12.xml"/><Relationship Id="rId5" Type="http://schemas.openxmlformats.org/officeDocument/2006/relationships/image" Target="../media/image97.png"/><Relationship Id="rId4" Type="http://schemas.openxmlformats.org/officeDocument/2006/relationships/image" Target="../media/image96.png"/></Relationships>
</file>

<file path=ppt/slides/_rels/slide32.xml.rels><?xml version="1.0" encoding="UTF-8" standalone="yes"?>
<Relationships xmlns="http://schemas.openxmlformats.org/package/2006/relationships"><Relationship Id="rId3" Type="http://schemas.openxmlformats.org/officeDocument/2006/relationships/image" Target="../media/image81.jpeg"/><Relationship Id="rId7" Type="http://schemas.openxmlformats.org/officeDocument/2006/relationships/image" Target="../media/image101.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100.png"/><Relationship Id="rId5" Type="http://schemas.openxmlformats.org/officeDocument/2006/relationships/image" Target="../media/image99.png"/><Relationship Id="rId4" Type="http://schemas.openxmlformats.org/officeDocument/2006/relationships/image" Target="../media/image98.png"/></Relationships>
</file>

<file path=ppt/slides/_rels/slide33.xml.rels><?xml version="1.0" encoding="UTF-8" standalone="yes"?>
<Relationships xmlns="http://schemas.openxmlformats.org/package/2006/relationships"><Relationship Id="rId3" Type="http://schemas.openxmlformats.org/officeDocument/2006/relationships/image" Target="../media/image102.jpeg"/><Relationship Id="rId7" Type="http://schemas.openxmlformats.org/officeDocument/2006/relationships/image" Target="../media/image106.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105.png"/><Relationship Id="rId5" Type="http://schemas.openxmlformats.org/officeDocument/2006/relationships/image" Target="../media/image104.png"/><Relationship Id="rId4" Type="http://schemas.openxmlformats.org/officeDocument/2006/relationships/image" Target="../media/image103.png"/></Relationships>
</file>

<file path=ppt/slides/_rels/slide34.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110.png"/><Relationship Id="rId5" Type="http://schemas.openxmlformats.org/officeDocument/2006/relationships/image" Target="../media/image109.png"/><Relationship Id="rId4" Type="http://schemas.openxmlformats.org/officeDocument/2006/relationships/image" Target="../media/image108.png"/></Relationships>
</file>

<file path=ppt/slides/_rels/slide35.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sp>
        <p:nvSpPr>
          <p:cNvPr id="2" name="Freeform 2"/>
          <p:cNvSpPr/>
          <p:nvPr/>
        </p:nvSpPr>
        <p:spPr>
          <a:xfrm>
            <a:off x="16047608" y="-173565"/>
            <a:ext cx="2150107" cy="2150107"/>
          </a:xfrm>
          <a:custGeom>
            <a:avLst/>
            <a:gdLst/>
            <a:ahLst/>
            <a:cxnLst/>
            <a:rect l="l" t="t" r="r" b="b"/>
            <a:pathLst>
              <a:path w="2150107" h="2150107">
                <a:moveTo>
                  <a:pt x="0" y="0"/>
                </a:moveTo>
                <a:lnTo>
                  <a:pt x="2150107" y="0"/>
                </a:lnTo>
                <a:lnTo>
                  <a:pt x="2150107" y="2150107"/>
                </a:lnTo>
                <a:lnTo>
                  <a:pt x="0" y="2150107"/>
                </a:lnTo>
                <a:lnTo>
                  <a:pt x="0" y="0"/>
                </a:lnTo>
                <a:close/>
              </a:path>
            </a:pathLst>
          </a:custGeom>
          <a:blipFill>
            <a:blip r:embed="rId2"/>
            <a:stretch>
              <a:fillRect/>
            </a:stretch>
          </a:blipFill>
        </p:spPr>
      </p:sp>
      <p:sp>
        <p:nvSpPr>
          <p:cNvPr id="3" name="Freeform 3"/>
          <p:cNvSpPr/>
          <p:nvPr/>
        </p:nvSpPr>
        <p:spPr>
          <a:xfrm>
            <a:off x="177416" y="95796"/>
            <a:ext cx="1797818" cy="2277236"/>
          </a:xfrm>
          <a:custGeom>
            <a:avLst/>
            <a:gdLst/>
            <a:ahLst/>
            <a:cxnLst/>
            <a:rect l="l" t="t" r="r" b="b"/>
            <a:pathLst>
              <a:path w="1797818" h="2277236">
                <a:moveTo>
                  <a:pt x="0" y="0"/>
                </a:moveTo>
                <a:lnTo>
                  <a:pt x="1797818" y="0"/>
                </a:lnTo>
                <a:lnTo>
                  <a:pt x="1797818" y="2277236"/>
                </a:lnTo>
                <a:lnTo>
                  <a:pt x="0" y="2277236"/>
                </a:lnTo>
                <a:lnTo>
                  <a:pt x="0" y="0"/>
                </a:lnTo>
                <a:close/>
              </a:path>
            </a:pathLst>
          </a:custGeom>
          <a:blipFill>
            <a:blip r:embed="rId3"/>
            <a:stretch>
              <a:fillRect/>
            </a:stretch>
          </a:blipFill>
        </p:spPr>
      </p:sp>
      <p:sp>
        <p:nvSpPr>
          <p:cNvPr id="4" name="TextBox 4"/>
          <p:cNvSpPr txBox="1"/>
          <p:nvPr/>
        </p:nvSpPr>
        <p:spPr>
          <a:xfrm>
            <a:off x="2676177" y="2651555"/>
            <a:ext cx="12935647" cy="762000"/>
          </a:xfrm>
          <a:prstGeom prst="rect">
            <a:avLst/>
          </a:prstGeom>
        </p:spPr>
        <p:txBody>
          <a:bodyPr lIns="0" tIns="0" rIns="0" bIns="0" rtlCol="0" anchor="t">
            <a:spAutoFit/>
          </a:bodyPr>
          <a:lstStyle/>
          <a:p>
            <a:pPr algn="ctr">
              <a:lnSpc>
                <a:spcPts val="6299"/>
              </a:lnSpc>
            </a:pPr>
            <a:r>
              <a:rPr lang="vi-VN" sz="4500" b="1" dirty="0">
                <a:solidFill>
                  <a:srgbClr val="FF3131"/>
                </a:solidFill>
                <a:latin typeface="Fraunces Bold"/>
                <a:ea typeface="Fraunces Bold"/>
                <a:cs typeface="Fraunces Bold"/>
                <a:sym typeface="Fraunces Bold"/>
              </a:rPr>
              <a:t>BÁO CÁO KẾT THÚC MÔN HỌC</a:t>
            </a:r>
            <a:endParaRPr lang="en-US" sz="4500" b="1" dirty="0">
              <a:solidFill>
                <a:srgbClr val="FF3131"/>
              </a:solidFill>
              <a:latin typeface="Fraunces Bold"/>
              <a:ea typeface="Fraunces Bold"/>
              <a:cs typeface="Fraunces Bold"/>
              <a:sym typeface="Fraunces Bold"/>
            </a:endParaRPr>
          </a:p>
        </p:txBody>
      </p:sp>
      <p:sp>
        <p:nvSpPr>
          <p:cNvPr id="5" name="TextBox 5"/>
          <p:cNvSpPr txBox="1"/>
          <p:nvPr/>
        </p:nvSpPr>
        <p:spPr>
          <a:xfrm>
            <a:off x="978763" y="3871175"/>
            <a:ext cx="16699637" cy="1383840"/>
          </a:xfrm>
          <a:prstGeom prst="rect">
            <a:avLst/>
          </a:prstGeom>
        </p:spPr>
        <p:txBody>
          <a:bodyPr wrap="square" lIns="0" tIns="0" rIns="0" bIns="0" rtlCol="0" anchor="t">
            <a:spAutoFit/>
          </a:bodyPr>
          <a:lstStyle/>
          <a:p>
            <a:pPr algn="ctr">
              <a:lnSpc>
                <a:spcPts val="5599"/>
              </a:lnSpc>
            </a:pPr>
            <a:r>
              <a:rPr lang="en-US" sz="3999" b="1" dirty="0" err="1">
                <a:solidFill>
                  <a:srgbClr val="000000"/>
                </a:solidFill>
                <a:latin typeface="Fraunces Bold"/>
                <a:ea typeface="Fraunces Bold"/>
                <a:cs typeface="Fraunces Bold"/>
                <a:sym typeface="Fraunces Bold"/>
              </a:rPr>
              <a:t>NỘI</a:t>
            </a:r>
            <a:r>
              <a:rPr lang="en-US" sz="3999" b="1" dirty="0">
                <a:solidFill>
                  <a:srgbClr val="000000"/>
                </a:solidFill>
                <a:latin typeface="Fraunces Bold"/>
                <a:ea typeface="Fraunces Bold"/>
                <a:cs typeface="Fraunces Bold"/>
                <a:sym typeface="Fraunces Bold"/>
              </a:rPr>
              <a:t> DUNG :</a:t>
            </a:r>
            <a:r>
              <a:rPr lang="en-US" sz="3999" b="1" dirty="0">
                <a:solidFill>
                  <a:srgbClr val="FF3131"/>
                </a:solidFill>
                <a:latin typeface="Fraunces Bold"/>
                <a:ea typeface="Fraunces Bold"/>
                <a:cs typeface="Fraunces Bold"/>
                <a:sym typeface="Fraunces Bold"/>
              </a:rPr>
              <a:t> </a:t>
            </a:r>
            <a:r>
              <a:rPr lang="vi-VN" sz="3999" b="1" dirty="0">
                <a:solidFill>
                  <a:srgbClr val="FF3131"/>
                </a:solidFill>
                <a:latin typeface="Fraunces Bold"/>
                <a:ea typeface="Fraunces Bold"/>
                <a:cs typeface="Fraunces Bold"/>
                <a:sym typeface="Fraunces Bold"/>
              </a:rPr>
              <a:t>MINLISH APP - ỨNG DỤNG HỖ TRỢ HỌC TỪ VỰNG TIẾNG ANH</a:t>
            </a:r>
            <a:endParaRPr lang="en-US" sz="3999" b="1" dirty="0">
              <a:solidFill>
                <a:srgbClr val="FF3131"/>
              </a:solidFill>
              <a:latin typeface="Fraunces Bold"/>
              <a:ea typeface="Fraunces Bold"/>
              <a:cs typeface="Fraunces Bold"/>
              <a:sym typeface="Fraunces Bold"/>
            </a:endParaRPr>
          </a:p>
        </p:txBody>
      </p:sp>
      <p:sp>
        <p:nvSpPr>
          <p:cNvPr id="6" name="TextBox 6"/>
          <p:cNvSpPr txBox="1"/>
          <p:nvPr/>
        </p:nvSpPr>
        <p:spPr>
          <a:xfrm>
            <a:off x="2322210" y="287442"/>
            <a:ext cx="13832189" cy="1817745"/>
          </a:xfrm>
          <a:prstGeom prst="rect">
            <a:avLst/>
          </a:prstGeom>
        </p:spPr>
        <p:txBody>
          <a:bodyPr wrap="square" lIns="0" tIns="0" rIns="0" bIns="0" rtlCol="0" anchor="t">
            <a:spAutoFit/>
          </a:bodyPr>
          <a:lstStyle/>
          <a:p>
            <a:pPr algn="ctr">
              <a:lnSpc>
                <a:spcPts val="4809"/>
              </a:lnSpc>
            </a:pPr>
            <a:r>
              <a:rPr lang="en-US" sz="3435" b="1" dirty="0" err="1">
                <a:solidFill>
                  <a:srgbClr val="000000"/>
                </a:solidFill>
                <a:latin typeface="Fraunces Bold"/>
                <a:ea typeface="Fraunces Bold"/>
                <a:cs typeface="Fraunces Bold"/>
                <a:sym typeface="Fraunces Bold"/>
              </a:rPr>
              <a:t>TRƯỜNG</a:t>
            </a:r>
            <a:r>
              <a:rPr lang="en-US" sz="3435" b="1" dirty="0">
                <a:solidFill>
                  <a:srgbClr val="000000"/>
                </a:solidFill>
                <a:latin typeface="Fraunces Bold"/>
                <a:ea typeface="Fraunces Bold"/>
                <a:cs typeface="Fraunces Bold"/>
                <a:sym typeface="Fraunces Bold"/>
              </a:rPr>
              <a:t> </a:t>
            </a:r>
            <a:r>
              <a:rPr lang="vi-VN" sz="3435" b="1" dirty="0">
                <a:solidFill>
                  <a:srgbClr val="000000"/>
                </a:solidFill>
                <a:latin typeface="Fraunces Bold"/>
                <a:ea typeface="Fraunces Bold"/>
                <a:cs typeface="Fraunces Bold"/>
                <a:sym typeface="Fraunces Bold"/>
              </a:rPr>
              <a:t>ĐẠI HỌC CÔNG NGHỆ KỸ THUẬT </a:t>
            </a:r>
            <a:r>
              <a:rPr lang="vi-VN" sz="3435" b="1" dirty="0" err="1">
                <a:solidFill>
                  <a:srgbClr val="000000"/>
                </a:solidFill>
                <a:latin typeface="Fraunces Bold"/>
                <a:ea typeface="Fraunces Bold"/>
                <a:cs typeface="Fraunces Bold"/>
                <a:sym typeface="Fraunces Bold"/>
              </a:rPr>
              <a:t>TP</a:t>
            </a:r>
            <a:r>
              <a:rPr lang="vi-VN" sz="3435" b="1" dirty="0">
                <a:solidFill>
                  <a:srgbClr val="000000"/>
                </a:solidFill>
                <a:latin typeface="Fraunces Bold"/>
                <a:ea typeface="Fraunces Bold"/>
                <a:cs typeface="Fraunces Bold"/>
                <a:sym typeface="Fraunces Bold"/>
              </a:rPr>
              <a:t> HỒ CHÍ MINH</a:t>
            </a:r>
            <a:endParaRPr lang="en-US" sz="3435" b="1" dirty="0">
              <a:solidFill>
                <a:srgbClr val="000000"/>
              </a:solidFill>
              <a:latin typeface="Fraunces Bold"/>
              <a:ea typeface="Fraunces Bold"/>
              <a:cs typeface="Fraunces Bold"/>
              <a:sym typeface="Fraunces Bold"/>
            </a:endParaRPr>
          </a:p>
          <a:p>
            <a:pPr algn="ctr">
              <a:lnSpc>
                <a:spcPts val="4809"/>
              </a:lnSpc>
            </a:pPr>
            <a:r>
              <a:rPr lang="en-US" sz="3435" b="1" dirty="0">
                <a:solidFill>
                  <a:srgbClr val="000000"/>
                </a:solidFill>
                <a:latin typeface="Fraunces Bold"/>
                <a:ea typeface="Fraunces Bold"/>
                <a:cs typeface="Fraunces Bold"/>
                <a:sym typeface="Fraunces Bold"/>
              </a:rPr>
              <a:t> KHOA CÔNG </a:t>
            </a:r>
            <a:r>
              <a:rPr lang="vi-VN" sz="3435" b="1" dirty="0">
                <a:solidFill>
                  <a:srgbClr val="000000"/>
                </a:solidFill>
                <a:latin typeface="Fraunces Bold"/>
                <a:ea typeface="Fraunces Bold"/>
                <a:cs typeface="Fraunces Bold"/>
                <a:sym typeface="Fraunces Bold"/>
              </a:rPr>
              <a:t>NGHỆ</a:t>
            </a:r>
            <a:r>
              <a:rPr lang="en-US" sz="3435" b="1" dirty="0">
                <a:solidFill>
                  <a:srgbClr val="000000"/>
                </a:solidFill>
                <a:latin typeface="Fraunces Bold"/>
                <a:ea typeface="Fraunces Bold"/>
                <a:cs typeface="Fraunces Bold"/>
                <a:sym typeface="Fraunces Bold"/>
              </a:rPr>
              <a:t> THÔNG TIN </a:t>
            </a:r>
          </a:p>
          <a:p>
            <a:pPr algn="ctr">
              <a:lnSpc>
                <a:spcPts val="4809"/>
              </a:lnSpc>
            </a:pPr>
            <a:r>
              <a:rPr lang="en-US" sz="3435" b="1" dirty="0">
                <a:solidFill>
                  <a:srgbClr val="000000"/>
                </a:solidFill>
                <a:latin typeface="Fraunces Bold"/>
                <a:ea typeface="Fraunces Bold"/>
                <a:cs typeface="Fraunces Bold"/>
                <a:sym typeface="Fraunces Bold"/>
              </a:rPr>
              <a:t>MÔN </a:t>
            </a:r>
            <a:r>
              <a:rPr lang="vi-VN" sz="3435" b="1" dirty="0">
                <a:solidFill>
                  <a:srgbClr val="000000"/>
                </a:solidFill>
                <a:latin typeface="Fraunces Bold"/>
                <a:ea typeface="Fraunces Bold"/>
                <a:cs typeface="Fraunces Bold"/>
                <a:sym typeface="Fraunces Bold"/>
              </a:rPr>
              <a:t>LẬP TRÌNH DI ĐỘNG</a:t>
            </a:r>
            <a:endParaRPr lang="en-US" sz="3435" b="1" dirty="0">
              <a:solidFill>
                <a:srgbClr val="000000"/>
              </a:solidFill>
              <a:latin typeface="Fraunces Bold"/>
              <a:ea typeface="Fraunces Bold"/>
              <a:cs typeface="Fraunces Bold"/>
              <a:sym typeface="Fraunces Bold"/>
            </a:endParaRPr>
          </a:p>
        </p:txBody>
      </p:sp>
      <p:sp>
        <p:nvSpPr>
          <p:cNvPr id="7" name="TextBox 7"/>
          <p:cNvSpPr txBox="1"/>
          <p:nvPr/>
        </p:nvSpPr>
        <p:spPr>
          <a:xfrm>
            <a:off x="8822894" y="6535260"/>
            <a:ext cx="1283494" cy="488316"/>
          </a:xfrm>
          <a:prstGeom prst="rect">
            <a:avLst/>
          </a:prstGeom>
        </p:spPr>
        <p:txBody>
          <a:bodyPr lIns="0" tIns="0" rIns="0" bIns="0" rtlCol="0" anchor="t">
            <a:spAutoFit/>
          </a:bodyPr>
          <a:lstStyle/>
          <a:p>
            <a:pPr algn="ctr">
              <a:lnSpc>
                <a:spcPts val="4059"/>
              </a:lnSpc>
            </a:pPr>
            <a:r>
              <a:rPr lang="en-US" sz="2899" b="1" dirty="0" err="1">
                <a:solidFill>
                  <a:srgbClr val="000000"/>
                </a:solidFill>
                <a:latin typeface="Fraunces Bold"/>
                <a:ea typeface="Fraunces Bold"/>
                <a:cs typeface="Fraunces Bold"/>
                <a:sym typeface="Fraunces Bold"/>
              </a:rPr>
              <a:t>SVTH</a:t>
            </a:r>
            <a:r>
              <a:rPr lang="en-US" sz="2899" b="1" dirty="0">
                <a:solidFill>
                  <a:srgbClr val="000000"/>
                </a:solidFill>
                <a:latin typeface="Fraunces Bold"/>
                <a:ea typeface="Fraunces Bold"/>
                <a:cs typeface="Fraunces Bold"/>
                <a:sym typeface="Fraunces Bold"/>
              </a:rPr>
              <a:t>: </a:t>
            </a:r>
          </a:p>
        </p:txBody>
      </p:sp>
      <p:sp>
        <p:nvSpPr>
          <p:cNvPr id="8" name="TextBox 8"/>
          <p:cNvSpPr txBox="1"/>
          <p:nvPr/>
        </p:nvSpPr>
        <p:spPr>
          <a:xfrm>
            <a:off x="7162800" y="9797900"/>
            <a:ext cx="3585170" cy="403316"/>
          </a:xfrm>
          <a:prstGeom prst="rect">
            <a:avLst/>
          </a:prstGeom>
        </p:spPr>
        <p:txBody>
          <a:bodyPr wrap="square" lIns="0" tIns="0" rIns="0" bIns="0" rtlCol="0" anchor="t">
            <a:spAutoFit/>
          </a:bodyPr>
          <a:lstStyle/>
          <a:p>
            <a:pPr algn="ctr">
              <a:lnSpc>
                <a:spcPts val="3359"/>
              </a:lnSpc>
            </a:pPr>
            <a:r>
              <a:rPr lang="vi-VN" sz="2400" i="1" dirty="0" err="1">
                <a:solidFill>
                  <a:srgbClr val="000000"/>
                </a:solidFill>
                <a:latin typeface="+mj-lt"/>
                <a:ea typeface="Fraunces Italics"/>
                <a:cs typeface="Fraunces Italics"/>
                <a:sym typeface="Fraunces Italics"/>
              </a:rPr>
              <a:t>TP</a:t>
            </a:r>
            <a:r>
              <a:rPr lang="vi-VN" sz="2400" i="1" dirty="0">
                <a:solidFill>
                  <a:srgbClr val="000000"/>
                </a:solidFill>
                <a:latin typeface="+mj-lt"/>
                <a:ea typeface="Fraunces Italics"/>
                <a:cs typeface="Fraunces Italics"/>
                <a:sym typeface="Fraunces Italics"/>
              </a:rPr>
              <a:t>. Hồ Chí Minh </a:t>
            </a:r>
            <a:r>
              <a:rPr lang="en-US" sz="2400" i="1" dirty="0">
                <a:solidFill>
                  <a:srgbClr val="000000"/>
                </a:solidFill>
                <a:latin typeface="Fraunces Italics"/>
                <a:ea typeface="Fraunces Italics"/>
                <a:cs typeface="Fraunces Italics"/>
                <a:sym typeface="Fraunces Italics"/>
              </a:rPr>
              <a:t>06/2026</a:t>
            </a:r>
          </a:p>
        </p:txBody>
      </p:sp>
      <p:sp>
        <p:nvSpPr>
          <p:cNvPr id="9" name="TextBox 9"/>
          <p:cNvSpPr txBox="1"/>
          <p:nvPr/>
        </p:nvSpPr>
        <p:spPr>
          <a:xfrm>
            <a:off x="10384422" y="6535260"/>
            <a:ext cx="3449122" cy="488316"/>
          </a:xfrm>
          <a:prstGeom prst="rect">
            <a:avLst/>
          </a:prstGeom>
        </p:spPr>
        <p:txBody>
          <a:bodyPr wrap="square" lIns="0" tIns="0" rIns="0" bIns="0" rtlCol="0" anchor="t">
            <a:spAutoFit/>
          </a:bodyPr>
          <a:lstStyle/>
          <a:p>
            <a:pPr algn="l">
              <a:lnSpc>
                <a:spcPts val="4059"/>
              </a:lnSpc>
              <a:spcBef>
                <a:spcPct val="0"/>
              </a:spcBef>
            </a:pPr>
            <a:r>
              <a:rPr lang="en-US" sz="2899" dirty="0">
                <a:solidFill>
                  <a:srgbClr val="000000"/>
                </a:solidFill>
                <a:latin typeface="Fraunces"/>
                <a:ea typeface="Fraunces"/>
                <a:cs typeface="Fraunces"/>
                <a:sym typeface="Fraunces"/>
              </a:rPr>
              <a:t>Huỳnh Thanh Nhân</a:t>
            </a:r>
          </a:p>
        </p:txBody>
      </p:sp>
      <p:sp>
        <p:nvSpPr>
          <p:cNvPr id="10" name="TextBox 10"/>
          <p:cNvSpPr txBox="1"/>
          <p:nvPr/>
        </p:nvSpPr>
        <p:spPr>
          <a:xfrm>
            <a:off x="15036470" y="6535260"/>
            <a:ext cx="1879930" cy="488316"/>
          </a:xfrm>
          <a:prstGeom prst="rect">
            <a:avLst/>
          </a:prstGeom>
        </p:spPr>
        <p:txBody>
          <a:bodyPr wrap="square" lIns="0" tIns="0" rIns="0" bIns="0" rtlCol="0" anchor="t">
            <a:spAutoFit/>
          </a:bodyPr>
          <a:lstStyle/>
          <a:p>
            <a:pPr algn="l">
              <a:lnSpc>
                <a:spcPts val="4059"/>
              </a:lnSpc>
              <a:spcBef>
                <a:spcPct val="0"/>
              </a:spcBef>
            </a:pPr>
            <a:r>
              <a:rPr lang="en-US" sz="2899" dirty="0">
                <a:solidFill>
                  <a:srgbClr val="000000"/>
                </a:solidFill>
                <a:latin typeface="Fraunces"/>
                <a:ea typeface="Fraunces"/>
                <a:cs typeface="Fraunces"/>
                <a:sym typeface="Fraunces"/>
              </a:rPr>
              <a:t>23110280</a:t>
            </a:r>
          </a:p>
        </p:txBody>
      </p:sp>
      <p:sp>
        <p:nvSpPr>
          <p:cNvPr id="11" name="TextBox 11"/>
          <p:cNvSpPr txBox="1"/>
          <p:nvPr/>
        </p:nvSpPr>
        <p:spPr>
          <a:xfrm>
            <a:off x="10384422" y="7172879"/>
            <a:ext cx="3585169" cy="486480"/>
          </a:xfrm>
          <a:prstGeom prst="rect">
            <a:avLst/>
          </a:prstGeom>
        </p:spPr>
        <p:txBody>
          <a:bodyPr wrap="square" lIns="0" tIns="0" rIns="0" bIns="0" rtlCol="0" anchor="t">
            <a:spAutoFit/>
          </a:bodyPr>
          <a:lstStyle/>
          <a:p>
            <a:pPr algn="l">
              <a:lnSpc>
                <a:spcPts val="4059"/>
              </a:lnSpc>
              <a:spcBef>
                <a:spcPct val="0"/>
              </a:spcBef>
            </a:pPr>
            <a:r>
              <a:rPr lang="en-US" sz="2899" dirty="0">
                <a:solidFill>
                  <a:srgbClr val="000000"/>
                </a:solidFill>
                <a:latin typeface="Fraunces"/>
                <a:ea typeface="Fraunces"/>
                <a:cs typeface="Fraunces"/>
                <a:sym typeface="Fraunces"/>
              </a:rPr>
              <a:t>Huỳnh  Ngọc Thắng</a:t>
            </a:r>
          </a:p>
        </p:txBody>
      </p:sp>
      <p:sp>
        <p:nvSpPr>
          <p:cNvPr id="12" name="TextBox 12"/>
          <p:cNvSpPr txBox="1"/>
          <p:nvPr/>
        </p:nvSpPr>
        <p:spPr>
          <a:xfrm>
            <a:off x="15036470" y="7172879"/>
            <a:ext cx="1724372" cy="488316"/>
          </a:xfrm>
          <a:prstGeom prst="rect">
            <a:avLst/>
          </a:prstGeom>
        </p:spPr>
        <p:txBody>
          <a:bodyPr wrap="square" lIns="0" tIns="0" rIns="0" bIns="0" rtlCol="0" anchor="t">
            <a:spAutoFit/>
          </a:bodyPr>
          <a:lstStyle/>
          <a:p>
            <a:pPr algn="l">
              <a:lnSpc>
                <a:spcPts val="4059"/>
              </a:lnSpc>
              <a:spcBef>
                <a:spcPct val="0"/>
              </a:spcBef>
            </a:pPr>
            <a:r>
              <a:rPr lang="en-US" sz="2899" dirty="0">
                <a:solidFill>
                  <a:srgbClr val="000000"/>
                </a:solidFill>
                <a:latin typeface="Fraunces"/>
                <a:ea typeface="Fraunces"/>
                <a:cs typeface="Fraunces"/>
                <a:sym typeface="Fraunces"/>
              </a:rPr>
              <a:t>23110327</a:t>
            </a:r>
          </a:p>
        </p:txBody>
      </p:sp>
      <p:sp>
        <p:nvSpPr>
          <p:cNvPr id="13" name="TextBox 7">
            <a:extLst>
              <a:ext uri="{FF2B5EF4-FFF2-40B4-BE49-F238E27FC236}">
                <a16:creationId xmlns:a16="http://schemas.microsoft.com/office/drawing/2014/main" id="{5E212850-8421-145C-BE9D-744010E3B04E}"/>
              </a:ext>
            </a:extLst>
          </p:cNvPr>
          <p:cNvSpPr txBox="1"/>
          <p:nvPr/>
        </p:nvSpPr>
        <p:spPr>
          <a:xfrm>
            <a:off x="8787552" y="5840927"/>
            <a:ext cx="1354178" cy="486480"/>
          </a:xfrm>
          <a:prstGeom prst="rect">
            <a:avLst/>
          </a:prstGeom>
        </p:spPr>
        <p:txBody>
          <a:bodyPr wrap="square" lIns="0" tIns="0" rIns="0" bIns="0" rtlCol="0" anchor="t">
            <a:spAutoFit/>
          </a:bodyPr>
          <a:lstStyle/>
          <a:p>
            <a:pPr algn="ctr">
              <a:lnSpc>
                <a:spcPts val="4059"/>
              </a:lnSpc>
            </a:pPr>
            <a:r>
              <a:rPr lang="en-US" sz="2899" b="1" dirty="0">
                <a:solidFill>
                  <a:srgbClr val="000000"/>
                </a:solidFill>
                <a:latin typeface="Fraunces Bold"/>
                <a:ea typeface="Fraunces Bold"/>
                <a:cs typeface="Fraunces Bold"/>
                <a:sym typeface="Fraunces Bold"/>
              </a:rPr>
              <a:t>GVHD: </a:t>
            </a:r>
          </a:p>
        </p:txBody>
      </p:sp>
      <p:sp>
        <p:nvSpPr>
          <p:cNvPr id="14" name="TextBox 9">
            <a:extLst>
              <a:ext uri="{FF2B5EF4-FFF2-40B4-BE49-F238E27FC236}">
                <a16:creationId xmlns:a16="http://schemas.microsoft.com/office/drawing/2014/main" id="{B9F9878B-ABBF-7F7F-2757-65569C4AD7FC}"/>
              </a:ext>
            </a:extLst>
          </p:cNvPr>
          <p:cNvSpPr txBox="1"/>
          <p:nvPr/>
        </p:nvSpPr>
        <p:spPr>
          <a:xfrm>
            <a:off x="10400992" y="5812804"/>
            <a:ext cx="3848408" cy="486480"/>
          </a:xfrm>
          <a:prstGeom prst="rect">
            <a:avLst/>
          </a:prstGeom>
        </p:spPr>
        <p:txBody>
          <a:bodyPr wrap="square" lIns="0" tIns="0" rIns="0" bIns="0" rtlCol="0" anchor="t">
            <a:spAutoFit/>
          </a:bodyPr>
          <a:lstStyle/>
          <a:p>
            <a:pPr algn="l">
              <a:lnSpc>
                <a:spcPts val="4059"/>
              </a:lnSpc>
              <a:spcBef>
                <a:spcPct val="0"/>
              </a:spcBef>
            </a:pPr>
            <a:r>
              <a:rPr lang="en-US" sz="2899" dirty="0" err="1">
                <a:solidFill>
                  <a:srgbClr val="000000"/>
                </a:solidFill>
                <a:latin typeface="Fraunces"/>
                <a:ea typeface="Fraunces"/>
                <a:cs typeface="Fraunces"/>
                <a:sym typeface="Fraunces"/>
              </a:rPr>
              <a:t>ThS</a:t>
            </a:r>
            <a:r>
              <a:rPr lang="en-US" sz="2899" dirty="0">
                <a:solidFill>
                  <a:srgbClr val="000000"/>
                </a:solidFill>
                <a:latin typeface="Fraunces"/>
                <a:ea typeface="Fraunces"/>
                <a:cs typeface="Fraunces"/>
                <a:sym typeface="Fraunces"/>
              </a:rPr>
              <a:t>. </a:t>
            </a:r>
            <a:r>
              <a:rPr lang="vi-VN" sz="2899" dirty="0">
                <a:solidFill>
                  <a:srgbClr val="000000"/>
                </a:solidFill>
                <a:latin typeface="Fraunces"/>
                <a:ea typeface="Fraunces"/>
                <a:cs typeface="Fraunces"/>
                <a:sym typeface="Fraunces"/>
              </a:rPr>
              <a:t>Vũ Đình Bảo</a:t>
            </a:r>
            <a:endParaRPr lang="en-US" sz="2899" dirty="0">
              <a:solidFill>
                <a:srgbClr val="000000"/>
              </a:solidFill>
              <a:latin typeface="Fraunces"/>
              <a:ea typeface="Fraunces"/>
              <a:cs typeface="Fraunces"/>
              <a:sym typeface="Fraunces"/>
            </a:endParaRPr>
          </a:p>
        </p:txBody>
      </p:sp>
      <p:sp>
        <p:nvSpPr>
          <p:cNvPr id="15" name="TextBox 11">
            <a:extLst>
              <a:ext uri="{FF2B5EF4-FFF2-40B4-BE49-F238E27FC236}">
                <a16:creationId xmlns:a16="http://schemas.microsoft.com/office/drawing/2014/main" id="{75DB5EDF-2343-CC5A-7D19-12B6710FDB4E}"/>
              </a:ext>
            </a:extLst>
          </p:cNvPr>
          <p:cNvSpPr txBox="1"/>
          <p:nvPr/>
        </p:nvSpPr>
        <p:spPr>
          <a:xfrm>
            <a:off x="10384422" y="7748946"/>
            <a:ext cx="3458528" cy="488316"/>
          </a:xfrm>
          <a:prstGeom prst="rect">
            <a:avLst/>
          </a:prstGeom>
        </p:spPr>
        <p:txBody>
          <a:bodyPr lIns="0" tIns="0" rIns="0" bIns="0" rtlCol="0" anchor="t">
            <a:spAutoFit/>
          </a:bodyPr>
          <a:lstStyle/>
          <a:p>
            <a:pPr algn="l">
              <a:lnSpc>
                <a:spcPts val="4059"/>
              </a:lnSpc>
              <a:spcBef>
                <a:spcPct val="0"/>
              </a:spcBef>
            </a:pPr>
            <a:r>
              <a:rPr lang="vi-VN" sz="2899" dirty="0">
                <a:solidFill>
                  <a:srgbClr val="000000"/>
                </a:solidFill>
                <a:latin typeface="Fraunces"/>
                <a:ea typeface="Fraunces"/>
                <a:cs typeface="Fraunces"/>
                <a:sym typeface="Fraunces"/>
              </a:rPr>
              <a:t>Trương Tấn Sang</a:t>
            </a:r>
            <a:endParaRPr lang="en-US" sz="2899" dirty="0">
              <a:solidFill>
                <a:srgbClr val="000000"/>
              </a:solidFill>
              <a:latin typeface="Fraunces"/>
              <a:ea typeface="Fraunces"/>
              <a:cs typeface="Fraunces"/>
              <a:sym typeface="Fraunces"/>
            </a:endParaRPr>
          </a:p>
        </p:txBody>
      </p:sp>
      <p:sp>
        <p:nvSpPr>
          <p:cNvPr id="16" name="TextBox 12">
            <a:extLst>
              <a:ext uri="{FF2B5EF4-FFF2-40B4-BE49-F238E27FC236}">
                <a16:creationId xmlns:a16="http://schemas.microsoft.com/office/drawing/2014/main" id="{A207A750-8D20-3F42-8512-2466DC5D4752}"/>
              </a:ext>
            </a:extLst>
          </p:cNvPr>
          <p:cNvSpPr txBox="1"/>
          <p:nvPr/>
        </p:nvSpPr>
        <p:spPr>
          <a:xfrm>
            <a:off x="15036470" y="7748946"/>
            <a:ext cx="1724372" cy="488316"/>
          </a:xfrm>
          <a:prstGeom prst="rect">
            <a:avLst/>
          </a:prstGeom>
        </p:spPr>
        <p:txBody>
          <a:bodyPr wrap="square" lIns="0" tIns="0" rIns="0" bIns="0" rtlCol="0" anchor="t">
            <a:spAutoFit/>
          </a:bodyPr>
          <a:lstStyle/>
          <a:p>
            <a:pPr algn="l">
              <a:lnSpc>
                <a:spcPts val="4059"/>
              </a:lnSpc>
              <a:spcBef>
                <a:spcPct val="0"/>
              </a:spcBef>
            </a:pPr>
            <a:r>
              <a:rPr lang="en-US" sz="2899" dirty="0">
                <a:solidFill>
                  <a:srgbClr val="000000"/>
                </a:solidFill>
                <a:latin typeface="Fraunces"/>
                <a:ea typeface="Fraunces"/>
                <a:cs typeface="Fraunces"/>
                <a:sym typeface="Fraunces"/>
              </a:rPr>
              <a:t>23110300</a:t>
            </a:r>
          </a:p>
        </p:txBody>
      </p:sp>
      <p:sp>
        <p:nvSpPr>
          <p:cNvPr id="17" name="TextBox 11">
            <a:extLst>
              <a:ext uri="{FF2B5EF4-FFF2-40B4-BE49-F238E27FC236}">
                <a16:creationId xmlns:a16="http://schemas.microsoft.com/office/drawing/2014/main" id="{99D84B27-1E46-A3AA-0236-01ED43F52565}"/>
              </a:ext>
            </a:extLst>
          </p:cNvPr>
          <p:cNvSpPr txBox="1"/>
          <p:nvPr/>
        </p:nvSpPr>
        <p:spPr>
          <a:xfrm>
            <a:off x="10384422" y="8333133"/>
            <a:ext cx="3585169" cy="486480"/>
          </a:xfrm>
          <a:prstGeom prst="rect">
            <a:avLst/>
          </a:prstGeom>
        </p:spPr>
        <p:txBody>
          <a:bodyPr wrap="square" lIns="0" tIns="0" rIns="0" bIns="0" rtlCol="0" anchor="t">
            <a:spAutoFit/>
          </a:bodyPr>
          <a:lstStyle/>
          <a:p>
            <a:pPr algn="l">
              <a:lnSpc>
                <a:spcPts val="4059"/>
              </a:lnSpc>
              <a:spcBef>
                <a:spcPct val="0"/>
              </a:spcBef>
            </a:pPr>
            <a:r>
              <a:rPr lang="vi-VN" sz="2899" dirty="0">
                <a:solidFill>
                  <a:srgbClr val="000000"/>
                </a:solidFill>
                <a:latin typeface="Fraunces"/>
                <a:ea typeface="Fraunces"/>
                <a:cs typeface="Fraunces"/>
                <a:sym typeface="Fraunces"/>
              </a:rPr>
              <a:t>Bùi Thành Tâm</a:t>
            </a:r>
            <a:endParaRPr lang="en-US" sz="2899" dirty="0">
              <a:solidFill>
                <a:srgbClr val="000000"/>
              </a:solidFill>
              <a:latin typeface="Fraunces"/>
              <a:ea typeface="Fraunces"/>
              <a:cs typeface="Fraunces"/>
              <a:sym typeface="Fraunces"/>
            </a:endParaRPr>
          </a:p>
        </p:txBody>
      </p:sp>
      <p:sp>
        <p:nvSpPr>
          <p:cNvPr id="18" name="TextBox 12">
            <a:extLst>
              <a:ext uri="{FF2B5EF4-FFF2-40B4-BE49-F238E27FC236}">
                <a16:creationId xmlns:a16="http://schemas.microsoft.com/office/drawing/2014/main" id="{CF2AFDC7-A40C-DB5A-8B4F-B6404B662C78}"/>
              </a:ext>
            </a:extLst>
          </p:cNvPr>
          <p:cNvSpPr txBox="1"/>
          <p:nvPr/>
        </p:nvSpPr>
        <p:spPr>
          <a:xfrm>
            <a:off x="15069610" y="8333133"/>
            <a:ext cx="1724372" cy="488316"/>
          </a:xfrm>
          <a:prstGeom prst="rect">
            <a:avLst/>
          </a:prstGeom>
        </p:spPr>
        <p:txBody>
          <a:bodyPr wrap="square" lIns="0" tIns="0" rIns="0" bIns="0" rtlCol="0" anchor="t">
            <a:spAutoFit/>
          </a:bodyPr>
          <a:lstStyle/>
          <a:p>
            <a:pPr algn="l">
              <a:lnSpc>
                <a:spcPts val="4059"/>
              </a:lnSpc>
              <a:spcBef>
                <a:spcPct val="0"/>
              </a:spcBef>
            </a:pPr>
            <a:r>
              <a:rPr lang="en-US" sz="2899" dirty="0">
                <a:solidFill>
                  <a:srgbClr val="000000"/>
                </a:solidFill>
                <a:latin typeface="Fraunces"/>
                <a:ea typeface="Fraunces"/>
                <a:cs typeface="Fraunces"/>
                <a:sym typeface="Fraunces"/>
              </a:rPr>
              <a:t>23110310</a:t>
            </a:r>
          </a:p>
        </p:txBody>
      </p:sp>
      <p:sp>
        <p:nvSpPr>
          <p:cNvPr id="19" name="TextBox 11">
            <a:extLst>
              <a:ext uri="{FF2B5EF4-FFF2-40B4-BE49-F238E27FC236}">
                <a16:creationId xmlns:a16="http://schemas.microsoft.com/office/drawing/2014/main" id="{0E1E03E8-9378-3880-DBE3-CD4B4E95A5D0}"/>
              </a:ext>
            </a:extLst>
          </p:cNvPr>
          <p:cNvSpPr txBox="1"/>
          <p:nvPr/>
        </p:nvSpPr>
        <p:spPr>
          <a:xfrm>
            <a:off x="10384422" y="8909200"/>
            <a:ext cx="3458528" cy="488316"/>
          </a:xfrm>
          <a:prstGeom prst="rect">
            <a:avLst/>
          </a:prstGeom>
        </p:spPr>
        <p:txBody>
          <a:bodyPr lIns="0" tIns="0" rIns="0" bIns="0" rtlCol="0" anchor="t">
            <a:spAutoFit/>
          </a:bodyPr>
          <a:lstStyle/>
          <a:p>
            <a:pPr algn="l">
              <a:lnSpc>
                <a:spcPts val="4059"/>
              </a:lnSpc>
              <a:spcBef>
                <a:spcPct val="0"/>
              </a:spcBef>
            </a:pPr>
            <a:r>
              <a:rPr lang="vi-VN" sz="2899" dirty="0">
                <a:solidFill>
                  <a:srgbClr val="000000"/>
                </a:solidFill>
                <a:latin typeface="Fraunces"/>
                <a:ea typeface="Fraunces"/>
                <a:cs typeface="Fraunces"/>
                <a:sym typeface="Fraunces"/>
              </a:rPr>
              <a:t>Bùi Hải Dương</a:t>
            </a:r>
            <a:endParaRPr lang="en-US" sz="2899" dirty="0">
              <a:solidFill>
                <a:srgbClr val="000000"/>
              </a:solidFill>
              <a:latin typeface="Fraunces"/>
              <a:ea typeface="Fraunces"/>
              <a:cs typeface="Fraunces"/>
              <a:sym typeface="Fraunces"/>
            </a:endParaRPr>
          </a:p>
        </p:txBody>
      </p:sp>
      <p:sp>
        <p:nvSpPr>
          <p:cNvPr id="20" name="TextBox 12">
            <a:extLst>
              <a:ext uri="{FF2B5EF4-FFF2-40B4-BE49-F238E27FC236}">
                <a16:creationId xmlns:a16="http://schemas.microsoft.com/office/drawing/2014/main" id="{624C2337-23F6-6AA6-FC74-827DA3CEE5AB}"/>
              </a:ext>
            </a:extLst>
          </p:cNvPr>
          <p:cNvSpPr txBox="1"/>
          <p:nvPr/>
        </p:nvSpPr>
        <p:spPr>
          <a:xfrm>
            <a:off x="15069610" y="8909200"/>
            <a:ext cx="1724372" cy="488316"/>
          </a:xfrm>
          <a:prstGeom prst="rect">
            <a:avLst/>
          </a:prstGeom>
        </p:spPr>
        <p:txBody>
          <a:bodyPr wrap="square" lIns="0" tIns="0" rIns="0" bIns="0" rtlCol="0" anchor="t">
            <a:spAutoFit/>
          </a:bodyPr>
          <a:lstStyle/>
          <a:p>
            <a:pPr algn="l">
              <a:lnSpc>
                <a:spcPts val="4059"/>
              </a:lnSpc>
              <a:spcBef>
                <a:spcPct val="0"/>
              </a:spcBef>
            </a:pPr>
            <a:r>
              <a:rPr lang="en-US" sz="2899" dirty="0">
                <a:solidFill>
                  <a:srgbClr val="000000"/>
                </a:solidFill>
                <a:latin typeface="Fraunces"/>
                <a:ea typeface="Fraunces"/>
                <a:cs typeface="Fraunces"/>
                <a:sym typeface="Fraunces"/>
              </a:rPr>
              <a:t>23110197</a:t>
            </a:r>
          </a:p>
        </p:txBody>
      </p:sp>
      <p:sp>
        <p:nvSpPr>
          <p:cNvPr id="21" name="TextBox 20">
            <a:extLst>
              <a:ext uri="{FF2B5EF4-FFF2-40B4-BE49-F238E27FC236}">
                <a16:creationId xmlns:a16="http://schemas.microsoft.com/office/drawing/2014/main" id="{26142F90-634D-5D73-8F7B-FDBBAD199C1F}"/>
              </a:ext>
            </a:extLst>
          </p:cNvPr>
          <p:cNvSpPr txBox="1"/>
          <p:nvPr/>
        </p:nvSpPr>
        <p:spPr>
          <a:xfrm>
            <a:off x="17831821" y="9831884"/>
            <a:ext cx="418704"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01</a:t>
            </a:r>
            <a:endParaRPr lang="vi-V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207FB-AB2A-B1D9-4ED8-31436FC3674D}"/>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693C6A8E-530A-9387-19F7-58E01D9AC526}"/>
              </a:ext>
            </a:extLst>
          </p:cNvPr>
          <p:cNvPicPr>
            <a:picLocks noChangeAspect="1"/>
          </p:cNvPicPr>
          <p:nvPr/>
        </p:nvPicPr>
        <p:blipFill>
          <a:blip r:embed="rId3"/>
          <a:stretch>
            <a:fillRect/>
          </a:stretch>
        </p:blipFill>
        <p:spPr>
          <a:xfrm>
            <a:off x="0" y="0"/>
            <a:ext cx="18288000" cy="10287000"/>
          </a:xfrm>
          <a:prstGeom prst="rect">
            <a:avLst/>
          </a:prstGeom>
        </p:spPr>
      </p:pic>
      <p:sp>
        <p:nvSpPr>
          <p:cNvPr id="3" name="Text 0">
            <a:extLst>
              <a:ext uri="{FF2B5EF4-FFF2-40B4-BE49-F238E27FC236}">
                <a16:creationId xmlns:a16="http://schemas.microsoft.com/office/drawing/2014/main" id="{124502B9-D60D-373B-B748-E00147FA3B32}"/>
              </a:ext>
            </a:extLst>
          </p:cNvPr>
          <p:cNvSpPr/>
          <p:nvPr/>
        </p:nvSpPr>
        <p:spPr>
          <a:xfrm>
            <a:off x="1714500" y="3899428"/>
            <a:ext cx="16573500" cy="2031325"/>
          </a:xfrm>
          <a:prstGeom prst="rect">
            <a:avLst/>
          </a:prstGeom>
          <a:noFill/>
          <a:ln/>
        </p:spPr>
        <p:txBody>
          <a:bodyPr wrap="square" lIns="0" tIns="0" rIns="0" bIns="0" rtlCol="0" anchor="t">
            <a:spAutoFit/>
          </a:bodyPr>
          <a:lstStyle/>
          <a:p>
            <a:pPr>
              <a:lnSpc>
                <a:spcPct val="88000"/>
              </a:lnSpc>
            </a:pPr>
            <a:r>
              <a:rPr lang="en-US" sz="7500" b="1" kern="0" spc="-2" dirty="0" err="1">
                <a:solidFill>
                  <a:srgbClr val="0A0A0A"/>
                </a:solidFill>
                <a:latin typeface="Montserrat Black" pitchFamily="34" charset="0"/>
                <a:ea typeface="Montserrat Black" pitchFamily="34" charset="-122"/>
                <a:cs typeface="Montserrat Black" pitchFamily="34" charset="-120"/>
              </a:rPr>
              <a:t>PHẦN</a:t>
            </a:r>
            <a:r>
              <a:rPr lang="en-US" sz="7500" b="1" kern="0" spc="-2" dirty="0">
                <a:solidFill>
                  <a:srgbClr val="0A0A0A"/>
                </a:solidFill>
                <a:latin typeface="Montserrat Black" pitchFamily="34" charset="0"/>
                <a:ea typeface="Montserrat Black" pitchFamily="34" charset="-122"/>
                <a:cs typeface="Montserrat Black" pitchFamily="34" charset="-120"/>
              </a:rPr>
              <a:t> </a:t>
            </a:r>
            <a:r>
              <a:rPr lang="en-US" sz="7500" b="1" spc="-2" dirty="0">
                <a:solidFill>
                  <a:srgbClr val="0A0A0A"/>
                </a:solidFill>
                <a:latin typeface="Montserrat Black" pitchFamily="34" charset="0"/>
                <a:ea typeface="Montserrat Black" pitchFamily="34" charset="-122"/>
                <a:cs typeface="Montserrat Black" pitchFamily="34" charset="-120"/>
              </a:rPr>
              <a:t>1</a:t>
            </a:r>
            <a:r>
              <a:rPr lang="en-US" sz="7500" b="1" kern="0" spc="-2" dirty="0">
                <a:solidFill>
                  <a:srgbClr val="0A0A0A"/>
                </a:solidFill>
                <a:latin typeface="Montserrat Black" pitchFamily="34" charset="0"/>
                <a:ea typeface="Montserrat Black" pitchFamily="34" charset="-122"/>
                <a:cs typeface="Montserrat Black" pitchFamily="34" charset="-120"/>
              </a:rPr>
              <a:t>: </a:t>
            </a:r>
            <a:r>
              <a:rPr lang="vi-VN" sz="7500" b="1" kern="0" spc="-2" dirty="0">
                <a:solidFill>
                  <a:srgbClr val="0A0A0A"/>
                </a:solidFill>
                <a:latin typeface="Montserrat Black" pitchFamily="34" charset="0"/>
                <a:ea typeface="Montserrat Black" pitchFamily="34" charset="-122"/>
                <a:cs typeface="Montserrat Black" pitchFamily="34" charset="-120"/>
              </a:rPr>
              <a:t>GIỚI THIỆU</a:t>
            </a:r>
          </a:p>
          <a:p>
            <a:pPr>
              <a:lnSpc>
                <a:spcPct val="88000"/>
              </a:lnSpc>
            </a:pPr>
            <a:r>
              <a:rPr lang="vi-VN" sz="7500" b="1" kern="0" spc="-2" dirty="0">
                <a:solidFill>
                  <a:srgbClr val="0A0A0A"/>
                </a:solidFill>
                <a:latin typeface="Montserrat Black" pitchFamily="34" charset="0"/>
                <a:ea typeface="Montserrat Black" pitchFamily="34" charset="-122"/>
                <a:cs typeface="Montserrat Black" pitchFamily="34" charset="-120"/>
              </a:rPr>
              <a:t>TỔNG QUAN</a:t>
            </a:r>
          </a:p>
        </p:txBody>
      </p:sp>
      <p:sp>
        <p:nvSpPr>
          <p:cNvPr id="4" name="TextBox 3">
            <a:extLst>
              <a:ext uri="{FF2B5EF4-FFF2-40B4-BE49-F238E27FC236}">
                <a16:creationId xmlns:a16="http://schemas.microsoft.com/office/drawing/2014/main" id="{F2283443-07EE-A19F-3F23-4FCD20D2FD4D}"/>
              </a:ext>
            </a:extLst>
          </p:cNvPr>
          <p:cNvSpPr txBox="1"/>
          <p:nvPr/>
        </p:nvSpPr>
        <p:spPr>
          <a:xfrm>
            <a:off x="17831821" y="9831884"/>
            <a:ext cx="415498"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02</a:t>
            </a:r>
            <a:endParaRPr lang="vi-V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41608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1"/>
        <p:cNvGrpSpPr/>
        <p:nvPr/>
      </p:nvGrpSpPr>
      <p:grpSpPr>
        <a:xfrm>
          <a:off x="0" y="0"/>
          <a:ext cx="0" cy="0"/>
          <a:chOff x="0" y="0"/>
          <a:chExt cx="0" cy="0"/>
        </a:xfrm>
      </p:grpSpPr>
      <p:pic>
        <p:nvPicPr>
          <p:cNvPr id="42" name="Google Shape;42;p2" descr="preencoded.png"/>
          <p:cNvPicPr preferRelativeResize="0"/>
          <p:nvPr/>
        </p:nvPicPr>
        <p:blipFill rotWithShape="1">
          <a:blip r:embed="rId3">
            <a:alphaModFix/>
          </a:blip>
          <a:srcRect/>
          <a:stretch/>
        </p:blipFill>
        <p:spPr>
          <a:xfrm>
            <a:off x="3" y="0"/>
            <a:ext cx="18287998" cy="10287000"/>
          </a:xfrm>
          <a:prstGeom prst="rect">
            <a:avLst/>
          </a:prstGeom>
          <a:noFill/>
          <a:ln>
            <a:noFill/>
          </a:ln>
        </p:spPr>
      </p:pic>
      <p:sp>
        <p:nvSpPr>
          <p:cNvPr id="43" name="Google Shape;43;p2"/>
          <p:cNvSpPr/>
          <p:nvPr/>
        </p:nvSpPr>
        <p:spPr>
          <a:xfrm>
            <a:off x="1143000" y="1164991"/>
            <a:ext cx="17145000" cy="861774"/>
          </a:xfrm>
          <a:prstGeom prst="rect">
            <a:avLst/>
          </a:prstGeom>
          <a:noFill/>
          <a:ln>
            <a:noFill/>
          </a:ln>
        </p:spPr>
        <p:txBody>
          <a:bodyPr spcFirstLastPara="1" wrap="square" lIns="340100" tIns="0" rIns="0" bIns="0" anchor="t" anchorCtr="0">
            <a:spAutoFit/>
          </a:bodyPr>
          <a:lstStyle/>
          <a:p>
            <a:pPr>
              <a:buClr>
                <a:srgbClr val="000000"/>
              </a:buClr>
              <a:buSzPts val="1900"/>
            </a:pPr>
            <a:r>
              <a:rPr lang="en-US" sz="5600" b="1" dirty="0" err="1">
                <a:solidFill>
                  <a:srgbClr val="000000"/>
                </a:solidFill>
                <a:latin typeface="Montserrat Bold" panose="00000500000000000000" pitchFamily="2" charset="-93"/>
                <a:ea typeface="Inter"/>
                <a:cs typeface="Inter"/>
                <a:sym typeface="Inter"/>
              </a:rPr>
              <a:t>SƠ</a:t>
            </a:r>
            <a:r>
              <a:rPr lang="en-US" sz="5600" b="1" dirty="0">
                <a:solidFill>
                  <a:srgbClr val="000000"/>
                </a:solidFill>
                <a:latin typeface="Montserrat Bold" panose="00000500000000000000" pitchFamily="2" charset="-93"/>
                <a:ea typeface="Inter"/>
                <a:cs typeface="Inter"/>
                <a:sym typeface="Inter"/>
              </a:rPr>
              <a:t> </a:t>
            </a:r>
            <a:r>
              <a:rPr lang="en-US" sz="5600" b="1" dirty="0" err="1">
                <a:solidFill>
                  <a:srgbClr val="000000"/>
                </a:solidFill>
                <a:latin typeface="Montserrat Bold" panose="00000500000000000000" pitchFamily="2" charset="-93"/>
                <a:ea typeface="Inter"/>
                <a:cs typeface="Inter"/>
                <a:sym typeface="Inter"/>
              </a:rPr>
              <a:t>ĐỒ</a:t>
            </a:r>
            <a:r>
              <a:rPr lang="en-US" sz="5600" b="1" dirty="0">
                <a:solidFill>
                  <a:srgbClr val="000000"/>
                </a:solidFill>
                <a:latin typeface="Montserrat Bold" panose="00000500000000000000" pitchFamily="2" charset="-93"/>
                <a:ea typeface="Inter"/>
                <a:cs typeface="Inter"/>
                <a:sym typeface="Inter"/>
              </a:rPr>
              <a:t> </a:t>
            </a:r>
            <a:r>
              <a:rPr lang="en-US" sz="5600" b="1" dirty="0" err="1">
                <a:solidFill>
                  <a:srgbClr val="000000"/>
                </a:solidFill>
                <a:latin typeface="Montserrat Bold" panose="00000500000000000000" pitchFamily="2" charset="-93"/>
                <a:ea typeface="Inter"/>
                <a:cs typeface="Inter"/>
                <a:sym typeface="Inter"/>
              </a:rPr>
              <a:t>CHỨC</a:t>
            </a:r>
            <a:r>
              <a:rPr lang="en-US" sz="5600" b="1" dirty="0">
                <a:solidFill>
                  <a:srgbClr val="000000"/>
                </a:solidFill>
                <a:latin typeface="Montserrat Bold" panose="00000500000000000000" pitchFamily="2" charset="-93"/>
                <a:ea typeface="Inter"/>
                <a:cs typeface="Inter"/>
                <a:sym typeface="Inter"/>
              </a:rPr>
              <a:t> </a:t>
            </a:r>
            <a:r>
              <a:rPr lang="en-US" sz="5600" b="1" dirty="0" err="1">
                <a:solidFill>
                  <a:srgbClr val="000000"/>
                </a:solidFill>
                <a:latin typeface="Montserrat Bold" panose="00000500000000000000" pitchFamily="2" charset="-93"/>
                <a:ea typeface="Inter"/>
                <a:cs typeface="Inter"/>
                <a:sym typeface="Inter"/>
              </a:rPr>
              <a:t>NĂNG</a:t>
            </a:r>
            <a:r>
              <a:rPr lang="en-US" sz="5600" b="1" dirty="0">
                <a:solidFill>
                  <a:srgbClr val="000000"/>
                </a:solidFill>
                <a:latin typeface="Montserrat Bold" panose="00000500000000000000" pitchFamily="2" charset="-93"/>
                <a:ea typeface="Inter"/>
                <a:cs typeface="Inter"/>
                <a:sym typeface="Inter"/>
              </a:rPr>
              <a:t> </a:t>
            </a:r>
            <a:r>
              <a:rPr lang="en-US" sz="5600" b="1" dirty="0" err="1">
                <a:solidFill>
                  <a:srgbClr val="000000"/>
                </a:solidFill>
                <a:latin typeface="Montserrat Bold" panose="00000500000000000000" pitchFamily="2" charset="-93"/>
                <a:ea typeface="Inter"/>
                <a:cs typeface="Inter"/>
                <a:sym typeface="Inter"/>
              </a:rPr>
              <a:t>TỔNG</a:t>
            </a:r>
            <a:r>
              <a:rPr lang="en-US" sz="5600" b="1" dirty="0">
                <a:solidFill>
                  <a:srgbClr val="000000"/>
                </a:solidFill>
                <a:latin typeface="Montserrat Bold" panose="00000500000000000000" pitchFamily="2" charset="-93"/>
                <a:ea typeface="Inter"/>
                <a:cs typeface="Inter"/>
                <a:sym typeface="Inter"/>
              </a:rPr>
              <a:t> </a:t>
            </a:r>
            <a:r>
              <a:rPr lang="en-US" sz="5600" b="1" dirty="0" err="1">
                <a:solidFill>
                  <a:srgbClr val="000000"/>
                </a:solidFill>
                <a:latin typeface="Montserrat Bold" panose="00000500000000000000" pitchFamily="2" charset="-93"/>
                <a:ea typeface="Inter"/>
                <a:cs typeface="Inter"/>
                <a:sym typeface="Inter"/>
              </a:rPr>
              <a:t>HỢP</a:t>
            </a:r>
            <a:endParaRPr sz="5600" dirty="0">
              <a:solidFill>
                <a:schemeClr val="dk1"/>
              </a:solidFill>
              <a:latin typeface="Montserrat Bold" panose="00000500000000000000" pitchFamily="2" charset="-93"/>
              <a:ea typeface="Calibri"/>
              <a:cs typeface="Calibri"/>
              <a:sym typeface="Calibri"/>
            </a:endParaRPr>
          </a:p>
        </p:txBody>
      </p:sp>
      <p:sp>
        <p:nvSpPr>
          <p:cNvPr id="44" name="Google Shape;44;p2"/>
          <p:cNvSpPr/>
          <p:nvPr/>
        </p:nvSpPr>
        <p:spPr>
          <a:xfrm>
            <a:off x="7359848" y="5801284"/>
            <a:ext cx="3568304" cy="1385888"/>
          </a:xfrm>
          <a:prstGeom prst="rect">
            <a:avLst/>
          </a:prstGeom>
          <a:solidFill>
            <a:srgbClr val="000000"/>
          </a:solidFill>
          <a:ln w="27425" cap="flat" cmpd="sng">
            <a:solidFill>
              <a:srgbClr val="C62828"/>
            </a:solidFill>
            <a:prstDash val="solid"/>
            <a:round/>
            <a:headEnd type="none" w="sm" len="sm"/>
            <a:tailEnd type="none" w="sm" len="sm"/>
          </a:ln>
        </p:spPr>
        <p:txBody>
          <a:bodyPr spcFirstLastPara="1" wrap="square" lIns="182850" tIns="182850" rIns="182850" bIns="182850" anchor="ctr" anchorCtr="0">
            <a:noAutofit/>
          </a:bodyPr>
          <a:lstStyle/>
          <a:p>
            <a:endParaRPr sz="3600" dirty="0">
              <a:latin typeface="Montserrat Bold" panose="00000500000000000000" pitchFamily="2" charset="-93"/>
            </a:endParaRPr>
          </a:p>
        </p:txBody>
      </p:sp>
      <p:sp>
        <p:nvSpPr>
          <p:cNvPr id="45" name="Google Shape;45;p2"/>
          <p:cNvSpPr/>
          <p:nvPr/>
        </p:nvSpPr>
        <p:spPr>
          <a:xfrm>
            <a:off x="7359848" y="5801285"/>
            <a:ext cx="3836420" cy="1399798"/>
          </a:xfrm>
          <a:prstGeom prst="rect">
            <a:avLst/>
          </a:prstGeom>
          <a:noFill/>
          <a:ln>
            <a:noFill/>
          </a:ln>
        </p:spPr>
        <p:txBody>
          <a:bodyPr spcFirstLastPara="1" wrap="square" lIns="850350" tIns="510250" rIns="850350" bIns="510250" anchor="t" anchorCtr="0">
            <a:spAutoFit/>
          </a:bodyPr>
          <a:lstStyle/>
          <a:p>
            <a:pPr algn="ctr">
              <a:buClr>
                <a:srgbClr val="FFFFFF"/>
              </a:buClr>
              <a:buSzPts val="1200"/>
            </a:pPr>
            <a:r>
              <a:rPr lang="en-US" sz="2400" b="1" dirty="0" err="1">
                <a:solidFill>
                  <a:srgbClr val="FFFFFF"/>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EngLishApp</a:t>
            </a:r>
            <a:endParaRPr sz="2400" dirty="0">
              <a:solidFill>
                <a:schemeClr val="dk1"/>
              </a:solidFill>
              <a:latin typeface="Montserrat Bold" panose="00000800000000000000" pitchFamily="2" charset="-93"/>
              <a:ea typeface="Open Sans SemiBold" panose="020B0706030804020204" pitchFamily="34" charset="0"/>
              <a:cs typeface="Open Sans SemiBold" panose="020B0706030804020204" pitchFamily="34" charset="0"/>
              <a:sym typeface="Calibri"/>
            </a:endParaRPr>
          </a:p>
        </p:txBody>
      </p:sp>
      <p:sp>
        <p:nvSpPr>
          <p:cNvPr id="46" name="Google Shape;46;p2"/>
          <p:cNvSpPr/>
          <p:nvPr/>
        </p:nvSpPr>
        <p:spPr>
          <a:xfrm>
            <a:off x="2000250" y="3279540"/>
            <a:ext cx="4457700" cy="1699152"/>
          </a:xfrm>
          <a:prstGeom prst="rect">
            <a:avLst/>
          </a:prstGeom>
          <a:solidFill>
            <a:srgbClr val="FFFFFF"/>
          </a:solidFill>
          <a:ln w="9525" cap="flat" cmpd="sng">
            <a:solidFill>
              <a:srgbClr val="EEEEEE"/>
            </a:solidFill>
            <a:prstDash val="solid"/>
            <a:round/>
            <a:headEnd type="none" w="sm" len="sm"/>
            <a:tailEnd type="none" w="sm" len="sm"/>
          </a:ln>
        </p:spPr>
        <p:txBody>
          <a:bodyPr spcFirstLastPara="1" wrap="square" lIns="182850" tIns="182850" rIns="182850" bIns="182850" anchor="ctr" anchorCtr="0">
            <a:noAutofit/>
          </a:bodyPr>
          <a:lstStyle/>
          <a:p>
            <a:endParaRPr sz="3600" dirty="0">
              <a:latin typeface="Montserrat Bold" panose="00000500000000000000" pitchFamily="2" charset="-93"/>
            </a:endParaRPr>
          </a:p>
        </p:txBody>
      </p:sp>
      <p:pic>
        <p:nvPicPr>
          <p:cNvPr id="47" name="Google Shape;47;p2" descr="preencoded.png"/>
          <p:cNvPicPr preferRelativeResize="0"/>
          <p:nvPr/>
        </p:nvPicPr>
        <p:blipFill rotWithShape="1">
          <a:blip r:embed="rId4">
            <a:alphaModFix/>
          </a:blip>
          <a:srcRect/>
          <a:stretch/>
        </p:blipFill>
        <p:spPr>
          <a:xfrm>
            <a:off x="2668191" y="3819284"/>
            <a:ext cx="285750" cy="228600"/>
          </a:xfrm>
          <a:prstGeom prst="rect">
            <a:avLst/>
          </a:prstGeom>
          <a:noFill/>
          <a:ln>
            <a:noFill/>
          </a:ln>
        </p:spPr>
      </p:pic>
      <p:sp>
        <p:nvSpPr>
          <p:cNvPr id="48" name="Google Shape;48;p2"/>
          <p:cNvSpPr/>
          <p:nvPr/>
        </p:nvSpPr>
        <p:spPr>
          <a:xfrm>
            <a:off x="2953941" y="3797852"/>
            <a:ext cx="3475434" cy="307777"/>
          </a:xfrm>
          <a:prstGeom prst="rect">
            <a:avLst/>
          </a:prstGeom>
          <a:noFill/>
          <a:ln>
            <a:noFill/>
          </a:ln>
        </p:spPr>
        <p:txBody>
          <a:bodyPr spcFirstLastPara="1" wrap="square" lIns="0" tIns="0" rIns="0" bIns="0" anchor="t" anchorCtr="0">
            <a:spAutoFit/>
          </a:bodyPr>
          <a:lstStyle/>
          <a:p>
            <a:pPr algn="ctr">
              <a:buClr>
                <a:srgbClr val="C62828"/>
              </a:buClr>
              <a:buSzPts val="800"/>
            </a:pPr>
            <a:r>
              <a:rPr lang="en-US" sz="2000" b="1" dirty="0" err="1">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HỆ</a:t>
            </a:r>
            <a:r>
              <a:rPr lang="en-US" sz="2000" b="1" dirty="0">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 </a:t>
            </a:r>
            <a:r>
              <a:rPr lang="en-US" sz="2000" b="1" dirty="0" err="1">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THỐNG</a:t>
            </a:r>
            <a:r>
              <a:rPr lang="en-US" sz="2000" b="1" dirty="0">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 </a:t>
            </a:r>
            <a:r>
              <a:rPr lang="en-US" sz="2000" b="1" dirty="0" err="1">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NGƯỜI</a:t>
            </a:r>
            <a:r>
              <a:rPr lang="en-US" sz="2000" b="1" dirty="0">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 </a:t>
            </a:r>
            <a:r>
              <a:rPr lang="en-US" sz="2000" b="1" dirty="0" err="1">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DÙNG</a:t>
            </a:r>
            <a:endParaRPr sz="2000" dirty="0">
              <a:solidFill>
                <a:schemeClr val="dk1"/>
              </a:solidFill>
              <a:latin typeface="Montserrat Bold" panose="00000800000000000000" pitchFamily="2" charset="-93"/>
              <a:ea typeface="Open Sans SemiBold" panose="020B0706030804020204" pitchFamily="34" charset="0"/>
              <a:cs typeface="Open Sans SemiBold" panose="020B0706030804020204" pitchFamily="34" charset="0"/>
              <a:sym typeface="Calibri"/>
            </a:endParaRPr>
          </a:p>
        </p:txBody>
      </p:sp>
      <p:sp>
        <p:nvSpPr>
          <p:cNvPr id="49" name="Google Shape;49;p2"/>
          <p:cNvSpPr/>
          <p:nvPr/>
        </p:nvSpPr>
        <p:spPr>
          <a:xfrm>
            <a:off x="2214562" y="4215763"/>
            <a:ext cx="4000500" cy="620426"/>
          </a:xfrm>
          <a:prstGeom prst="rect">
            <a:avLst/>
          </a:prstGeom>
          <a:noFill/>
          <a:ln>
            <a:noFill/>
          </a:ln>
        </p:spPr>
        <p:txBody>
          <a:bodyPr spcFirstLastPara="1" wrap="square" lIns="0" tIns="0" rIns="0" bIns="0" anchor="t" anchorCtr="0">
            <a:spAutoFit/>
          </a:bodyPr>
          <a:lstStyle/>
          <a:p>
            <a:pPr algn="ctr">
              <a:lnSpc>
                <a:spcPct val="112000"/>
              </a:lnSpc>
              <a:buClr>
                <a:srgbClr val="666666"/>
              </a:buClr>
              <a:buSzPts val="650"/>
            </a:pPr>
            <a:r>
              <a:rPr lang="en-US" dirty="0" err="1">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Đăng</a:t>
            </a:r>
            <a:r>
              <a:rPr lang="en-US"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dirty="0" err="1">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ký</a:t>
            </a:r>
            <a:r>
              <a:rPr lang="en-US"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dirty="0" err="1">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Đăng</a:t>
            </a:r>
            <a:r>
              <a:rPr lang="en-US"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dirty="0" err="1">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nhập</a:t>
            </a:r>
            <a:r>
              <a:rPr lang="en-US"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 (Firebase), Quản </a:t>
            </a:r>
            <a:r>
              <a:rPr lang="en-US" dirty="0" err="1">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lý</a:t>
            </a:r>
            <a:r>
              <a:rPr lang="en-US"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dirty="0" err="1">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hồ</a:t>
            </a:r>
            <a:r>
              <a:rPr lang="en-US"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dirty="0" err="1">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sơ</a:t>
            </a:r>
            <a:r>
              <a:rPr lang="en-US"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 Bảo </a:t>
            </a:r>
            <a:r>
              <a:rPr lang="en-US" dirty="0" err="1">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mật</a:t>
            </a:r>
            <a:r>
              <a:rPr lang="en-US"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dirty="0" err="1">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tài</a:t>
            </a:r>
            <a:r>
              <a:rPr lang="en-US"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dirty="0" err="1">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khoản</a:t>
            </a:r>
            <a:r>
              <a:rPr lang="en-US"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a:t>
            </a:r>
            <a:endParaRPr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50" name="Google Shape;50;p2"/>
          <p:cNvSpPr/>
          <p:nvPr/>
        </p:nvSpPr>
        <p:spPr>
          <a:xfrm>
            <a:off x="6900862" y="3279540"/>
            <a:ext cx="4457700" cy="1699152"/>
          </a:xfrm>
          <a:prstGeom prst="rect">
            <a:avLst/>
          </a:prstGeom>
          <a:solidFill>
            <a:srgbClr val="FFFFFF"/>
          </a:solidFill>
          <a:ln w="9525" cap="flat" cmpd="sng">
            <a:solidFill>
              <a:srgbClr val="EEEEEE"/>
            </a:solidFill>
            <a:prstDash val="solid"/>
            <a:round/>
            <a:headEnd type="none" w="sm" len="sm"/>
            <a:tailEnd type="none" w="sm" len="sm"/>
          </a:ln>
        </p:spPr>
        <p:txBody>
          <a:bodyPr spcFirstLastPara="1" wrap="square" lIns="182850" tIns="182850" rIns="182850" bIns="182850" anchor="ctr" anchorCtr="0">
            <a:noAutofit/>
          </a:bodyPr>
          <a:lstStyle/>
          <a:p>
            <a:endParaRPr sz="3600" dirty="0">
              <a:latin typeface="Montserrat Bold" panose="00000500000000000000" pitchFamily="2" charset="-93"/>
            </a:endParaRPr>
          </a:p>
        </p:txBody>
      </p:sp>
      <p:pic>
        <p:nvPicPr>
          <p:cNvPr id="51" name="Google Shape;51;p2" descr="preencoded.png"/>
          <p:cNvPicPr preferRelativeResize="0"/>
          <p:nvPr/>
        </p:nvPicPr>
        <p:blipFill rotWithShape="1">
          <a:blip r:embed="rId5">
            <a:alphaModFix/>
          </a:blip>
          <a:srcRect/>
          <a:stretch/>
        </p:blipFill>
        <p:spPr>
          <a:xfrm>
            <a:off x="7713465" y="3819284"/>
            <a:ext cx="285750" cy="228600"/>
          </a:xfrm>
          <a:prstGeom prst="rect">
            <a:avLst/>
          </a:prstGeom>
          <a:noFill/>
          <a:ln>
            <a:noFill/>
          </a:ln>
        </p:spPr>
      </p:pic>
      <p:sp>
        <p:nvSpPr>
          <p:cNvPr id="52" name="Google Shape;52;p2"/>
          <p:cNvSpPr/>
          <p:nvPr/>
        </p:nvSpPr>
        <p:spPr>
          <a:xfrm>
            <a:off x="7999213" y="3797852"/>
            <a:ext cx="3152650" cy="307777"/>
          </a:xfrm>
          <a:prstGeom prst="rect">
            <a:avLst/>
          </a:prstGeom>
          <a:noFill/>
          <a:ln>
            <a:noFill/>
          </a:ln>
        </p:spPr>
        <p:txBody>
          <a:bodyPr spcFirstLastPara="1" wrap="square" lIns="0" tIns="0" rIns="0" bIns="0" anchor="t" anchorCtr="0">
            <a:spAutoFit/>
          </a:bodyPr>
          <a:lstStyle/>
          <a:p>
            <a:pPr algn="ctr">
              <a:buClr>
                <a:srgbClr val="C62828"/>
              </a:buClr>
              <a:buSzPts val="800"/>
            </a:pPr>
            <a:r>
              <a:rPr lang="en-US" sz="2000" b="1" dirty="0">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HỌC </a:t>
            </a:r>
            <a:r>
              <a:rPr lang="en-US" sz="2000" b="1" dirty="0" err="1">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TẬP</a:t>
            </a:r>
            <a:r>
              <a:rPr lang="en-US" sz="2000" b="1" dirty="0">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 FLASHCARD</a:t>
            </a:r>
            <a:endParaRPr sz="2000" dirty="0">
              <a:solidFill>
                <a:schemeClr val="dk1"/>
              </a:solidFill>
              <a:latin typeface="Montserrat Bold" panose="00000800000000000000" pitchFamily="2" charset="-93"/>
              <a:ea typeface="Open Sans SemiBold" panose="020B0706030804020204" pitchFamily="34" charset="0"/>
              <a:cs typeface="Open Sans SemiBold" panose="020B0706030804020204" pitchFamily="34" charset="0"/>
              <a:sym typeface="Calibri"/>
            </a:endParaRPr>
          </a:p>
        </p:txBody>
      </p:sp>
      <p:sp>
        <p:nvSpPr>
          <p:cNvPr id="53" name="Google Shape;53;p2"/>
          <p:cNvSpPr/>
          <p:nvPr/>
        </p:nvSpPr>
        <p:spPr>
          <a:xfrm>
            <a:off x="7129462" y="4215762"/>
            <a:ext cx="4000500" cy="620426"/>
          </a:xfrm>
          <a:prstGeom prst="rect">
            <a:avLst/>
          </a:prstGeom>
          <a:noFill/>
          <a:ln>
            <a:noFill/>
          </a:ln>
        </p:spPr>
        <p:txBody>
          <a:bodyPr spcFirstLastPara="1" wrap="square" lIns="0" tIns="0" rIns="0" bIns="0" anchor="t" anchorCtr="0">
            <a:spAutoFit/>
          </a:bodyPr>
          <a:lstStyle/>
          <a:p>
            <a:pPr algn="ctr">
              <a:lnSpc>
                <a:spcPct val="112000"/>
              </a:lnSpc>
              <a:buClr>
                <a:srgbClr val="666666"/>
              </a:buClr>
              <a:buSzPts val="650"/>
            </a:pPr>
            <a:r>
              <a:rPr lang="en-US" dirty="0" err="1">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Chế</a:t>
            </a:r>
            <a:r>
              <a:rPr lang="en-US"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dirty="0" err="1">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độ</a:t>
            </a:r>
            <a:r>
              <a:rPr lang="en-US"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 Learn &amp; Review, </a:t>
            </a:r>
            <a:r>
              <a:rPr lang="en-US" dirty="0" err="1">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Thuật</a:t>
            </a:r>
            <a:r>
              <a:rPr lang="en-US"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dirty="0" err="1">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toán</a:t>
            </a:r>
            <a:r>
              <a:rPr lang="en-US"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 SM-2, </a:t>
            </a:r>
            <a:r>
              <a:rPr lang="en-US" dirty="0" err="1">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Đánh</a:t>
            </a:r>
            <a:r>
              <a:rPr lang="en-US"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dirty="0" err="1">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giá</a:t>
            </a:r>
            <a:r>
              <a:rPr lang="en-US"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dirty="0" err="1">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mức</a:t>
            </a:r>
            <a:r>
              <a:rPr lang="en-US"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dirty="0" err="1">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độ</a:t>
            </a:r>
            <a:r>
              <a:rPr lang="en-US"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dirty="0" err="1">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ghi</a:t>
            </a:r>
            <a:r>
              <a:rPr lang="en-US"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dirty="0" err="1">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nhớ</a:t>
            </a:r>
            <a:r>
              <a:rPr lang="en-US"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a:t>
            </a:r>
            <a:endParaRPr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54" name="Google Shape;54;p2"/>
          <p:cNvSpPr/>
          <p:nvPr/>
        </p:nvSpPr>
        <p:spPr>
          <a:xfrm>
            <a:off x="11830050" y="3279540"/>
            <a:ext cx="4457700" cy="1699152"/>
          </a:xfrm>
          <a:prstGeom prst="rect">
            <a:avLst/>
          </a:prstGeom>
          <a:solidFill>
            <a:srgbClr val="FFFFFF"/>
          </a:solidFill>
          <a:ln w="9525" cap="flat" cmpd="sng">
            <a:solidFill>
              <a:srgbClr val="EEEEEE"/>
            </a:solidFill>
            <a:prstDash val="solid"/>
            <a:round/>
            <a:headEnd type="none" w="sm" len="sm"/>
            <a:tailEnd type="none" w="sm" len="sm"/>
          </a:ln>
        </p:spPr>
        <p:txBody>
          <a:bodyPr spcFirstLastPara="1" wrap="square" lIns="182850" tIns="182850" rIns="182850" bIns="182850" anchor="ctr" anchorCtr="0">
            <a:noAutofit/>
          </a:bodyPr>
          <a:lstStyle/>
          <a:p>
            <a:endParaRPr sz="3600" dirty="0">
              <a:latin typeface="Montserrat Bold" panose="00000500000000000000" pitchFamily="2" charset="-93"/>
            </a:endParaRPr>
          </a:p>
        </p:txBody>
      </p:sp>
      <p:sp>
        <p:nvSpPr>
          <p:cNvPr id="55" name="Google Shape;55;p2"/>
          <p:cNvSpPr/>
          <p:nvPr/>
        </p:nvSpPr>
        <p:spPr>
          <a:xfrm>
            <a:off x="13039128" y="3797853"/>
            <a:ext cx="2560148" cy="307777"/>
          </a:xfrm>
          <a:prstGeom prst="rect">
            <a:avLst/>
          </a:prstGeom>
          <a:noFill/>
          <a:ln>
            <a:noFill/>
          </a:ln>
        </p:spPr>
        <p:txBody>
          <a:bodyPr spcFirstLastPara="1" wrap="square" lIns="0" tIns="0" rIns="0" bIns="0" anchor="t" anchorCtr="0">
            <a:spAutoFit/>
          </a:bodyPr>
          <a:lstStyle/>
          <a:p>
            <a:pPr algn="ctr">
              <a:buClr>
                <a:srgbClr val="C62828"/>
              </a:buClr>
              <a:buSzPts val="800"/>
            </a:pPr>
            <a:r>
              <a:rPr lang="en-US" sz="2000" b="1" dirty="0">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TRA </a:t>
            </a:r>
            <a:r>
              <a:rPr lang="en-US" sz="2000" b="1" dirty="0" err="1">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CỨU</a:t>
            </a:r>
            <a:r>
              <a:rPr lang="en-US" sz="2000" b="1" dirty="0">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 </a:t>
            </a:r>
            <a:r>
              <a:rPr lang="en-US" sz="2000" b="1" dirty="0" err="1">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TỪ</a:t>
            </a:r>
            <a:r>
              <a:rPr lang="en-US" sz="2000" b="1" dirty="0">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 </a:t>
            </a:r>
            <a:r>
              <a:rPr lang="en-US" sz="2000" b="1" dirty="0" err="1">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ĐIỂN</a:t>
            </a:r>
            <a:endParaRPr sz="2000" dirty="0">
              <a:solidFill>
                <a:schemeClr val="dk1"/>
              </a:solidFill>
              <a:latin typeface="Montserrat Bold" panose="00000800000000000000" pitchFamily="2" charset="-93"/>
              <a:ea typeface="Open Sans SemiBold" panose="020B0706030804020204" pitchFamily="34" charset="0"/>
              <a:cs typeface="Open Sans SemiBold" panose="020B0706030804020204" pitchFamily="34" charset="0"/>
              <a:sym typeface="Calibri"/>
            </a:endParaRPr>
          </a:p>
        </p:txBody>
      </p:sp>
      <p:sp>
        <p:nvSpPr>
          <p:cNvPr id="56" name="Google Shape;56;p2"/>
          <p:cNvSpPr/>
          <p:nvPr/>
        </p:nvSpPr>
        <p:spPr>
          <a:xfrm>
            <a:off x="12072938" y="4215762"/>
            <a:ext cx="4000500" cy="620426"/>
          </a:xfrm>
          <a:prstGeom prst="rect">
            <a:avLst/>
          </a:prstGeom>
          <a:noFill/>
          <a:ln>
            <a:noFill/>
          </a:ln>
        </p:spPr>
        <p:txBody>
          <a:bodyPr spcFirstLastPara="1" wrap="square" lIns="0" tIns="0" rIns="0" bIns="0" anchor="t" anchorCtr="0">
            <a:spAutoFit/>
          </a:bodyPr>
          <a:lstStyle/>
          <a:p>
            <a:pPr algn="ctr">
              <a:lnSpc>
                <a:spcPct val="112000"/>
              </a:lnSpc>
              <a:buClr>
                <a:srgbClr val="666666"/>
              </a:buClr>
              <a:buSzPts val="650"/>
            </a:pPr>
            <a:r>
              <a:rPr lang="en-US" dirty="0" err="1">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Tích</a:t>
            </a:r>
            <a:r>
              <a:rPr lang="en-US"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dirty="0" err="1">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hợp</a:t>
            </a:r>
            <a:r>
              <a:rPr lang="en-US"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 Dictionary API, Tra </a:t>
            </a:r>
            <a:r>
              <a:rPr lang="en-US" dirty="0" err="1">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cứu</a:t>
            </a:r>
            <a:r>
              <a:rPr lang="en-US"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dirty="0" err="1">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nghĩa</a:t>
            </a:r>
            <a:r>
              <a:rPr lang="en-US"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dirty="0" err="1">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Phiên</a:t>
            </a:r>
            <a:r>
              <a:rPr lang="en-US"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dirty="0" err="1">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âm</a:t>
            </a:r>
            <a:r>
              <a:rPr lang="en-US"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 Lưu </a:t>
            </a:r>
            <a:r>
              <a:rPr lang="en-US" dirty="0" err="1">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từ</a:t>
            </a:r>
            <a:r>
              <a:rPr lang="en-US"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dirty="0" err="1">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vựng</a:t>
            </a:r>
            <a:r>
              <a:rPr lang="en-US"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dirty="0" err="1">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nhanh</a:t>
            </a:r>
            <a:r>
              <a:rPr lang="en-US"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a:t>
            </a:r>
            <a:endParaRPr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57" name="Google Shape;57;p2"/>
          <p:cNvSpPr/>
          <p:nvPr/>
        </p:nvSpPr>
        <p:spPr>
          <a:xfrm>
            <a:off x="2000250" y="8009762"/>
            <a:ext cx="4457700" cy="1699152"/>
          </a:xfrm>
          <a:prstGeom prst="rect">
            <a:avLst/>
          </a:prstGeom>
          <a:solidFill>
            <a:srgbClr val="FFFFFF"/>
          </a:solidFill>
          <a:ln w="9525" cap="flat" cmpd="sng">
            <a:solidFill>
              <a:srgbClr val="EEEEEE"/>
            </a:solidFill>
            <a:prstDash val="solid"/>
            <a:round/>
            <a:headEnd type="none" w="sm" len="sm"/>
            <a:tailEnd type="none" w="sm" len="sm"/>
          </a:ln>
        </p:spPr>
        <p:txBody>
          <a:bodyPr spcFirstLastPara="1" wrap="square" lIns="182850" tIns="182850" rIns="182850" bIns="182850" anchor="ctr" anchorCtr="0">
            <a:noAutofit/>
          </a:bodyPr>
          <a:lstStyle/>
          <a:p>
            <a:endParaRPr sz="3600" dirty="0">
              <a:latin typeface="Montserrat Bold" panose="00000500000000000000" pitchFamily="2" charset="-93"/>
            </a:endParaRPr>
          </a:p>
        </p:txBody>
      </p:sp>
      <p:pic>
        <p:nvPicPr>
          <p:cNvPr id="58" name="Google Shape;58;p2" descr="preencoded.png"/>
          <p:cNvPicPr preferRelativeResize="0"/>
          <p:nvPr/>
        </p:nvPicPr>
        <p:blipFill rotWithShape="1">
          <a:blip r:embed="rId6">
            <a:alphaModFix/>
          </a:blip>
          <a:srcRect/>
          <a:stretch/>
        </p:blipFill>
        <p:spPr>
          <a:xfrm>
            <a:off x="3107533" y="8549506"/>
            <a:ext cx="200026" cy="228600"/>
          </a:xfrm>
          <a:prstGeom prst="rect">
            <a:avLst/>
          </a:prstGeom>
          <a:noFill/>
          <a:ln>
            <a:noFill/>
          </a:ln>
        </p:spPr>
      </p:pic>
      <p:sp>
        <p:nvSpPr>
          <p:cNvPr id="59" name="Google Shape;59;p2"/>
          <p:cNvSpPr/>
          <p:nvPr/>
        </p:nvSpPr>
        <p:spPr>
          <a:xfrm>
            <a:off x="3307556" y="8528075"/>
            <a:ext cx="2493824" cy="307777"/>
          </a:xfrm>
          <a:prstGeom prst="rect">
            <a:avLst/>
          </a:prstGeom>
          <a:noFill/>
          <a:ln>
            <a:noFill/>
          </a:ln>
        </p:spPr>
        <p:txBody>
          <a:bodyPr spcFirstLastPara="1" wrap="square" lIns="0" tIns="0" rIns="0" bIns="0" anchor="t" anchorCtr="0">
            <a:spAutoFit/>
          </a:bodyPr>
          <a:lstStyle/>
          <a:p>
            <a:pPr algn="ctr">
              <a:buClr>
                <a:srgbClr val="C62828"/>
              </a:buClr>
              <a:buSzPts val="800"/>
            </a:pPr>
            <a:r>
              <a:rPr lang="en-US" sz="2000" b="1" dirty="0">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QUẢN LÝ </a:t>
            </a:r>
            <a:r>
              <a:rPr lang="en-US" sz="2000" b="1" dirty="0" err="1">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DỮ</a:t>
            </a:r>
            <a:r>
              <a:rPr lang="en-US" sz="2000" b="1" dirty="0">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 LIỆU</a:t>
            </a:r>
            <a:endParaRPr sz="2000" dirty="0">
              <a:solidFill>
                <a:schemeClr val="dk1"/>
              </a:solidFill>
              <a:latin typeface="Montserrat Bold" panose="00000800000000000000" pitchFamily="2" charset="-93"/>
              <a:ea typeface="Open Sans SemiBold" panose="020B0706030804020204" pitchFamily="34" charset="0"/>
              <a:cs typeface="Open Sans SemiBold" panose="020B0706030804020204" pitchFamily="34" charset="0"/>
              <a:sym typeface="Calibri"/>
            </a:endParaRPr>
          </a:p>
        </p:txBody>
      </p:sp>
      <p:sp>
        <p:nvSpPr>
          <p:cNvPr id="60" name="Google Shape;60;p2"/>
          <p:cNvSpPr/>
          <p:nvPr/>
        </p:nvSpPr>
        <p:spPr>
          <a:xfrm>
            <a:off x="2214562" y="8945985"/>
            <a:ext cx="4000500" cy="620426"/>
          </a:xfrm>
          <a:prstGeom prst="rect">
            <a:avLst/>
          </a:prstGeom>
          <a:noFill/>
          <a:ln>
            <a:noFill/>
          </a:ln>
        </p:spPr>
        <p:txBody>
          <a:bodyPr spcFirstLastPara="1" wrap="square" lIns="0" tIns="0" rIns="0" bIns="0" anchor="t" anchorCtr="0">
            <a:spAutoFit/>
          </a:bodyPr>
          <a:lstStyle/>
          <a:p>
            <a:pPr algn="ctr">
              <a:lnSpc>
                <a:spcPct val="112000"/>
              </a:lnSpc>
              <a:buClr>
                <a:srgbClr val="666666"/>
              </a:buClr>
              <a:buSzPts val="650"/>
            </a:pPr>
            <a:r>
              <a:rPr lang="en-US" dirty="0" err="1">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Tạo</a:t>
            </a:r>
            <a:r>
              <a:rPr lang="en-US"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dirty="0" err="1">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bộ</a:t>
            </a:r>
            <a:r>
              <a:rPr lang="en-US"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dirty="0" err="1">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từ</a:t>
            </a:r>
            <a:r>
              <a:rPr lang="en-US"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dirty="0" err="1">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theo</a:t>
            </a:r>
            <a:r>
              <a:rPr lang="en-US"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dirty="0" err="1">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chủ</a:t>
            </a:r>
            <a:r>
              <a:rPr lang="en-US"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dirty="0" err="1">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đề</a:t>
            </a:r>
            <a:r>
              <a:rPr lang="en-US"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dirty="0" err="1">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Thống</a:t>
            </a:r>
            <a:r>
              <a:rPr lang="en-US"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dirty="0" err="1">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kê</a:t>
            </a:r>
            <a:r>
              <a:rPr lang="en-US"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 Import/Export CSV, </a:t>
            </a:r>
            <a:r>
              <a:rPr lang="en-US" dirty="0" err="1">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Tìm</a:t>
            </a:r>
            <a:r>
              <a:rPr lang="en-US"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dirty="0" err="1">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kiếm</a:t>
            </a:r>
            <a:r>
              <a:rPr lang="en-US"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a:t>
            </a:r>
            <a:endParaRPr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61" name="Google Shape;61;p2"/>
          <p:cNvSpPr/>
          <p:nvPr/>
        </p:nvSpPr>
        <p:spPr>
          <a:xfrm>
            <a:off x="6900862" y="8009762"/>
            <a:ext cx="4457700" cy="1699152"/>
          </a:xfrm>
          <a:prstGeom prst="rect">
            <a:avLst/>
          </a:prstGeom>
          <a:solidFill>
            <a:srgbClr val="FFFFFF"/>
          </a:solidFill>
          <a:ln w="9525" cap="flat" cmpd="sng">
            <a:solidFill>
              <a:srgbClr val="EEEEEE"/>
            </a:solidFill>
            <a:prstDash val="solid"/>
            <a:round/>
            <a:headEnd type="none" w="sm" len="sm"/>
            <a:tailEnd type="none" w="sm" len="sm"/>
          </a:ln>
        </p:spPr>
        <p:txBody>
          <a:bodyPr spcFirstLastPara="1" wrap="square" lIns="182850" tIns="182850" rIns="182850" bIns="182850" anchor="ctr" anchorCtr="0">
            <a:noAutofit/>
          </a:bodyPr>
          <a:lstStyle/>
          <a:p>
            <a:endParaRPr sz="3600" dirty="0">
              <a:latin typeface="Montserrat Bold" panose="00000500000000000000" pitchFamily="2" charset="-93"/>
            </a:endParaRPr>
          </a:p>
        </p:txBody>
      </p:sp>
      <p:pic>
        <p:nvPicPr>
          <p:cNvPr id="62" name="Google Shape;62;p2" descr="preencoded.png"/>
          <p:cNvPicPr preferRelativeResize="0"/>
          <p:nvPr/>
        </p:nvPicPr>
        <p:blipFill rotWithShape="1">
          <a:blip r:embed="rId7">
            <a:alphaModFix/>
          </a:blip>
          <a:srcRect/>
          <a:stretch/>
        </p:blipFill>
        <p:spPr>
          <a:xfrm>
            <a:off x="7945636" y="8549506"/>
            <a:ext cx="228600" cy="228600"/>
          </a:xfrm>
          <a:prstGeom prst="rect">
            <a:avLst/>
          </a:prstGeom>
          <a:noFill/>
          <a:ln>
            <a:noFill/>
          </a:ln>
        </p:spPr>
      </p:pic>
      <p:sp>
        <p:nvSpPr>
          <p:cNvPr id="63" name="Google Shape;63;p2"/>
          <p:cNvSpPr/>
          <p:nvPr/>
        </p:nvSpPr>
        <p:spPr>
          <a:xfrm>
            <a:off x="8174235" y="8528075"/>
            <a:ext cx="2648582" cy="307777"/>
          </a:xfrm>
          <a:prstGeom prst="rect">
            <a:avLst/>
          </a:prstGeom>
          <a:noFill/>
          <a:ln>
            <a:noFill/>
          </a:ln>
        </p:spPr>
        <p:txBody>
          <a:bodyPr spcFirstLastPara="1" wrap="square" lIns="0" tIns="0" rIns="0" bIns="0" anchor="t" anchorCtr="0">
            <a:spAutoFit/>
          </a:bodyPr>
          <a:lstStyle/>
          <a:p>
            <a:pPr algn="ctr">
              <a:buClr>
                <a:srgbClr val="C62828"/>
              </a:buClr>
              <a:buSzPts val="800"/>
            </a:pPr>
            <a:r>
              <a:rPr lang="en-US" sz="2000" b="1" dirty="0">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THEO </a:t>
            </a:r>
            <a:r>
              <a:rPr lang="en-US" sz="2000" b="1" dirty="0" err="1">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DÕI</a:t>
            </a:r>
            <a:r>
              <a:rPr lang="en-US" sz="2000" b="1" dirty="0">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 TIẾN </a:t>
            </a:r>
            <a:r>
              <a:rPr lang="en-US" sz="2000" b="1" dirty="0" err="1">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ĐỘ</a:t>
            </a:r>
            <a:endParaRPr sz="2000" dirty="0">
              <a:solidFill>
                <a:schemeClr val="dk1"/>
              </a:solidFill>
              <a:latin typeface="Montserrat Bold" panose="00000800000000000000" pitchFamily="2" charset="-93"/>
              <a:ea typeface="Open Sans SemiBold" panose="020B0706030804020204" pitchFamily="34" charset="0"/>
              <a:cs typeface="Open Sans SemiBold" panose="020B0706030804020204" pitchFamily="34" charset="0"/>
              <a:sym typeface="Calibri"/>
            </a:endParaRPr>
          </a:p>
        </p:txBody>
      </p:sp>
      <p:sp>
        <p:nvSpPr>
          <p:cNvPr id="64" name="Google Shape;64;p2"/>
          <p:cNvSpPr/>
          <p:nvPr/>
        </p:nvSpPr>
        <p:spPr>
          <a:xfrm>
            <a:off x="7129462" y="8945985"/>
            <a:ext cx="4000500" cy="620426"/>
          </a:xfrm>
          <a:prstGeom prst="rect">
            <a:avLst/>
          </a:prstGeom>
          <a:noFill/>
          <a:ln>
            <a:noFill/>
          </a:ln>
        </p:spPr>
        <p:txBody>
          <a:bodyPr spcFirstLastPara="1" wrap="square" lIns="0" tIns="0" rIns="0" bIns="0" anchor="t" anchorCtr="0">
            <a:spAutoFit/>
          </a:bodyPr>
          <a:lstStyle/>
          <a:p>
            <a:pPr algn="ctr">
              <a:lnSpc>
                <a:spcPct val="112000"/>
              </a:lnSpc>
              <a:buClr>
                <a:srgbClr val="666666"/>
              </a:buClr>
              <a:buSzPts val="650"/>
            </a:pPr>
            <a:r>
              <a:rPr lang="en-US" dirty="0" err="1">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Hệ</a:t>
            </a:r>
            <a:r>
              <a:rPr lang="en-US"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dirty="0" err="1">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thống</a:t>
            </a:r>
            <a:r>
              <a:rPr lang="en-US"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 Streak, </a:t>
            </a:r>
            <a:r>
              <a:rPr lang="en-US" dirty="0" err="1">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Biểu</a:t>
            </a:r>
            <a:r>
              <a:rPr lang="en-US"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dirty="0" err="1">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đồ</a:t>
            </a:r>
            <a:r>
              <a:rPr lang="en-US"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dirty="0" err="1">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hoạt</a:t>
            </a:r>
            <a:r>
              <a:rPr lang="en-US"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dirty="0" err="1">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động</a:t>
            </a:r>
            <a:r>
              <a:rPr lang="en-US"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dirty="0" err="1">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Đánh</a:t>
            </a:r>
            <a:r>
              <a:rPr lang="en-US"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dirty="0" err="1">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giá</a:t>
            </a:r>
            <a:r>
              <a:rPr lang="en-US"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dirty="0" err="1">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trình</a:t>
            </a:r>
            <a:r>
              <a:rPr lang="en-US"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dirty="0" err="1">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độ</a:t>
            </a:r>
            <a:r>
              <a:rPr lang="en-US"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dirty="0" err="1">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CEFR</a:t>
            </a:r>
            <a:r>
              <a:rPr lang="en-US"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a:t>
            </a:r>
            <a:endParaRPr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65" name="Google Shape;65;p2"/>
          <p:cNvSpPr/>
          <p:nvPr/>
        </p:nvSpPr>
        <p:spPr>
          <a:xfrm>
            <a:off x="11830050" y="8009762"/>
            <a:ext cx="4457700" cy="1699152"/>
          </a:xfrm>
          <a:prstGeom prst="rect">
            <a:avLst/>
          </a:prstGeom>
          <a:solidFill>
            <a:srgbClr val="FFFFFF"/>
          </a:solidFill>
          <a:ln w="9525" cap="flat" cmpd="sng">
            <a:solidFill>
              <a:srgbClr val="EEEEEE"/>
            </a:solidFill>
            <a:prstDash val="solid"/>
            <a:round/>
            <a:headEnd type="none" w="sm" len="sm"/>
            <a:tailEnd type="none" w="sm" len="sm"/>
          </a:ln>
        </p:spPr>
        <p:txBody>
          <a:bodyPr spcFirstLastPara="1" wrap="square" lIns="182850" tIns="182850" rIns="182850" bIns="182850" anchor="ctr" anchorCtr="0">
            <a:noAutofit/>
          </a:bodyPr>
          <a:lstStyle/>
          <a:p>
            <a:endParaRPr sz="3600" dirty="0">
              <a:latin typeface="Montserrat Bold" panose="00000500000000000000" pitchFamily="2" charset="-93"/>
            </a:endParaRPr>
          </a:p>
        </p:txBody>
      </p:sp>
      <p:pic>
        <p:nvPicPr>
          <p:cNvPr id="66" name="Google Shape;66;p2" descr="preencoded.png"/>
          <p:cNvPicPr preferRelativeResize="0"/>
          <p:nvPr/>
        </p:nvPicPr>
        <p:blipFill rotWithShape="1">
          <a:blip r:embed="rId8">
            <a:alphaModFix/>
          </a:blip>
          <a:srcRect/>
          <a:stretch/>
        </p:blipFill>
        <p:spPr>
          <a:xfrm>
            <a:off x="12527730" y="8549506"/>
            <a:ext cx="228600" cy="228600"/>
          </a:xfrm>
          <a:prstGeom prst="rect">
            <a:avLst/>
          </a:prstGeom>
          <a:noFill/>
          <a:ln>
            <a:noFill/>
          </a:ln>
        </p:spPr>
      </p:pic>
      <p:sp>
        <p:nvSpPr>
          <p:cNvPr id="67" name="Google Shape;67;p2"/>
          <p:cNvSpPr/>
          <p:nvPr/>
        </p:nvSpPr>
        <p:spPr>
          <a:xfrm>
            <a:off x="12756328" y="8528075"/>
            <a:ext cx="2944832" cy="307777"/>
          </a:xfrm>
          <a:prstGeom prst="rect">
            <a:avLst/>
          </a:prstGeom>
          <a:noFill/>
          <a:ln>
            <a:noFill/>
          </a:ln>
        </p:spPr>
        <p:txBody>
          <a:bodyPr spcFirstLastPara="1" wrap="square" lIns="0" tIns="0" rIns="0" bIns="0" anchor="t" anchorCtr="0">
            <a:spAutoFit/>
          </a:bodyPr>
          <a:lstStyle/>
          <a:p>
            <a:pPr algn="ctr">
              <a:buClr>
                <a:srgbClr val="C62828"/>
              </a:buClr>
              <a:buSzPts val="800"/>
            </a:pPr>
            <a:r>
              <a:rPr lang="en-US" sz="2000" b="1" dirty="0" err="1">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TIỆN</a:t>
            </a:r>
            <a:r>
              <a:rPr lang="en-US" sz="2000" b="1" dirty="0">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 </a:t>
            </a:r>
            <a:r>
              <a:rPr lang="en-US" sz="2000" b="1" dirty="0" err="1">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ÍCH</a:t>
            </a:r>
            <a:r>
              <a:rPr lang="en-US" sz="2000" b="1" dirty="0">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 &amp; </a:t>
            </a:r>
            <a:r>
              <a:rPr lang="en-US" sz="2000" b="1" dirty="0" err="1">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ĐỒNG</a:t>
            </a:r>
            <a:r>
              <a:rPr lang="en-US" sz="2000" b="1" dirty="0">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 </a:t>
            </a:r>
            <a:r>
              <a:rPr lang="en-US" sz="2000" b="1" dirty="0" err="1">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BỘ</a:t>
            </a:r>
            <a:endParaRPr sz="2000" dirty="0">
              <a:solidFill>
                <a:schemeClr val="dk1"/>
              </a:solidFill>
              <a:latin typeface="Montserrat Bold" panose="00000800000000000000" pitchFamily="2" charset="-93"/>
              <a:ea typeface="Open Sans SemiBold" panose="020B0706030804020204" pitchFamily="34" charset="0"/>
              <a:cs typeface="Open Sans SemiBold" panose="020B0706030804020204" pitchFamily="34" charset="0"/>
              <a:sym typeface="Calibri"/>
            </a:endParaRPr>
          </a:p>
        </p:txBody>
      </p:sp>
      <p:sp>
        <p:nvSpPr>
          <p:cNvPr id="68" name="Google Shape;68;p2"/>
          <p:cNvSpPr/>
          <p:nvPr/>
        </p:nvSpPr>
        <p:spPr>
          <a:xfrm>
            <a:off x="12072938" y="8974561"/>
            <a:ext cx="4000500" cy="620426"/>
          </a:xfrm>
          <a:prstGeom prst="rect">
            <a:avLst/>
          </a:prstGeom>
          <a:noFill/>
          <a:ln>
            <a:noFill/>
          </a:ln>
        </p:spPr>
        <p:txBody>
          <a:bodyPr spcFirstLastPara="1" wrap="square" lIns="0" tIns="0" rIns="0" bIns="0" anchor="t" anchorCtr="0">
            <a:spAutoFit/>
          </a:bodyPr>
          <a:lstStyle/>
          <a:p>
            <a:pPr algn="ctr">
              <a:lnSpc>
                <a:spcPct val="112000"/>
              </a:lnSpc>
              <a:buClr>
                <a:srgbClr val="666666"/>
              </a:buClr>
              <a:buSzPts val="650"/>
            </a:pPr>
            <a:r>
              <a:rPr lang="en-US"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Thông </a:t>
            </a:r>
            <a:r>
              <a:rPr lang="en-US" dirty="0" err="1">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báo</a:t>
            </a:r>
            <a:r>
              <a:rPr lang="en-US"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dirty="0" err="1">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nhắc</a:t>
            </a:r>
            <a:r>
              <a:rPr lang="en-US"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dirty="0" err="1">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học</a:t>
            </a:r>
            <a:r>
              <a:rPr lang="en-US"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dirty="0" err="1">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WorkManager</a:t>
            </a:r>
            <a:r>
              <a:rPr lang="en-US"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 Offline-first (Room), Sync (</a:t>
            </a:r>
            <a:r>
              <a:rPr lang="en-US" dirty="0" err="1">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Firestore</a:t>
            </a:r>
            <a:r>
              <a:rPr lang="en-US"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a:t>
            </a:r>
            <a:endParaRPr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cxnSp>
        <p:nvCxnSpPr>
          <p:cNvPr id="7" name="Connector: Curved 6">
            <a:extLst>
              <a:ext uri="{FF2B5EF4-FFF2-40B4-BE49-F238E27FC236}">
                <a16:creationId xmlns:a16="http://schemas.microsoft.com/office/drawing/2014/main" id="{F4340C8E-43D9-A076-0B2B-09B0BECE0427}"/>
              </a:ext>
            </a:extLst>
          </p:cNvPr>
          <p:cNvCxnSpPr>
            <a:cxnSpLocks/>
            <a:stCxn id="44" idx="0"/>
            <a:endCxn id="46" idx="2"/>
          </p:cNvCxnSpPr>
          <p:nvPr/>
        </p:nvCxnSpPr>
        <p:spPr>
          <a:xfrm rot="16200000" flipV="1">
            <a:off x="6275254" y="2932538"/>
            <a:ext cx="822592" cy="4914900"/>
          </a:xfrm>
          <a:prstGeom prst="curved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9" name="Connector: Curved 8">
            <a:extLst>
              <a:ext uri="{FF2B5EF4-FFF2-40B4-BE49-F238E27FC236}">
                <a16:creationId xmlns:a16="http://schemas.microsoft.com/office/drawing/2014/main" id="{95A95464-6ED0-CA86-1809-AEFD2A325045}"/>
              </a:ext>
            </a:extLst>
          </p:cNvPr>
          <p:cNvCxnSpPr>
            <a:stCxn id="44" idx="0"/>
            <a:endCxn id="50" idx="2"/>
          </p:cNvCxnSpPr>
          <p:nvPr/>
        </p:nvCxnSpPr>
        <p:spPr>
          <a:xfrm rot="16200000" flipV="1">
            <a:off x="8725560" y="5382844"/>
            <a:ext cx="822592" cy="14288"/>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10" name="Connector: Curved 9">
            <a:extLst>
              <a:ext uri="{FF2B5EF4-FFF2-40B4-BE49-F238E27FC236}">
                <a16:creationId xmlns:a16="http://schemas.microsoft.com/office/drawing/2014/main" id="{03D82A48-8E86-43FE-4A15-D08DE37FDD3B}"/>
              </a:ext>
            </a:extLst>
          </p:cNvPr>
          <p:cNvCxnSpPr>
            <a:cxnSpLocks/>
            <a:stCxn id="44" idx="0"/>
            <a:endCxn id="54" idx="2"/>
          </p:cNvCxnSpPr>
          <p:nvPr/>
        </p:nvCxnSpPr>
        <p:spPr>
          <a:xfrm rot="5400000" flipH="1" flipV="1">
            <a:off x="11190154" y="2932538"/>
            <a:ext cx="822592" cy="4914900"/>
          </a:xfrm>
          <a:prstGeom prst="curved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13" name="Connector: Curved 12">
            <a:extLst>
              <a:ext uri="{FF2B5EF4-FFF2-40B4-BE49-F238E27FC236}">
                <a16:creationId xmlns:a16="http://schemas.microsoft.com/office/drawing/2014/main" id="{9E45A83D-AAEF-3FD7-0CDF-A26E2C262953}"/>
              </a:ext>
            </a:extLst>
          </p:cNvPr>
          <p:cNvCxnSpPr>
            <a:cxnSpLocks/>
            <a:stCxn id="44" idx="2"/>
            <a:endCxn id="65" idx="0"/>
          </p:cNvCxnSpPr>
          <p:nvPr/>
        </p:nvCxnSpPr>
        <p:spPr>
          <a:xfrm rot="16200000" flipH="1">
            <a:off x="11190157" y="5141016"/>
            <a:ext cx="822590" cy="4914900"/>
          </a:xfrm>
          <a:prstGeom prst="curved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19" name="Connector: Curved 18">
            <a:extLst>
              <a:ext uri="{FF2B5EF4-FFF2-40B4-BE49-F238E27FC236}">
                <a16:creationId xmlns:a16="http://schemas.microsoft.com/office/drawing/2014/main" id="{9EF0AC7C-F655-B444-A5D8-56517147CE98}"/>
              </a:ext>
            </a:extLst>
          </p:cNvPr>
          <p:cNvCxnSpPr>
            <a:cxnSpLocks/>
            <a:stCxn id="44" idx="2"/>
            <a:endCxn id="61" idx="0"/>
          </p:cNvCxnSpPr>
          <p:nvPr/>
        </p:nvCxnSpPr>
        <p:spPr>
          <a:xfrm rot="5400000">
            <a:off x="8725563" y="7591322"/>
            <a:ext cx="822590" cy="14288"/>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22" name="Connector: Curved 21">
            <a:extLst>
              <a:ext uri="{FF2B5EF4-FFF2-40B4-BE49-F238E27FC236}">
                <a16:creationId xmlns:a16="http://schemas.microsoft.com/office/drawing/2014/main" id="{0275733E-0B2C-1B73-1C19-D3B722E18D8D}"/>
              </a:ext>
            </a:extLst>
          </p:cNvPr>
          <p:cNvCxnSpPr>
            <a:cxnSpLocks/>
            <a:stCxn id="44" idx="2"/>
            <a:endCxn id="57" idx="0"/>
          </p:cNvCxnSpPr>
          <p:nvPr/>
        </p:nvCxnSpPr>
        <p:spPr>
          <a:xfrm rot="5400000">
            <a:off x="6275257" y="5141016"/>
            <a:ext cx="822590" cy="4914900"/>
          </a:xfrm>
          <a:prstGeom prst="curved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25" name="Rectangle 24">
            <a:extLst>
              <a:ext uri="{FF2B5EF4-FFF2-40B4-BE49-F238E27FC236}">
                <a16:creationId xmlns:a16="http://schemas.microsoft.com/office/drawing/2014/main" id="{53BD2EA0-B57E-BC47-4059-5504AD1F0DB3}"/>
              </a:ext>
            </a:extLst>
          </p:cNvPr>
          <p:cNvSpPr/>
          <p:nvPr/>
        </p:nvSpPr>
        <p:spPr>
          <a:xfrm>
            <a:off x="1143000" y="1164989"/>
            <a:ext cx="126580" cy="861774"/>
          </a:xfrm>
          <a:prstGeom prst="rect">
            <a:avLst/>
          </a:prstGeom>
          <a:solidFill>
            <a:srgbClr val="C6282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3600">
              <a:latin typeface="Montserrat Bold" panose="00000500000000000000" pitchFamily="2" charset="-93"/>
            </a:endParaRPr>
          </a:p>
        </p:txBody>
      </p:sp>
      <p:sp>
        <p:nvSpPr>
          <p:cNvPr id="3" name="TextBox 2">
            <a:extLst>
              <a:ext uri="{FF2B5EF4-FFF2-40B4-BE49-F238E27FC236}">
                <a16:creationId xmlns:a16="http://schemas.microsoft.com/office/drawing/2014/main" id="{2BB6AAC4-4264-0D92-31F6-DF7E4DABC6EE}"/>
              </a:ext>
            </a:extLst>
          </p:cNvPr>
          <p:cNvSpPr txBox="1"/>
          <p:nvPr/>
        </p:nvSpPr>
        <p:spPr>
          <a:xfrm>
            <a:off x="17831821" y="9831884"/>
            <a:ext cx="415498"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03</a:t>
            </a:r>
            <a:endParaRPr lang="vi-V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pic>
        <p:nvPicPr>
          <p:cNvPr id="74" name="Google Shape;74;p3" descr="preencoded.png"/>
          <p:cNvPicPr preferRelativeResize="0"/>
          <p:nvPr/>
        </p:nvPicPr>
        <p:blipFill rotWithShape="1">
          <a:blip r:embed="rId3">
            <a:alphaModFix/>
          </a:blip>
          <a:srcRect/>
          <a:stretch/>
        </p:blipFill>
        <p:spPr>
          <a:xfrm>
            <a:off x="1" y="0"/>
            <a:ext cx="18287998" cy="10287000"/>
          </a:xfrm>
          <a:prstGeom prst="rect">
            <a:avLst/>
          </a:prstGeom>
          <a:noFill/>
          <a:ln>
            <a:noFill/>
          </a:ln>
        </p:spPr>
      </p:pic>
      <p:sp>
        <p:nvSpPr>
          <p:cNvPr id="75" name="Google Shape;75;p3"/>
          <p:cNvSpPr/>
          <p:nvPr/>
        </p:nvSpPr>
        <p:spPr>
          <a:xfrm>
            <a:off x="1142999" y="1355305"/>
            <a:ext cx="11099382" cy="861774"/>
          </a:xfrm>
          <a:prstGeom prst="rect">
            <a:avLst/>
          </a:prstGeom>
          <a:noFill/>
          <a:ln>
            <a:noFill/>
          </a:ln>
        </p:spPr>
        <p:txBody>
          <a:bodyPr spcFirstLastPara="1" wrap="square" lIns="340100" tIns="0" rIns="0" bIns="0" anchor="t" anchorCtr="0">
            <a:spAutoFit/>
          </a:bodyPr>
          <a:lstStyle/>
          <a:p>
            <a:pPr>
              <a:buSzPts val="1900"/>
            </a:pPr>
            <a:r>
              <a:rPr lang="en-US" sz="5600" b="1" dirty="0" err="1">
                <a:latin typeface="Montserrat Bold" panose="00000800000000000000" pitchFamily="2" charset="-93"/>
                <a:ea typeface="Inter"/>
                <a:sym typeface="Inter"/>
              </a:rPr>
              <a:t>Nền</a:t>
            </a:r>
            <a:r>
              <a:rPr lang="en-US" sz="5600" b="1" dirty="0">
                <a:latin typeface="Montserrat Bold" panose="00000800000000000000" pitchFamily="2" charset="-93"/>
                <a:ea typeface="Inter"/>
                <a:sym typeface="Inter"/>
              </a:rPr>
              <a:t> </a:t>
            </a:r>
            <a:r>
              <a:rPr lang="en-US" sz="5600" b="1" dirty="0" err="1">
                <a:latin typeface="Montserrat Bold" panose="00000800000000000000" pitchFamily="2" charset="-93"/>
                <a:ea typeface="Inter"/>
                <a:sym typeface="Inter"/>
              </a:rPr>
              <a:t>tảng</a:t>
            </a:r>
            <a:r>
              <a:rPr lang="en-US" sz="5600" b="1" dirty="0">
                <a:latin typeface="Montserrat Bold" panose="00000800000000000000" pitchFamily="2" charset="-93"/>
                <a:ea typeface="Inter"/>
                <a:sym typeface="Inter"/>
              </a:rPr>
              <a:t> &amp; </a:t>
            </a:r>
            <a:r>
              <a:rPr lang="en-US" sz="5600" b="1" dirty="0" err="1">
                <a:latin typeface="Montserrat Bold" panose="00000800000000000000" pitchFamily="2" charset="-93"/>
                <a:ea typeface="Inter"/>
                <a:sym typeface="Inter"/>
              </a:rPr>
              <a:t>Mục</a:t>
            </a:r>
            <a:r>
              <a:rPr lang="en-US" sz="5600" b="1" dirty="0">
                <a:latin typeface="Montserrat Bold" panose="00000800000000000000" pitchFamily="2" charset="-93"/>
                <a:ea typeface="Inter"/>
                <a:sym typeface="Inter"/>
              </a:rPr>
              <a:t> </a:t>
            </a:r>
            <a:r>
              <a:rPr lang="en-US" sz="5600" b="1" dirty="0" err="1">
                <a:latin typeface="Montserrat Bold" panose="00000800000000000000" pitchFamily="2" charset="-93"/>
                <a:ea typeface="Inter"/>
                <a:sym typeface="Inter"/>
              </a:rPr>
              <a:t>tiêu</a:t>
            </a:r>
            <a:r>
              <a:rPr lang="en-US" sz="5600" b="1" dirty="0">
                <a:latin typeface="Montserrat Bold" panose="00000800000000000000" pitchFamily="2" charset="-93"/>
                <a:ea typeface="Inter"/>
                <a:sym typeface="Inter"/>
              </a:rPr>
              <a:t> </a:t>
            </a:r>
            <a:r>
              <a:rPr lang="en-US" sz="5600" b="1" dirty="0" err="1">
                <a:latin typeface="Montserrat Bold" panose="00000800000000000000" pitchFamily="2" charset="-93"/>
                <a:ea typeface="Inter"/>
                <a:sym typeface="Inter"/>
              </a:rPr>
              <a:t>học</a:t>
            </a:r>
            <a:r>
              <a:rPr lang="en-US" sz="5600" b="1" dirty="0">
                <a:latin typeface="Montserrat Bold" panose="00000800000000000000" pitchFamily="2" charset="-93"/>
                <a:ea typeface="Inter"/>
                <a:sym typeface="Inter"/>
              </a:rPr>
              <a:t> </a:t>
            </a:r>
            <a:r>
              <a:rPr lang="en-US" sz="5600" b="1" dirty="0" err="1">
                <a:latin typeface="Montserrat Bold" panose="00000800000000000000" pitchFamily="2" charset="-93"/>
                <a:ea typeface="Inter"/>
                <a:sym typeface="Inter"/>
              </a:rPr>
              <a:t>tập</a:t>
            </a:r>
            <a:endParaRPr sz="5600" b="1" dirty="0">
              <a:latin typeface="Montserrat Bold" panose="00000800000000000000" pitchFamily="2" charset="-93"/>
              <a:ea typeface="Inter"/>
              <a:sym typeface="Calibri"/>
            </a:endParaRPr>
          </a:p>
        </p:txBody>
      </p:sp>
      <p:pic>
        <p:nvPicPr>
          <p:cNvPr id="76" name="Google Shape;76;p3" descr="preencoded.png"/>
          <p:cNvPicPr preferRelativeResize="0"/>
          <p:nvPr/>
        </p:nvPicPr>
        <p:blipFill rotWithShape="1">
          <a:blip r:embed="rId4">
            <a:alphaModFix/>
          </a:blip>
          <a:srcRect/>
          <a:stretch/>
        </p:blipFill>
        <p:spPr>
          <a:xfrm>
            <a:off x="1143000" y="3928378"/>
            <a:ext cx="342900" cy="342900"/>
          </a:xfrm>
          <a:prstGeom prst="rect">
            <a:avLst/>
          </a:prstGeom>
          <a:noFill/>
          <a:ln>
            <a:noFill/>
          </a:ln>
        </p:spPr>
      </p:pic>
      <p:sp>
        <p:nvSpPr>
          <p:cNvPr id="77" name="Google Shape;77;p3"/>
          <p:cNvSpPr/>
          <p:nvPr/>
        </p:nvSpPr>
        <p:spPr>
          <a:xfrm>
            <a:off x="1700211" y="3810745"/>
            <a:ext cx="4768602" cy="492443"/>
          </a:xfrm>
          <a:prstGeom prst="rect">
            <a:avLst/>
          </a:prstGeom>
          <a:noFill/>
          <a:ln>
            <a:noFill/>
          </a:ln>
        </p:spPr>
        <p:txBody>
          <a:bodyPr spcFirstLastPara="1" wrap="square" lIns="0" tIns="0" rIns="0" bIns="0" anchor="t" anchorCtr="0">
            <a:spAutoFit/>
          </a:bodyPr>
          <a:lstStyle/>
          <a:p>
            <a:pPr>
              <a:buClr>
                <a:srgbClr val="C62828"/>
              </a:buClr>
              <a:buSzPts val="1200"/>
            </a:pPr>
            <a:r>
              <a:rPr lang="en-US" sz="3200" b="1" dirty="0">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1.1. Quản </a:t>
            </a:r>
            <a:r>
              <a:rPr lang="en-US" sz="3200" b="1" dirty="0" err="1">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lý</a:t>
            </a:r>
            <a:r>
              <a:rPr lang="en-US" sz="3200" b="1" dirty="0">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 </a:t>
            </a:r>
            <a:r>
              <a:rPr lang="en-US" sz="3200" b="1" dirty="0" err="1">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tài</a:t>
            </a:r>
            <a:r>
              <a:rPr lang="en-US" sz="3200" b="1" dirty="0">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 </a:t>
            </a:r>
            <a:r>
              <a:rPr lang="en-US" sz="3200" b="1" dirty="0" err="1">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khoản</a:t>
            </a:r>
            <a:endParaRPr sz="3200" dirty="0">
              <a:solidFill>
                <a:schemeClr val="dk1"/>
              </a:solidFill>
              <a:latin typeface="Montserrat Bold" panose="00000800000000000000" pitchFamily="2" charset="-93"/>
              <a:ea typeface="Open Sans SemiBold" panose="020B0706030804020204" pitchFamily="34" charset="0"/>
              <a:cs typeface="Open Sans SemiBold" panose="020B0706030804020204" pitchFamily="34" charset="0"/>
              <a:sym typeface="Calibri"/>
            </a:endParaRPr>
          </a:p>
        </p:txBody>
      </p:sp>
      <p:sp>
        <p:nvSpPr>
          <p:cNvPr id="78" name="Google Shape;78;p3"/>
          <p:cNvSpPr/>
          <p:nvPr/>
        </p:nvSpPr>
        <p:spPr>
          <a:xfrm>
            <a:off x="1142998" y="4582270"/>
            <a:ext cx="9320052" cy="369332"/>
          </a:xfrm>
          <a:prstGeom prst="rect">
            <a:avLst/>
          </a:prstGeom>
          <a:noFill/>
          <a:ln>
            <a:noFill/>
          </a:ln>
        </p:spPr>
        <p:txBody>
          <a:bodyPr spcFirstLastPara="1" wrap="square" lIns="0" tIns="0" rIns="0" bIns="0" anchor="t" anchorCtr="0">
            <a:spAutoFit/>
          </a:bodyPr>
          <a:lstStyle/>
          <a:p>
            <a:pPr>
              <a:buClr>
                <a:srgbClr val="000000"/>
              </a:buClr>
              <a:buSzPts val="900"/>
            </a:pPr>
            <a:r>
              <a:rPr lang="en-US" sz="2400" b="1" dirty="0" err="1">
                <a:solidFill>
                  <a:srgbClr val="000000"/>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Xác</a:t>
            </a:r>
            <a:r>
              <a:rPr lang="en-US" sz="2400" b="1" dirty="0">
                <a:solidFill>
                  <a:srgbClr val="000000"/>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 </a:t>
            </a:r>
            <a:r>
              <a:rPr lang="en-US" sz="2400" b="1" dirty="0" err="1">
                <a:solidFill>
                  <a:srgbClr val="000000"/>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thực</a:t>
            </a:r>
            <a:r>
              <a:rPr lang="en-US" sz="2400" b="1" dirty="0">
                <a:solidFill>
                  <a:srgbClr val="000000"/>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 </a:t>
            </a:r>
            <a:r>
              <a:rPr lang="en-US" sz="2400" b="1" dirty="0" err="1">
                <a:solidFill>
                  <a:srgbClr val="000000"/>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người</a:t>
            </a:r>
            <a:r>
              <a:rPr lang="en-US" sz="2400" b="1" dirty="0">
                <a:solidFill>
                  <a:srgbClr val="000000"/>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 </a:t>
            </a:r>
            <a:r>
              <a:rPr lang="en-US" sz="2400" b="1" dirty="0" err="1">
                <a:solidFill>
                  <a:srgbClr val="000000"/>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dùng</a:t>
            </a:r>
            <a:endParaRPr sz="2400" dirty="0">
              <a:solidFill>
                <a:schemeClr val="dk1"/>
              </a:solidFill>
              <a:latin typeface="Montserrat Bold" panose="00000800000000000000" pitchFamily="2" charset="-93"/>
              <a:ea typeface="Open Sans SemiBold" panose="020B0706030804020204" pitchFamily="34" charset="0"/>
              <a:cs typeface="Open Sans SemiBold" panose="020B0706030804020204" pitchFamily="34" charset="0"/>
              <a:sym typeface="Calibri"/>
            </a:endParaRPr>
          </a:p>
        </p:txBody>
      </p:sp>
      <p:sp>
        <p:nvSpPr>
          <p:cNvPr id="79" name="Google Shape;79;p3"/>
          <p:cNvSpPr/>
          <p:nvPr/>
        </p:nvSpPr>
        <p:spPr>
          <a:xfrm>
            <a:off x="1143000" y="5121622"/>
            <a:ext cx="7429500" cy="827278"/>
          </a:xfrm>
          <a:prstGeom prst="rect">
            <a:avLst/>
          </a:prstGeom>
          <a:noFill/>
          <a:ln>
            <a:noFill/>
          </a:ln>
        </p:spPr>
        <p:txBody>
          <a:bodyPr spcFirstLastPara="1" wrap="square" lIns="0" tIns="0" rIns="0" bIns="0" anchor="t" anchorCtr="0">
            <a:spAutoFit/>
          </a:bodyPr>
          <a:lstStyle/>
          <a:p>
            <a:pPr>
              <a:lnSpc>
                <a:spcPct val="128000"/>
              </a:lnSpc>
              <a:buClr>
                <a:srgbClr val="444444"/>
              </a:buClr>
              <a:buSzPts val="850"/>
            </a:pP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Hỗ</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trợ</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đăng</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ký</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đăng</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nhập</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qua Email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hoặc</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tài</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khoản</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Google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thông</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qua </a:t>
            </a:r>
            <a:r>
              <a:rPr lang="en-US" sz="2100" b="1"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Firebase Authentication</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a:t>
            </a:r>
            <a:endParaRPr sz="21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80" name="Google Shape;80;p3"/>
          <p:cNvSpPr/>
          <p:nvPr/>
        </p:nvSpPr>
        <p:spPr>
          <a:xfrm>
            <a:off x="1142998" y="6210262"/>
            <a:ext cx="9320052" cy="369332"/>
          </a:xfrm>
          <a:prstGeom prst="rect">
            <a:avLst/>
          </a:prstGeom>
          <a:noFill/>
          <a:ln>
            <a:noFill/>
          </a:ln>
        </p:spPr>
        <p:txBody>
          <a:bodyPr spcFirstLastPara="1" wrap="square" lIns="0" tIns="0" rIns="0" bIns="0" anchor="t" anchorCtr="0">
            <a:spAutoFit/>
          </a:bodyPr>
          <a:lstStyle/>
          <a:p>
            <a:pPr>
              <a:buClr>
                <a:srgbClr val="000000"/>
              </a:buClr>
              <a:buSzPts val="900"/>
            </a:pPr>
            <a:r>
              <a:rPr lang="en-US" sz="2400" b="1" dirty="0" err="1">
                <a:solidFill>
                  <a:srgbClr val="000000"/>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Hồ</a:t>
            </a:r>
            <a:r>
              <a:rPr lang="en-US" sz="2400" b="1" dirty="0">
                <a:solidFill>
                  <a:srgbClr val="000000"/>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 </a:t>
            </a:r>
            <a:r>
              <a:rPr lang="en-US" sz="2400" b="1" dirty="0" err="1">
                <a:solidFill>
                  <a:srgbClr val="000000"/>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sơ</a:t>
            </a:r>
            <a:r>
              <a:rPr lang="en-US" sz="2400" b="1" dirty="0">
                <a:solidFill>
                  <a:srgbClr val="000000"/>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 </a:t>
            </a:r>
            <a:r>
              <a:rPr lang="en-US" sz="2400" b="1" dirty="0" err="1">
                <a:solidFill>
                  <a:srgbClr val="000000"/>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cá</a:t>
            </a:r>
            <a:r>
              <a:rPr lang="en-US" sz="2400" b="1" dirty="0">
                <a:solidFill>
                  <a:srgbClr val="000000"/>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 </a:t>
            </a:r>
            <a:r>
              <a:rPr lang="en-US" sz="2400" b="1" dirty="0" err="1">
                <a:solidFill>
                  <a:srgbClr val="000000"/>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nhân</a:t>
            </a:r>
            <a:endParaRPr sz="2400" dirty="0">
              <a:solidFill>
                <a:schemeClr val="dk1"/>
              </a:solidFill>
              <a:latin typeface="Montserrat Bold" panose="00000800000000000000" pitchFamily="2" charset="-93"/>
              <a:ea typeface="Open Sans SemiBold" panose="020B0706030804020204" pitchFamily="34" charset="0"/>
              <a:cs typeface="Open Sans SemiBold" panose="020B0706030804020204" pitchFamily="34" charset="0"/>
              <a:sym typeface="Calibri"/>
            </a:endParaRPr>
          </a:p>
        </p:txBody>
      </p:sp>
      <p:sp>
        <p:nvSpPr>
          <p:cNvPr id="81" name="Google Shape;81;p3"/>
          <p:cNvSpPr/>
          <p:nvPr/>
        </p:nvSpPr>
        <p:spPr>
          <a:xfrm>
            <a:off x="1143000" y="6749616"/>
            <a:ext cx="7429500" cy="827278"/>
          </a:xfrm>
          <a:prstGeom prst="rect">
            <a:avLst/>
          </a:prstGeom>
          <a:noFill/>
          <a:ln>
            <a:noFill/>
          </a:ln>
        </p:spPr>
        <p:txBody>
          <a:bodyPr spcFirstLastPara="1" wrap="square" lIns="0" tIns="0" rIns="0" bIns="0" anchor="t" anchorCtr="0">
            <a:spAutoFit/>
          </a:bodyPr>
          <a:lstStyle/>
          <a:p>
            <a:pPr>
              <a:lnSpc>
                <a:spcPct val="128000"/>
              </a:lnSpc>
              <a:buClr>
                <a:srgbClr val="444444"/>
              </a:buClr>
              <a:buSzPts val="850"/>
            </a:pP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Cập</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nhật</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thông</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tin,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thay</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đổi</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mật</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khẩu</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và</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quản</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lý</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hồ</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sơ</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cá</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nhân</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linh</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hoạt</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trong</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quá</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trình</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sử</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dụng</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a:t>
            </a:r>
            <a:endParaRPr sz="21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pic>
        <p:nvPicPr>
          <p:cNvPr id="82" name="Google Shape;82;p3" descr="preencoded.png"/>
          <p:cNvPicPr preferRelativeResize="0"/>
          <p:nvPr/>
        </p:nvPicPr>
        <p:blipFill rotWithShape="1">
          <a:blip r:embed="rId5">
            <a:alphaModFix/>
          </a:blip>
          <a:srcRect/>
          <a:stretch/>
        </p:blipFill>
        <p:spPr>
          <a:xfrm>
            <a:off x="9715500" y="3928378"/>
            <a:ext cx="342900" cy="342900"/>
          </a:xfrm>
          <a:prstGeom prst="rect">
            <a:avLst/>
          </a:prstGeom>
          <a:noFill/>
          <a:ln>
            <a:noFill/>
          </a:ln>
        </p:spPr>
      </p:pic>
      <p:sp>
        <p:nvSpPr>
          <p:cNvPr id="83" name="Google Shape;83;p3"/>
          <p:cNvSpPr/>
          <p:nvPr/>
        </p:nvSpPr>
        <p:spPr>
          <a:xfrm>
            <a:off x="10272709" y="3810744"/>
            <a:ext cx="4768602" cy="492443"/>
          </a:xfrm>
          <a:prstGeom prst="rect">
            <a:avLst/>
          </a:prstGeom>
          <a:noFill/>
          <a:ln>
            <a:noFill/>
          </a:ln>
        </p:spPr>
        <p:txBody>
          <a:bodyPr spcFirstLastPara="1" wrap="square" lIns="0" tIns="0" rIns="0" bIns="0" anchor="t" anchorCtr="0">
            <a:spAutoFit/>
          </a:bodyPr>
          <a:lstStyle/>
          <a:p>
            <a:pPr>
              <a:buClr>
                <a:srgbClr val="C62828"/>
              </a:buClr>
              <a:buSzPts val="1200"/>
            </a:pPr>
            <a:r>
              <a:rPr lang="en-US" sz="3200" b="1" dirty="0">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1.2. </a:t>
            </a:r>
            <a:r>
              <a:rPr lang="en-US" sz="3200" b="1" dirty="0" err="1">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Thiết</a:t>
            </a:r>
            <a:r>
              <a:rPr lang="en-US" sz="3200" b="1" dirty="0">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 </a:t>
            </a:r>
            <a:r>
              <a:rPr lang="en-US" sz="3200" b="1" dirty="0" err="1">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lập</a:t>
            </a:r>
            <a:r>
              <a:rPr lang="en-US" sz="3200" b="1" dirty="0">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 </a:t>
            </a:r>
            <a:r>
              <a:rPr lang="en-US" sz="3200" b="1" dirty="0" err="1">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mục</a:t>
            </a:r>
            <a:r>
              <a:rPr lang="en-US" sz="3200" b="1" dirty="0">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 </a:t>
            </a:r>
            <a:r>
              <a:rPr lang="en-US" sz="3200" b="1" dirty="0" err="1">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tiêu</a:t>
            </a:r>
            <a:endParaRPr sz="3200" dirty="0">
              <a:solidFill>
                <a:schemeClr val="dk1"/>
              </a:solidFill>
              <a:latin typeface="Montserrat Bold" panose="00000800000000000000" pitchFamily="2" charset="-93"/>
              <a:ea typeface="Open Sans SemiBold" panose="020B0706030804020204" pitchFamily="34" charset="0"/>
              <a:cs typeface="Open Sans SemiBold" panose="020B0706030804020204" pitchFamily="34" charset="0"/>
              <a:sym typeface="Calibri"/>
            </a:endParaRPr>
          </a:p>
        </p:txBody>
      </p:sp>
      <p:sp>
        <p:nvSpPr>
          <p:cNvPr id="84" name="Google Shape;84;p3"/>
          <p:cNvSpPr/>
          <p:nvPr/>
        </p:nvSpPr>
        <p:spPr>
          <a:xfrm>
            <a:off x="9715498" y="4582270"/>
            <a:ext cx="9320052" cy="369332"/>
          </a:xfrm>
          <a:prstGeom prst="rect">
            <a:avLst/>
          </a:prstGeom>
          <a:noFill/>
          <a:ln>
            <a:noFill/>
          </a:ln>
        </p:spPr>
        <p:txBody>
          <a:bodyPr spcFirstLastPara="1" wrap="square" lIns="0" tIns="0" rIns="0" bIns="0" anchor="t" anchorCtr="0">
            <a:spAutoFit/>
          </a:bodyPr>
          <a:lstStyle/>
          <a:p>
            <a:pPr>
              <a:buClr>
                <a:srgbClr val="000000"/>
              </a:buClr>
              <a:buSzPts val="900"/>
            </a:pPr>
            <a:r>
              <a:rPr lang="en-US" sz="2400" b="1" dirty="0" err="1">
                <a:solidFill>
                  <a:srgbClr val="000000"/>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Lộ</a:t>
            </a:r>
            <a:r>
              <a:rPr lang="en-US" sz="2400" b="1" dirty="0">
                <a:solidFill>
                  <a:srgbClr val="000000"/>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 </a:t>
            </a:r>
            <a:r>
              <a:rPr lang="en-US" sz="2400" b="1" dirty="0" err="1">
                <a:solidFill>
                  <a:srgbClr val="000000"/>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trình</a:t>
            </a:r>
            <a:r>
              <a:rPr lang="en-US" sz="2400" b="1" dirty="0">
                <a:solidFill>
                  <a:srgbClr val="000000"/>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 </a:t>
            </a:r>
            <a:r>
              <a:rPr lang="en-US" sz="2400" b="1" dirty="0" err="1">
                <a:solidFill>
                  <a:srgbClr val="000000"/>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cá</a:t>
            </a:r>
            <a:r>
              <a:rPr lang="en-US" sz="2400" b="1" dirty="0">
                <a:solidFill>
                  <a:srgbClr val="000000"/>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 </a:t>
            </a:r>
            <a:r>
              <a:rPr lang="en-US" sz="2400" b="1" dirty="0" err="1">
                <a:solidFill>
                  <a:srgbClr val="000000"/>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nhân</a:t>
            </a:r>
            <a:r>
              <a:rPr lang="en-US" sz="2400" b="1" dirty="0">
                <a:solidFill>
                  <a:srgbClr val="000000"/>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 </a:t>
            </a:r>
            <a:r>
              <a:rPr lang="en-US" sz="2400" b="1" dirty="0" err="1">
                <a:solidFill>
                  <a:srgbClr val="000000"/>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hóa</a:t>
            </a:r>
            <a:endParaRPr sz="2400" dirty="0">
              <a:solidFill>
                <a:schemeClr val="dk1"/>
              </a:solidFill>
              <a:latin typeface="Montserrat Bold" panose="00000800000000000000" pitchFamily="2" charset="-93"/>
              <a:ea typeface="Open Sans SemiBold" panose="020B0706030804020204" pitchFamily="34" charset="0"/>
              <a:cs typeface="Open Sans SemiBold" panose="020B0706030804020204" pitchFamily="34" charset="0"/>
              <a:sym typeface="Calibri"/>
            </a:endParaRPr>
          </a:p>
        </p:txBody>
      </p:sp>
      <p:sp>
        <p:nvSpPr>
          <p:cNvPr id="85" name="Google Shape;85;p3"/>
          <p:cNvSpPr/>
          <p:nvPr/>
        </p:nvSpPr>
        <p:spPr>
          <a:xfrm>
            <a:off x="9715500" y="5065482"/>
            <a:ext cx="7429500" cy="827278"/>
          </a:xfrm>
          <a:prstGeom prst="rect">
            <a:avLst/>
          </a:prstGeom>
          <a:noFill/>
          <a:ln>
            <a:noFill/>
          </a:ln>
        </p:spPr>
        <p:txBody>
          <a:bodyPr spcFirstLastPara="1" wrap="square" lIns="0" tIns="0" rIns="0" bIns="0" anchor="t" anchorCtr="0">
            <a:spAutoFit/>
          </a:bodyPr>
          <a:lstStyle/>
          <a:p>
            <a:pPr>
              <a:lnSpc>
                <a:spcPct val="128000"/>
              </a:lnSpc>
              <a:buClr>
                <a:srgbClr val="444444"/>
              </a:buClr>
              <a:buSzPts val="850"/>
            </a:pP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Lựa</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chọn</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các</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mục</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tiêu</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học</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tập</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cụ</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thể</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IELTS,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TOEIC</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Business English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hoặc</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giao</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tiếp</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thông</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thường</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a:t>
            </a:r>
            <a:endParaRPr sz="21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86" name="Google Shape;86;p3"/>
          <p:cNvSpPr/>
          <p:nvPr/>
        </p:nvSpPr>
        <p:spPr>
          <a:xfrm>
            <a:off x="9715498" y="6210262"/>
            <a:ext cx="9320052" cy="369332"/>
          </a:xfrm>
          <a:prstGeom prst="rect">
            <a:avLst/>
          </a:prstGeom>
          <a:noFill/>
          <a:ln>
            <a:noFill/>
          </a:ln>
        </p:spPr>
        <p:txBody>
          <a:bodyPr spcFirstLastPara="1" wrap="square" lIns="0" tIns="0" rIns="0" bIns="0" anchor="t" anchorCtr="0">
            <a:spAutoFit/>
          </a:bodyPr>
          <a:lstStyle/>
          <a:p>
            <a:pPr>
              <a:buClr>
                <a:srgbClr val="000000"/>
              </a:buClr>
              <a:buSzPts val="900"/>
            </a:pPr>
            <a:r>
              <a:rPr lang="en-US" sz="2400" b="1" dirty="0" err="1">
                <a:solidFill>
                  <a:srgbClr val="000000"/>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Trình</a:t>
            </a:r>
            <a:r>
              <a:rPr lang="en-US" sz="2400" b="1" dirty="0">
                <a:solidFill>
                  <a:srgbClr val="000000"/>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 </a:t>
            </a:r>
            <a:r>
              <a:rPr lang="en-US" sz="2400" b="1" dirty="0" err="1">
                <a:solidFill>
                  <a:srgbClr val="000000"/>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độ</a:t>
            </a:r>
            <a:r>
              <a:rPr lang="en-US" sz="2400" b="1" dirty="0">
                <a:solidFill>
                  <a:srgbClr val="000000"/>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 </a:t>
            </a:r>
            <a:r>
              <a:rPr lang="en-US" sz="2400" b="1" dirty="0" err="1">
                <a:solidFill>
                  <a:srgbClr val="000000"/>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CEFR</a:t>
            </a:r>
            <a:endParaRPr sz="2400" dirty="0">
              <a:solidFill>
                <a:schemeClr val="dk1"/>
              </a:solidFill>
              <a:latin typeface="Montserrat Bold" panose="00000800000000000000" pitchFamily="2" charset="-93"/>
              <a:ea typeface="Open Sans SemiBold" panose="020B0706030804020204" pitchFamily="34" charset="0"/>
              <a:cs typeface="Open Sans SemiBold" panose="020B0706030804020204" pitchFamily="34" charset="0"/>
              <a:sym typeface="Calibri"/>
            </a:endParaRPr>
          </a:p>
        </p:txBody>
      </p:sp>
      <p:sp>
        <p:nvSpPr>
          <p:cNvPr id="87" name="Google Shape;87;p3"/>
          <p:cNvSpPr/>
          <p:nvPr/>
        </p:nvSpPr>
        <p:spPr>
          <a:xfrm>
            <a:off x="9715500" y="6749617"/>
            <a:ext cx="7429500" cy="827278"/>
          </a:xfrm>
          <a:prstGeom prst="rect">
            <a:avLst/>
          </a:prstGeom>
          <a:noFill/>
          <a:ln>
            <a:noFill/>
          </a:ln>
        </p:spPr>
        <p:txBody>
          <a:bodyPr spcFirstLastPara="1" wrap="square" lIns="0" tIns="0" rIns="0" bIns="0" anchor="t" anchorCtr="0">
            <a:spAutoFit/>
          </a:bodyPr>
          <a:lstStyle/>
          <a:p>
            <a:pPr>
              <a:lnSpc>
                <a:spcPct val="128000"/>
              </a:lnSpc>
              <a:buClr>
                <a:srgbClr val="444444"/>
              </a:buClr>
              <a:buSzPts val="850"/>
            </a:pP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Hệ</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thống</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hỗ</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trợ</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theo</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dõi</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tiến</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độ</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phù</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hợp</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với</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khung</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năng</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lực</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từ</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b="1"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A1 </a:t>
            </a:r>
            <a:r>
              <a:rPr lang="en-US" sz="2100" b="1"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đến</a:t>
            </a:r>
            <a:r>
              <a:rPr lang="en-US" sz="2100" b="1"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b="1"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C2</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a:t>
            </a:r>
            <a:endParaRPr sz="21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88" name="Google Shape;88;p3"/>
          <p:cNvSpPr/>
          <p:nvPr/>
        </p:nvSpPr>
        <p:spPr>
          <a:xfrm>
            <a:off x="9715500" y="7852544"/>
            <a:ext cx="568200" cy="357000"/>
          </a:xfrm>
          <a:prstGeom prst="rect">
            <a:avLst/>
          </a:prstGeom>
          <a:solidFill>
            <a:srgbClr val="F5F5F5"/>
          </a:solidFill>
          <a:ln>
            <a:noFill/>
          </a:ln>
        </p:spPr>
        <p:txBody>
          <a:bodyPr spcFirstLastPara="1" wrap="square" lIns="182850" tIns="182850" rIns="182850" bIns="182850" anchor="ctr" anchorCtr="0">
            <a:noAutofit/>
          </a:bodyPr>
          <a:lstStyle/>
          <a:p>
            <a:endParaRPr sz="3600" b="1" dirty="0"/>
          </a:p>
        </p:txBody>
      </p:sp>
      <p:sp>
        <p:nvSpPr>
          <p:cNvPr id="89" name="Google Shape;89;p3"/>
          <p:cNvSpPr/>
          <p:nvPr/>
        </p:nvSpPr>
        <p:spPr>
          <a:xfrm>
            <a:off x="9715500" y="7852550"/>
            <a:ext cx="661800" cy="352873"/>
          </a:xfrm>
          <a:prstGeom prst="rect">
            <a:avLst/>
          </a:prstGeom>
          <a:noFill/>
          <a:ln>
            <a:noFill/>
          </a:ln>
        </p:spPr>
        <p:txBody>
          <a:bodyPr spcFirstLastPara="1" wrap="square" lIns="204200" tIns="68050" rIns="204200" bIns="68050" anchor="t" anchorCtr="0">
            <a:spAutoFit/>
          </a:bodyPr>
          <a:lstStyle/>
          <a:p>
            <a:pPr>
              <a:buClr>
                <a:srgbClr val="C62828"/>
              </a:buClr>
              <a:buSzPts val="700"/>
            </a:pPr>
            <a:r>
              <a:rPr lang="en-US" sz="1400" b="1" dirty="0">
                <a:solidFill>
                  <a:srgbClr val="C62828"/>
                </a:solidFill>
                <a:latin typeface="Open Sans" panose="020B0606030504020204" pitchFamily="34" charset="0"/>
                <a:ea typeface="Open Sans" panose="020B0606030504020204" pitchFamily="34" charset="0"/>
                <a:cs typeface="Open Sans" panose="020B0606030504020204" pitchFamily="34" charset="0"/>
                <a:sym typeface="Inter"/>
              </a:rPr>
              <a:t>A1</a:t>
            </a:r>
            <a:endParaRPr sz="14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90" name="Google Shape;90;p3"/>
          <p:cNvSpPr/>
          <p:nvPr/>
        </p:nvSpPr>
        <p:spPr>
          <a:xfrm>
            <a:off x="10426304" y="7852544"/>
            <a:ext cx="600000" cy="357000"/>
          </a:xfrm>
          <a:prstGeom prst="rect">
            <a:avLst/>
          </a:prstGeom>
          <a:solidFill>
            <a:srgbClr val="F5F5F5"/>
          </a:solidFill>
          <a:ln>
            <a:noFill/>
          </a:ln>
        </p:spPr>
        <p:txBody>
          <a:bodyPr spcFirstLastPara="1" wrap="square" lIns="182850" tIns="182850" rIns="182850" bIns="182850" anchor="ctr" anchorCtr="0">
            <a:noAutofit/>
          </a:bodyPr>
          <a:lstStyle/>
          <a:p>
            <a:endParaRPr sz="3600" dirty="0"/>
          </a:p>
        </p:txBody>
      </p:sp>
      <p:sp>
        <p:nvSpPr>
          <p:cNvPr id="91" name="Google Shape;91;p3"/>
          <p:cNvSpPr/>
          <p:nvPr/>
        </p:nvSpPr>
        <p:spPr>
          <a:xfrm>
            <a:off x="10426300" y="7852550"/>
            <a:ext cx="661800" cy="352873"/>
          </a:xfrm>
          <a:prstGeom prst="rect">
            <a:avLst/>
          </a:prstGeom>
          <a:noFill/>
          <a:ln>
            <a:noFill/>
          </a:ln>
        </p:spPr>
        <p:txBody>
          <a:bodyPr spcFirstLastPara="1" wrap="square" lIns="204200" tIns="68050" rIns="204200" bIns="68050" anchor="t" anchorCtr="0">
            <a:spAutoFit/>
          </a:bodyPr>
          <a:lstStyle/>
          <a:p>
            <a:pPr>
              <a:buClr>
                <a:srgbClr val="C62828"/>
              </a:buClr>
              <a:buSzPts val="700"/>
            </a:pPr>
            <a:r>
              <a:rPr lang="en-US" sz="1400" b="1" dirty="0" err="1">
                <a:solidFill>
                  <a:srgbClr val="C62828"/>
                </a:solidFill>
                <a:latin typeface="Open Sans" panose="020B0606030504020204" pitchFamily="34" charset="0"/>
                <a:ea typeface="Open Sans" panose="020B0606030504020204" pitchFamily="34" charset="0"/>
                <a:cs typeface="Open Sans" panose="020B0606030504020204" pitchFamily="34" charset="0"/>
                <a:sym typeface="Inter"/>
              </a:rPr>
              <a:t>B2</a:t>
            </a:r>
            <a:endParaRPr sz="14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92" name="Google Shape;92;p3"/>
          <p:cNvSpPr/>
          <p:nvPr/>
        </p:nvSpPr>
        <p:spPr>
          <a:xfrm>
            <a:off x="11169254" y="7852544"/>
            <a:ext cx="614400" cy="357000"/>
          </a:xfrm>
          <a:prstGeom prst="rect">
            <a:avLst/>
          </a:prstGeom>
          <a:solidFill>
            <a:srgbClr val="F5F5F5"/>
          </a:solidFill>
          <a:ln>
            <a:noFill/>
          </a:ln>
        </p:spPr>
        <p:txBody>
          <a:bodyPr spcFirstLastPara="1" wrap="square" lIns="182850" tIns="182850" rIns="182850" bIns="182850" anchor="ctr" anchorCtr="0">
            <a:noAutofit/>
          </a:bodyPr>
          <a:lstStyle/>
          <a:p>
            <a:endParaRPr sz="3600" dirty="0"/>
          </a:p>
        </p:txBody>
      </p:sp>
      <p:sp>
        <p:nvSpPr>
          <p:cNvPr id="93" name="Google Shape;93;p3"/>
          <p:cNvSpPr/>
          <p:nvPr/>
        </p:nvSpPr>
        <p:spPr>
          <a:xfrm>
            <a:off x="11169250" y="7852550"/>
            <a:ext cx="751200" cy="352873"/>
          </a:xfrm>
          <a:prstGeom prst="rect">
            <a:avLst/>
          </a:prstGeom>
          <a:noFill/>
          <a:ln>
            <a:noFill/>
          </a:ln>
        </p:spPr>
        <p:txBody>
          <a:bodyPr spcFirstLastPara="1" wrap="square" lIns="204200" tIns="68050" rIns="204200" bIns="68050" anchor="t" anchorCtr="0">
            <a:spAutoFit/>
          </a:bodyPr>
          <a:lstStyle/>
          <a:p>
            <a:pPr>
              <a:buClr>
                <a:srgbClr val="C62828"/>
              </a:buClr>
              <a:buSzPts val="700"/>
            </a:pPr>
            <a:r>
              <a:rPr lang="en-US" sz="1400" b="1" dirty="0" err="1">
                <a:solidFill>
                  <a:srgbClr val="C62828"/>
                </a:solidFill>
                <a:latin typeface="Open Sans" panose="020B0606030504020204" pitchFamily="34" charset="0"/>
                <a:ea typeface="Open Sans" panose="020B0606030504020204" pitchFamily="34" charset="0"/>
                <a:cs typeface="Open Sans" panose="020B0606030504020204" pitchFamily="34" charset="0"/>
                <a:sym typeface="Inter"/>
              </a:rPr>
              <a:t>C2</a:t>
            </a:r>
            <a:endParaRPr sz="14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cxnSp>
        <p:nvCxnSpPr>
          <p:cNvPr id="6" name="Straight Connector 5">
            <a:extLst>
              <a:ext uri="{FF2B5EF4-FFF2-40B4-BE49-F238E27FC236}">
                <a16:creationId xmlns:a16="http://schemas.microsoft.com/office/drawing/2014/main" id="{0F5F0196-41B3-7ACA-F639-D69FD55832E5}"/>
              </a:ext>
            </a:extLst>
          </p:cNvPr>
          <p:cNvCxnSpPr>
            <a:cxnSpLocks/>
          </p:cNvCxnSpPr>
          <p:nvPr/>
        </p:nvCxnSpPr>
        <p:spPr>
          <a:xfrm>
            <a:off x="1485900" y="2253910"/>
            <a:ext cx="10575112" cy="0"/>
          </a:xfrm>
          <a:prstGeom prst="line">
            <a:avLst/>
          </a:prstGeom>
          <a:ln w="12700">
            <a:solidFill>
              <a:srgbClr val="C62828"/>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59374F14-1C21-8BC1-E138-3AEB2DE6183C}"/>
              </a:ext>
            </a:extLst>
          </p:cNvPr>
          <p:cNvSpPr txBox="1"/>
          <p:nvPr/>
        </p:nvSpPr>
        <p:spPr>
          <a:xfrm>
            <a:off x="17831821" y="9831884"/>
            <a:ext cx="415498"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04</a:t>
            </a:r>
            <a:endParaRPr lang="vi-V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pic>
        <p:nvPicPr>
          <p:cNvPr id="99" name="Google Shape;99;p4" descr="preencoded.png"/>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100" name="Google Shape;100;p4"/>
          <p:cNvSpPr/>
          <p:nvPr/>
        </p:nvSpPr>
        <p:spPr>
          <a:xfrm>
            <a:off x="1142998" y="1355305"/>
            <a:ext cx="10313452" cy="861774"/>
          </a:xfrm>
          <a:prstGeom prst="rect">
            <a:avLst/>
          </a:prstGeom>
          <a:noFill/>
          <a:ln>
            <a:noFill/>
          </a:ln>
        </p:spPr>
        <p:txBody>
          <a:bodyPr spcFirstLastPara="1" wrap="square" lIns="340100" tIns="0" rIns="0" bIns="0" anchor="t" anchorCtr="0">
            <a:spAutoFit/>
          </a:bodyPr>
          <a:lstStyle/>
          <a:p>
            <a:pPr>
              <a:buSzPts val="1900"/>
            </a:pPr>
            <a:r>
              <a:rPr lang="en-US" sz="5600" b="1" dirty="0">
                <a:latin typeface="Montserrat Bold" panose="00000800000000000000" pitchFamily="2" charset="-93"/>
                <a:ea typeface="Inter"/>
                <a:sym typeface="Inter"/>
              </a:rPr>
              <a:t>Quản </a:t>
            </a:r>
            <a:r>
              <a:rPr lang="en-US" sz="5600" b="1" dirty="0" err="1">
                <a:latin typeface="Montserrat Bold" panose="00000800000000000000" pitchFamily="2" charset="-93"/>
                <a:ea typeface="Inter"/>
                <a:sym typeface="Inter"/>
              </a:rPr>
              <a:t>lý</a:t>
            </a:r>
            <a:r>
              <a:rPr lang="en-US" sz="5600" b="1" dirty="0">
                <a:latin typeface="Montserrat Bold" panose="00000800000000000000" pitchFamily="2" charset="-93"/>
                <a:ea typeface="Inter"/>
                <a:sym typeface="Inter"/>
              </a:rPr>
              <a:t> &amp; Tra </a:t>
            </a:r>
            <a:r>
              <a:rPr lang="en-US" sz="5600" b="1" dirty="0" err="1">
                <a:latin typeface="Montserrat Bold" panose="00000800000000000000" pitchFamily="2" charset="-93"/>
                <a:ea typeface="Inter"/>
                <a:sym typeface="Inter"/>
              </a:rPr>
              <a:t>cứu</a:t>
            </a:r>
            <a:r>
              <a:rPr lang="en-US" sz="5600" b="1" dirty="0">
                <a:latin typeface="Montserrat Bold" panose="00000800000000000000" pitchFamily="2" charset="-93"/>
                <a:ea typeface="Inter"/>
                <a:sym typeface="Inter"/>
              </a:rPr>
              <a:t> </a:t>
            </a:r>
            <a:r>
              <a:rPr lang="en-US" sz="5600" b="1" dirty="0" err="1">
                <a:latin typeface="Montserrat Bold" panose="00000800000000000000" pitchFamily="2" charset="-93"/>
                <a:ea typeface="Inter"/>
                <a:sym typeface="Inter"/>
              </a:rPr>
              <a:t>từ</a:t>
            </a:r>
            <a:r>
              <a:rPr lang="en-US" sz="5600" b="1" dirty="0">
                <a:latin typeface="Montserrat Bold" panose="00000800000000000000" pitchFamily="2" charset="-93"/>
                <a:ea typeface="Inter"/>
                <a:sym typeface="Inter"/>
              </a:rPr>
              <a:t> </a:t>
            </a:r>
            <a:r>
              <a:rPr lang="en-US" sz="5600" b="1" dirty="0" err="1">
                <a:latin typeface="Montserrat Bold" panose="00000800000000000000" pitchFamily="2" charset="-93"/>
                <a:ea typeface="Inter"/>
                <a:sym typeface="Inter"/>
              </a:rPr>
              <a:t>vựng</a:t>
            </a:r>
            <a:endParaRPr sz="5600" b="1" dirty="0">
              <a:latin typeface="Montserrat Bold" panose="00000800000000000000" pitchFamily="2" charset="-93"/>
              <a:ea typeface="Inter"/>
              <a:sym typeface="Calibri"/>
            </a:endParaRPr>
          </a:p>
        </p:txBody>
      </p:sp>
      <p:pic>
        <p:nvPicPr>
          <p:cNvPr id="101" name="Google Shape;101;p4" descr="preencoded.png"/>
          <p:cNvPicPr preferRelativeResize="0"/>
          <p:nvPr/>
        </p:nvPicPr>
        <p:blipFill rotWithShape="1">
          <a:blip r:embed="rId4">
            <a:alphaModFix/>
          </a:blip>
          <a:srcRect/>
          <a:stretch/>
        </p:blipFill>
        <p:spPr>
          <a:xfrm>
            <a:off x="1143000" y="3917900"/>
            <a:ext cx="409060" cy="342900"/>
          </a:xfrm>
          <a:prstGeom prst="rect">
            <a:avLst/>
          </a:prstGeom>
          <a:noFill/>
          <a:ln>
            <a:noFill/>
          </a:ln>
        </p:spPr>
      </p:pic>
      <p:sp>
        <p:nvSpPr>
          <p:cNvPr id="102" name="Google Shape;102;p4"/>
          <p:cNvSpPr/>
          <p:nvPr/>
        </p:nvSpPr>
        <p:spPr>
          <a:xfrm>
            <a:off x="1700213" y="3810745"/>
            <a:ext cx="4859286" cy="492443"/>
          </a:xfrm>
          <a:prstGeom prst="rect">
            <a:avLst/>
          </a:prstGeom>
          <a:noFill/>
          <a:ln>
            <a:noFill/>
          </a:ln>
        </p:spPr>
        <p:txBody>
          <a:bodyPr spcFirstLastPara="1" wrap="square" lIns="0" tIns="0" rIns="0" bIns="0" anchor="t" anchorCtr="0">
            <a:spAutoFit/>
          </a:bodyPr>
          <a:lstStyle/>
          <a:p>
            <a:pPr>
              <a:buClr>
                <a:srgbClr val="C62828"/>
              </a:buClr>
              <a:buSzPts val="1200"/>
            </a:pPr>
            <a:r>
              <a:rPr lang="en-US" sz="3200" b="1" dirty="0">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1.3. Quản </a:t>
            </a:r>
            <a:r>
              <a:rPr lang="en-US" sz="3200" b="1" dirty="0" err="1">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lý</a:t>
            </a:r>
            <a:r>
              <a:rPr lang="en-US" sz="3200" b="1" dirty="0">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 </a:t>
            </a:r>
            <a:r>
              <a:rPr lang="en-US" sz="3200" b="1" dirty="0" err="1">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bộ</a:t>
            </a:r>
            <a:r>
              <a:rPr lang="en-US" sz="3200" b="1" dirty="0">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 </a:t>
            </a:r>
            <a:r>
              <a:rPr lang="en-US" sz="3200" b="1" dirty="0" err="1">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từ</a:t>
            </a:r>
            <a:r>
              <a:rPr lang="en-US" sz="3200" b="1" dirty="0">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 </a:t>
            </a:r>
            <a:r>
              <a:rPr lang="en-US" sz="3200" b="1" dirty="0" err="1">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vựng</a:t>
            </a:r>
            <a:endParaRPr sz="3200" dirty="0">
              <a:solidFill>
                <a:schemeClr val="dk1"/>
              </a:solidFill>
              <a:latin typeface="Montserrat Bold" panose="00000800000000000000" pitchFamily="2" charset="-93"/>
              <a:ea typeface="Open Sans SemiBold" panose="020B0706030804020204" pitchFamily="34" charset="0"/>
              <a:cs typeface="Open Sans SemiBold" panose="020B0706030804020204" pitchFamily="34" charset="0"/>
              <a:sym typeface="Calibri"/>
            </a:endParaRPr>
          </a:p>
        </p:txBody>
      </p:sp>
      <p:pic>
        <p:nvPicPr>
          <p:cNvPr id="103" name="Google Shape;103;p4" descr="preencoded.png"/>
          <p:cNvPicPr preferRelativeResize="0"/>
          <p:nvPr/>
        </p:nvPicPr>
        <p:blipFill rotWithShape="1">
          <a:blip r:embed="rId5">
            <a:alphaModFix/>
          </a:blip>
          <a:srcRect/>
          <a:stretch/>
        </p:blipFill>
        <p:spPr>
          <a:xfrm>
            <a:off x="1143000" y="4658673"/>
            <a:ext cx="238620" cy="271462"/>
          </a:xfrm>
          <a:prstGeom prst="rect">
            <a:avLst/>
          </a:prstGeom>
          <a:noFill/>
          <a:ln>
            <a:noFill/>
          </a:ln>
        </p:spPr>
      </p:pic>
      <p:sp>
        <p:nvSpPr>
          <p:cNvPr id="104" name="Google Shape;104;p4"/>
          <p:cNvSpPr/>
          <p:nvPr/>
        </p:nvSpPr>
        <p:spPr>
          <a:xfrm>
            <a:off x="1557338" y="4582270"/>
            <a:ext cx="8368700" cy="787908"/>
          </a:xfrm>
          <a:prstGeom prst="rect">
            <a:avLst/>
          </a:prstGeom>
          <a:noFill/>
          <a:ln>
            <a:noFill/>
          </a:ln>
        </p:spPr>
        <p:txBody>
          <a:bodyPr spcFirstLastPara="1" wrap="square" lIns="0" tIns="0" rIns="0" bIns="0" anchor="t" anchorCtr="0">
            <a:spAutoFit/>
          </a:bodyPr>
          <a:lstStyle/>
          <a:p>
            <a:pPr>
              <a:lnSpc>
                <a:spcPct val="128000"/>
              </a:lnSpc>
              <a:buClr>
                <a:srgbClr val="444444"/>
              </a:buClr>
              <a:buSzPts val="800"/>
            </a:pPr>
            <a:r>
              <a:rPr lang="en-US" sz="2000" b="1"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Thao </a:t>
            </a:r>
            <a:r>
              <a:rPr lang="en-US" sz="2000" b="1"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tác</a:t>
            </a:r>
            <a:r>
              <a:rPr lang="en-US" sz="2000" b="1"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b="1"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linh</a:t>
            </a:r>
            <a:r>
              <a:rPr lang="en-US" sz="2000" b="1"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b="1"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hoạt</a:t>
            </a:r>
            <a:r>
              <a:rPr lang="en-US" sz="2000" b="1"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Tạo</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mới</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chỉnh</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sửa</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xóa</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bộ</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từ</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theo</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chủ</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đề</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và</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quản</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lý</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từ</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vựng</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bên</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trong</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a:t>
            </a:r>
            <a:endParaRPr sz="20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pic>
        <p:nvPicPr>
          <p:cNvPr id="105" name="Google Shape;105;p4" descr="preencoded.png"/>
          <p:cNvPicPr preferRelativeResize="0"/>
          <p:nvPr/>
        </p:nvPicPr>
        <p:blipFill rotWithShape="1">
          <a:blip r:embed="rId6">
            <a:alphaModFix/>
          </a:blip>
          <a:srcRect/>
          <a:stretch/>
        </p:blipFill>
        <p:spPr>
          <a:xfrm>
            <a:off x="1114424" y="5637675"/>
            <a:ext cx="238620" cy="271462"/>
          </a:xfrm>
          <a:prstGeom prst="rect">
            <a:avLst/>
          </a:prstGeom>
          <a:noFill/>
          <a:ln>
            <a:noFill/>
          </a:ln>
        </p:spPr>
      </p:pic>
      <p:sp>
        <p:nvSpPr>
          <p:cNvPr id="106" name="Google Shape;106;p4"/>
          <p:cNvSpPr/>
          <p:nvPr/>
        </p:nvSpPr>
        <p:spPr>
          <a:xfrm>
            <a:off x="1557338" y="5599472"/>
            <a:ext cx="8368700" cy="787908"/>
          </a:xfrm>
          <a:prstGeom prst="rect">
            <a:avLst/>
          </a:prstGeom>
          <a:noFill/>
          <a:ln>
            <a:noFill/>
          </a:ln>
        </p:spPr>
        <p:txBody>
          <a:bodyPr spcFirstLastPara="1" wrap="square" lIns="0" tIns="0" rIns="0" bIns="0" anchor="t" anchorCtr="0">
            <a:spAutoFit/>
          </a:bodyPr>
          <a:lstStyle/>
          <a:p>
            <a:pPr>
              <a:lnSpc>
                <a:spcPct val="128000"/>
              </a:lnSpc>
              <a:buClr>
                <a:srgbClr val="444444"/>
              </a:buClr>
              <a:buSzPts val="800"/>
            </a:pPr>
            <a:r>
              <a:rPr lang="en-US" sz="2000" b="1"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Dữ</a:t>
            </a:r>
            <a:r>
              <a:rPr lang="en-US" sz="2000" b="1"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b="1"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liệu</a:t>
            </a:r>
            <a:r>
              <a:rPr lang="en-US" sz="2000" b="1"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b="1"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mạnh</a:t>
            </a:r>
            <a:r>
              <a:rPr lang="en-US" sz="2000" b="1"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b="1"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mẽ</a:t>
            </a:r>
            <a:r>
              <a:rPr lang="en-US" sz="2000" b="1"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Hỗ</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trợ</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tìm</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kiếm</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nhanh</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thống</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kê</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số</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lượng</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từ</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mới</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đang</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học</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đã</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ghi</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nhớ</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a:t>
            </a:r>
            <a:endParaRPr sz="20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pic>
        <p:nvPicPr>
          <p:cNvPr id="107" name="Google Shape;107;p4" descr="preencoded.png"/>
          <p:cNvPicPr preferRelativeResize="0"/>
          <p:nvPr/>
        </p:nvPicPr>
        <p:blipFill rotWithShape="1">
          <a:blip r:embed="rId7">
            <a:alphaModFix/>
          </a:blip>
          <a:srcRect/>
          <a:stretch/>
        </p:blipFill>
        <p:spPr>
          <a:xfrm>
            <a:off x="1113952" y="6667771"/>
            <a:ext cx="238620" cy="271462"/>
          </a:xfrm>
          <a:prstGeom prst="rect">
            <a:avLst/>
          </a:prstGeom>
          <a:noFill/>
          <a:ln>
            <a:noFill/>
          </a:ln>
        </p:spPr>
      </p:pic>
      <p:sp>
        <p:nvSpPr>
          <p:cNvPr id="108" name="Google Shape;108;p4"/>
          <p:cNvSpPr/>
          <p:nvPr/>
        </p:nvSpPr>
        <p:spPr>
          <a:xfrm>
            <a:off x="1557337" y="6616676"/>
            <a:ext cx="8653802" cy="393954"/>
          </a:xfrm>
          <a:prstGeom prst="rect">
            <a:avLst/>
          </a:prstGeom>
          <a:noFill/>
          <a:ln>
            <a:noFill/>
          </a:ln>
        </p:spPr>
        <p:txBody>
          <a:bodyPr spcFirstLastPara="1" wrap="square" lIns="0" tIns="0" rIns="0" bIns="0" anchor="t" anchorCtr="0">
            <a:spAutoFit/>
          </a:bodyPr>
          <a:lstStyle/>
          <a:p>
            <a:pPr>
              <a:lnSpc>
                <a:spcPct val="128000"/>
              </a:lnSpc>
              <a:buClr>
                <a:srgbClr val="444444"/>
              </a:buClr>
              <a:buSzPts val="800"/>
            </a:pPr>
            <a:r>
              <a:rPr lang="en-US" sz="2000" b="1"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Import/Export:</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Trao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đổi</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dữ</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liệu</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dễ</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dàng</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thông</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qua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định</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dạng</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b="1"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CSV</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a:t>
            </a:r>
            <a:endParaRPr sz="20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pic>
        <p:nvPicPr>
          <p:cNvPr id="109" name="Google Shape;109;p4" descr="preencoded.png"/>
          <p:cNvPicPr preferRelativeResize="0"/>
          <p:nvPr/>
        </p:nvPicPr>
        <p:blipFill rotWithShape="1">
          <a:blip r:embed="rId8">
            <a:alphaModFix/>
          </a:blip>
          <a:srcRect/>
          <a:stretch/>
        </p:blipFill>
        <p:spPr>
          <a:xfrm>
            <a:off x="9715500" y="3891034"/>
            <a:ext cx="409060" cy="342900"/>
          </a:xfrm>
          <a:prstGeom prst="rect">
            <a:avLst/>
          </a:prstGeom>
          <a:noFill/>
          <a:ln>
            <a:noFill/>
          </a:ln>
        </p:spPr>
      </p:pic>
      <p:sp>
        <p:nvSpPr>
          <p:cNvPr id="110" name="Google Shape;110;p4"/>
          <p:cNvSpPr/>
          <p:nvPr/>
        </p:nvSpPr>
        <p:spPr>
          <a:xfrm>
            <a:off x="10272711" y="3810744"/>
            <a:ext cx="4192874" cy="492443"/>
          </a:xfrm>
          <a:prstGeom prst="rect">
            <a:avLst/>
          </a:prstGeom>
          <a:noFill/>
          <a:ln>
            <a:noFill/>
          </a:ln>
        </p:spPr>
        <p:txBody>
          <a:bodyPr spcFirstLastPara="1" wrap="square" lIns="0" tIns="0" rIns="0" bIns="0" anchor="t" anchorCtr="0">
            <a:spAutoFit/>
          </a:bodyPr>
          <a:lstStyle/>
          <a:p>
            <a:pPr>
              <a:buClr>
                <a:srgbClr val="C62828"/>
              </a:buClr>
              <a:buSzPts val="1200"/>
            </a:pPr>
            <a:r>
              <a:rPr lang="en-US" sz="3200" b="1" dirty="0">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1.4. Tra </a:t>
            </a:r>
            <a:r>
              <a:rPr lang="en-US" sz="3200" b="1" dirty="0" err="1">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cứu</a:t>
            </a:r>
            <a:r>
              <a:rPr lang="en-US" sz="3200" b="1" dirty="0">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 </a:t>
            </a:r>
            <a:r>
              <a:rPr lang="en-US" sz="3200" b="1" dirty="0" err="1">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từ</a:t>
            </a:r>
            <a:r>
              <a:rPr lang="en-US" sz="3200" b="1" dirty="0">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 </a:t>
            </a:r>
            <a:r>
              <a:rPr lang="en-US" sz="3200" b="1" dirty="0" err="1">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điển</a:t>
            </a:r>
            <a:endParaRPr sz="3200" dirty="0">
              <a:solidFill>
                <a:schemeClr val="dk1"/>
              </a:solidFill>
              <a:latin typeface="Montserrat Bold" panose="00000800000000000000" pitchFamily="2" charset="-93"/>
              <a:ea typeface="Open Sans SemiBold" panose="020B0706030804020204" pitchFamily="34" charset="0"/>
              <a:cs typeface="Open Sans SemiBold" panose="020B0706030804020204" pitchFamily="34" charset="0"/>
              <a:sym typeface="Calibri"/>
            </a:endParaRPr>
          </a:p>
        </p:txBody>
      </p:sp>
      <p:pic>
        <p:nvPicPr>
          <p:cNvPr id="111" name="Google Shape;111;p4" descr="preencoded.png"/>
          <p:cNvPicPr preferRelativeResize="0"/>
          <p:nvPr/>
        </p:nvPicPr>
        <p:blipFill rotWithShape="1">
          <a:blip r:embed="rId5">
            <a:alphaModFix/>
          </a:blip>
          <a:srcRect/>
          <a:stretch/>
        </p:blipFill>
        <p:spPr>
          <a:xfrm>
            <a:off x="9715500" y="4658671"/>
            <a:ext cx="238620" cy="271462"/>
          </a:xfrm>
          <a:prstGeom prst="rect">
            <a:avLst/>
          </a:prstGeom>
          <a:noFill/>
          <a:ln>
            <a:noFill/>
          </a:ln>
        </p:spPr>
      </p:pic>
      <p:sp>
        <p:nvSpPr>
          <p:cNvPr id="112" name="Google Shape;112;p4"/>
          <p:cNvSpPr/>
          <p:nvPr/>
        </p:nvSpPr>
        <p:spPr>
          <a:xfrm>
            <a:off x="10129838" y="4582270"/>
            <a:ext cx="8368700" cy="787908"/>
          </a:xfrm>
          <a:prstGeom prst="rect">
            <a:avLst/>
          </a:prstGeom>
          <a:noFill/>
          <a:ln>
            <a:noFill/>
          </a:ln>
        </p:spPr>
        <p:txBody>
          <a:bodyPr spcFirstLastPara="1" wrap="square" lIns="0" tIns="0" rIns="0" bIns="0" anchor="t" anchorCtr="0">
            <a:spAutoFit/>
          </a:bodyPr>
          <a:lstStyle/>
          <a:p>
            <a:pPr>
              <a:lnSpc>
                <a:spcPct val="128000"/>
              </a:lnSpc>
              <a:buClr>
                <a:srgbClr val="444444"/>
              </a:buClr>
              <a:buSzPts val="800"/>
            </a:pPr>
            <a:r>
              <a:rPr lang="en-US" sz="2000" b="1"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Dictionary API:</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Tích</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hợp</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tra</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cứu</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trực</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tuyến</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kết</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quả</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bao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gồm</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từ</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loại</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nghĩa</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phiên</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âm</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và</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ví</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dụ</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a:t>
            </a:r>
            <a:endParaRPr sz="20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pic>
        <p:nvPicPr>
          <p:cNvPr id="113" name="Google Shape;113;p4" descr="preencoded.png"/>
          <p:cNvPicPr preferRelativeResize="0"/>
          <p:nvPr/>
        </p:nvPicPr>
        <p:blipFill rotWithShape="1">
          <a:blip r:embed="rId6">
            <a:alphaModFix/>
          </a:blip>
          <a:srcRect/>
          <a:stretch/>
        </p:blipFill>
        <p:spPr>
          <a:xfrm>
            <a:off x="9715500" y="5640149"/>
            <a:ext cx="238620" cy="271462"/>
          </a:xfrm>
          <a:prstGeom prst="rect">
            <a:avLst/>
          </a:prstGeom>
          <a:noFill/>
          <a:ln>
            <a:noFill/>
          </a:ln>
        </p:spPr>
      </p:pic>
      <p:sp>
        <p:nvSpPr>
          <p:cNvPr id="114" name="Google Shape;114;p4"/>
          <p:cNvSpPr/>
          <p:nvPr/>
        </p:nvSpPr>
        <p:spPr>
          <a:xfrm>
            <a:off x="10129840" y="5599472"/>
            <a:ext cx="7583828" cy="787908"/>
          </a:xfrm>
          <a:prstGeom prst="rect">
            <a:avLst/>
          </a:prstGeom>
          <a:noFill/>
          <a:ln>
            <a:noFill/>
          </a:ln>
        </p:spPr>
        <p:txBody>
          <a:bodyPr spcFirstLastPara="1" wrap="square" lIns="0" tIns="0" rIns="0" bIns="0" anchor="t" anchorCtr="0">
            <a:spAutoFit/>
          </a:bodyPr>
          <a:lstStyle/>
          <a:p>
            <a:pPr>
              <a:lnSpc>
                <a:spcPct val="128000"/>
              </a:lnSpc>
              <a:buClr>
                <a:srgbClr val="444444"/>
              </a:buClr>
              <a:buSzPts val="800"/>
            </a:pPr>
            <a:r>
              <a:rPr lang="en-US" sz="2000" b="1"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Lưu </a:t>
            </a:r>
            <a:r>
              <a:rPr lang="en-US" sz="2000" b="1"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từ</a:t>
            </a:r>
            <a:r>
              <a:rPr lang="en-US" sz="2000" b="1"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b="1"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nhanh</a:t>
            </a:r>
            <a:r>
              <a:rPr lang="en-US" sz="2000" b="1"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Cho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phép</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lưu</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trực</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tiếp</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từ</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vựng</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vừa</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tra</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cứu</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vào</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bộ</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từ</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cá</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nhân</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chỉ</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với</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vài</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thao</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0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tác</a:t>
            </a:r>
            <a:r>
              <a:rPr lang="en-US" sz="20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a:t>
            </a:r>
            <a:endParaRPr sz="20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115" name="Google Shape;115;p4"/>
          <p:cNvSpPr/>
          <p:nvPr/>
        </p:nvSpPr>
        <p:spPr>
          <a:xfrm>
            <a:off x="10135782" y="6565892"/>
            <a:ext cx="5736992" cy="515268"/>
          </a:xfrm>
          <a:prstGeom prst="rect">
            <a:avLst/>
          </a:prstGeom>
          <a:solidFill>
            <a:srgbClr val="FAFAFA"/>
          </a:solidFill>
          <a:ln w="9525" cap="flat" cmpd="sng">
            <a:solidFill>
              <a:srgbClr val="EEEEEE"/>
            </a:solidFill>
            <a:prstDash val="solid"/>
            <a:round/>
            <a:headEnd type="none" w="sm" len="sm"/>
            <a:tailEnd type="none" w="sm" len="sm"/>
          </a:ln>
        </p:spPr>
        <p:txBody>
          <a:bodyPr spcFirstLastPara="1" wrap="square" lIns="182850" tIns="182850" rIns="182850" bIns="182850" anchor="ctr" anchorCtr="0">
            <a:noAutofit/>
          </a:bodyPr>
          <a:lstStyle/>
          <a:p>
            <a:endParaRPr sz="2400" dirty="0">
              <a:latin typeface="Open Sans" panose="020B0606030504020204" pitchFamily="34" charset="0"/>
              <a:ea typeface="Open Sans" panose="020B0606030504020204" pitchFamily="34" charset="0"/>
              <a:cs typeface="Open Sans" panose="020B0606030504020204" pitchFamily="34" charset="0"/>
            </a:endParaRPr>
          </a:p>
        </p:txBody>
      </p:sp>
      <p:sp>
        <p:nvSpPr>
          <p:cNvPr id="116" name="Google Shape;116;p4"/>
          <p:cNvSpPr/>
          <p:nvPr/>
        </p:nvSpPr>
        <p:spPr>
          <a:xfrm>
            <a:off x="10211138" y="6527641"/>
            <a:ext cx="5736992" cy="651400"/>
          </a:xfrm>
          <a:prstGeom prst="rect">
            <a:avLst/>
          </a:prstGeom>
          <a:noFill/>
          <a:ln>
            <a:noFill/>
          </a:ln>
        </p:spPr>
        <p:txBody>
          <a:bodyPr spcFirstLastPara="1" wrap="square" lIns="340100" tIns="170150" rIns="340100" bIns="170150" anchor="t" anchorCtr="0">
            <a:spAutoFit/>
          </a:bodyPr>
          <a:lstStyle/>
          <a:p>
            <a:pPr>
              <a:buClr>
                <a:srgbClr val="666666"/>
              </a:buClr>
              <a:buSzPts val="750"/>
            </a:pPr>
            <a:r>
              <a:rPr lang="en-US" sz="2000"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Integrated with Online Dictionary API</a:t>
            </a:r>
            <a:endParaRPr sz="20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cxnSp>
        <p:nvCxnSpPr>
          <p:cNvPr id="2" name="Straight Connector 1">
            <a:extLst>
              <a:ext uri="{FF2B5EF4-FFF2-40B4-BE49-F238E27FC236}">
                <a16:creationId xmlns:a16="http://schemas.microsoft.com/office/drawing/2014/main" id="{C03EE271-4306-FA46-ED4E-D00724CF596E}"/>
              </a:ext>
            </a:extLst>
          </p:cNvPr>
          <p:cNvCxnSpPr>
            <a:cxnSpLocks/>
          </p:cNvCxnSpPr>
          <p:nvPr/>
        </p:nvCxnSpPr>
        <p:spPr>
          <a:xfrm>
            <a:off x="1557338" y="2253910"/>
            <a:ext cx="9778200" cy="0"/>
          </a:xfrm>
          <a:prstGeom prst="line">
            <a:avLst/>
          </a:prstGeom>
          <a:ln w="12700">
            <a:solidFill>
              <a:srgbClr val="C62828"/>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55B4C4C8-DF72-8FB1-A207-6980E86AF20E}"/>
              </a:ext>
            </a:extLst>
          </p:cNvPr>
          <p:cNvSpPr txBox="1"/>
          <p:nvPr/>
        </p:nvSpPr>
        <p:spPr>
          <a:xfrm>
            <a:off x="17831821" y="9831884"/>
            <a:ext cx="415498"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05</a:t>
            </a:r>
            <a:endParaRPr lang="vi-V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pic>
        <p:nvPicPr>
          <p:cNvPr id="122" name="Google Shape;122;p5" descr="preencoded.png"/>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123" name="Google Shape;123;p5"/>
          <p:cNvSpPr/>
          <p:nvPr/>
        </p:nvSpPr>
        <p:spPr>
          <a:xfrm>
            <a:off x="1143000" y="1355305"/>
            <a:ext cx="11220292" cy="861774"/>
          </a:xfrm>
          <a:prstGeom prst="rect">
            <a:avLst/>
          </a:prstGeom>
          <a:noFill/>
          <a:ln>
            <a:noFill/>
          </a:ln>
        </p:spPr>
        <p:txBody>
          <a:bodyPr spcFirstLastPara="1" wrap="square" lIns="340100" tIns="0" rIns="0" bIns="0" anchor="t" anchorCtr="0">
            <a:spAutoFit/>
          </a:bodyPr>
          <a:lstStyle/>
          <a:p>
            <a:pPr>
              <a:buSzPts val="1900"/>
            </a:pPr>
            <a:r>
              <a:rPr lang="en-US" sz="5600" b="1" dirty="0">
                <a:latin typeface="Montserrat Bold" panose="00000800000000000000" pitchFamily="2" charset="-93"/>
                <a:ea typeface="Inter"/>
                <a:sym typeface="Inter"/>
              </a:rPr>
              <a:t>Flashcard &amp; </a:t>
            </a:r>
            <a:r>
              <a:rPr lang="en-US" sz="5600" b="1" dirty="0" err="1">
                <a:latin typeface="Montserrat Bold" panose="00000800000000000000" pitchFamily="2" charset="-93"/>
                <a:ea typeface="Inter"/>
                <a:sym typeface="Inter"/>
              </a:rPr>
              <a:t>Thuật</a:t>
            </a:r>
            <a:r>
              <a:rPr lang="en-US" sz="5600" b="1" dirty="0">
                <a:latin typeface="Montserrat Bold" panose="00000800000000000000" pitchFamily="2" charset="-93"/>
                <a:ea typeface="Inter"/>
                <a:sym typeface="Inter"/>
              </a:rPr>
              <a:t> </a:t>
            </a:r>
            <a:r>
              <a:rPr lang="en-US" sz="5600" b="1" dirty="0" err="1">
                <a:latin typeface="Montserrat Bold" panose="00000800000000000000" pitchFamily="2" charset="-93"/>
                <a:ea typeface="Inter"/>
                <a:sym typeface="Inter"/>
              </a:rPr>
              <a:t>toán</a:t>
            </a:r>
            <a:r>
              <a:rPr lang="en-US" sz="5600" b="1" dirty="0">
                <a:latin typeface="Montserrat Bold" panose="00000800000000000000" pitchFamily="2" charset="-93"/>
                <a:ea typeface="Inter"/>
                <a:sym typeface="Inter"/>
              </a:rPr>
              <a:t> SM-2</a:t>
            </a:r>
            <a:endParaRPr sz="5600" b="1" dirty="0">
              <a:latin typeface="Montserrat Bold" panose="00000800000000000000" pitchFamily="2" charset="-93"/>
              <a:ea typeface="Inter"/>
              <a:sym typeface="Calibri"/>
            </a:endParaRPr>
          </a:p>
        </p:txBody>
      </p:sp>
      <p:pic>
        <p:nvPicPr>
          <p:cNvPr id="124" name="Google Shape;124;p5" descr="preencoded.png"/>
          <p:cNvPicPr preferRelativeResize="0"/>
          <p:nvPr/>
        </p:nvPicPr>
        <p:blipFill rotWithShape="1">
          <a:blip r:embed="rId4">
            <a:alphaModFix/>
          </a:blip>
          <a:srcRect/>
          <a:stretch/>
        </p:blipFill>
        <p:spPr>
          <a:xfrm>
            <a:off x="1143000" y="3735734"/>
            <a:ext cx="342900" cy="342900"/>
          </a:xfrm>
          <a:prstGeom prst="rect">
            <a:avLst/>
          </a:prstGeom>
          <a:noFill/>
          <a:ln>
            <a:noFill/>
          </a:ln>
        </p:spPr>
      </p:pic>
      <p:sp>
        <p:nvSpPr>
          <p:cNvPr id="125" name="Google Shape;125;p5"/>
          <p:cNvSpPr/>
          <p:nvPr/>
        </p:nvSpPr>
        <p:spPr>
          <a:xfrm>
            <a:off x="1700212" y="3667871"/>
            <a:ext cx="4995312" cy="492443"/>
          </a:xfrm>
          <a:prstGeom prst="rect">
            <a:avLst/>
          </a:prstGeom>
          <a:noFill/>
          <a:ln>
            <a:noFill/>
          </a:ln>
        </p:spPr>
        <p:txBody>
          <a:bodyPr spcFirstLastPara="1" wrap="square" lIns="0" tIns="0" rIns="0" bIns="0" anchor="t" anchorCtr="0">
            <a:spAutoFit/>
          </a:bodyPr>
          <a:lstStyle/>
          <a:p>
            <a:pPr>
              <a:buClr>
                <a:srgbClr val="C62828"/>
              </a:buClr>
              <a:buSzPts val="1200"/>
            </a:pPr>
            <a:r>
              <a:rPr lang="en-US" sz="3200" b="1" dirty="0">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1.5. Học </a:t>
            </a:r>
            <a:r>
              <a:rPr lang="en-US" sz="3200" b="1" dirty="0" err="1">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tập</a:t>
            </a:r>
            <a:r>
              <a:rPr lang="en-US" sz="3200" b="1" dirty="0">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 Flashcard</a:t>
            </a:r>
            <a:endParaRPr sz="3200" dirty="0">
              <a:solidFill>
                <a:schemeClr val="dk1"/>
              </a:solidFill>
              <a:latin typeface="Montserrat Bold" panose="00000800000000000000" pitchFamily="2" charset="-93"/>
              <a:ea typeface="Open Sans SemiBold" panose="020B0706030804020204" pitchFamily="34" charset="0"/>
              <a:cs typeface="Open Sans SemiBold" panose="020B0706030804020204" pitchFamily="34" charset="0"/>
              <a:sym typeface="Calibri"/>
            </a:endParaRPr>
          </a:p>
        </p:txBody>
      </p:sp>
      <p:sp>
        <p:nvSpPr>
          <p:cNvPr id="126" name="Google Shape;126;p5"/>
          <p:cNvSpPr/>
          <p:nvPr/>
        </p:nvSpPr>
        <p:spPr>
          <a:xfrm>
            <a:off x="1143000" y="4439394"/>
            <a:ext cx="9252224" cy="369332"/>
          </a:xfrm>
          <a:prstGeom prst="rect">
            <a:avLst/>
          </a:prstGeom>
          <a:noFill/>
          <a:ln>
            <a:noFill/>
          </a:ln>
        </p:spPr>
        <p:txBody>
          <a:bodyPr spcFirstLastPara="1" wrap="square" lIns="0" tIns="0" rIns="0" bIns="0" anchor="t" anchorCtr="0">
            <a:spAutoFit/>
          </a:bodyPr>
          <a:lstStyle/>
          <a:p>
            <a:pPr>
              <a:buClr>
                <a:srgbClr val="000000"/>
              </a:buClr>
              <a:buSzPts val="900"/>
            </a:pPr>
            <a:r>
              <a:rPr lang="en-US" sz="2400" b="1" dirty="0" err="1">
                <a:solidFill>
                  <a:srgbClr val="000000"/>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Chức</a:t>
            </a:r>
            <a:r>
              <a:rPr lang="en-US" sz="2400" b="1" dirty="0">
                <a:solidFill>
                  <a:srgbClr val="000000"/>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 </a:t>
            </a:r>
            <a:r>
              <a:rPr lang="en-US" sz="2400" b="1" dirty="0" err="1">
                <a:solidFill>
                  <a:srgbClr val="000000"/>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năng</a:t>
            </a:r>
            <a:r>
              <a:rPr lang="en-US" sz="2400" b="1" dirty="0">
                <a:solidFill>
                  <a:srgbClr val="000000"/>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 </a:t>
            </a:r>
            <a:r>
              <a:rPr lang="en-US" sz="2400" b="1" dirty="0" err="1">
                <a:solidFill>
                  <a:srgbClr val="000000"/>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cốt</a:t>
            </a:r>
            <a:r>
              <a:rPr lang="en-US" sz="2400" b="1" dirty="0">
                <a:solidFill>
                  <a:srgbClr val="000000"/>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 </a:t>
            </a:r>
            <a:r>
              <a:rPr lang="en-US" sz="2400" b="1" dirty="0" err="1">
                <a:solidFill>
                  <a:srgbClr val="000000"/>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lõi</a:t>
            </a:r>
            <a:endParaRPr sz="2400" dirty="0">
              <a:solidFill>
                <a:schemeClr val="dk1"/>
              </a:solidFill>
              <a:latin typeface="Montserrat Bold" panose="00000800000000000000" pitchFamily="2" charset="-93"/>
              <a:ea typeface="Open Sans SemiBold" panose="020B0706030804020204" pitchFamily="34" charset="0"/>
              <a:cs typeface="Open Sans SemiBold" panose="020B0706030804020204" pitchFamily="34" charset="0"/>
              <a:sym typeface="Calibri"/>
            </a:endParaRPr>
          </a:p>
        </p:txBody>
      </p:sp>
      <p:sp>
        <p:nvSpPr>
          <p:cNvPr id="127" name="Google Shape;127;p5"/>
          <p:cNvSpPr/>
          <p:nvPr/>
        </p:nvSpPr>
        <p:spPr>
          <a:xfrm>
            <a:off x="1143000" y="4978749"/>
            <a:ext cx="7429500" cy="827278"/>
          </a:xfrm>
          <a:prstGeom prst="rect">
            <a:avLst/>
          </a:prstGeom>
          <a:noFill/>
          <a:ln>
            <a:noFill/>
          </a:ln>
        </p:spPr>
        <p:txBody>
          <a:bodyPr spcFirstLastPara="1" wrap="square" lIns="0" tIns="0" rIns="0" bIns="0" anchor="t" anchorCtr="0">
            <a:spAutoFit/>
          </a:bodyPr>
          <a:lstStyle/>
          <a:p>
            <a:pPr>
              <a:lnSpc>
                <a:spcPct val="128000"/>
              </a:lnSpc>
              <a:buClr>
                <a:srgbClr val="444444"/>
              </a:buClr>
              <a:buSzPts val="850"/>
            </a:pP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Học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từ</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vựng</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thông</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qua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các</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thẻ</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Flashcard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hiển</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thị</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từ</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tiếng</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Anh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và</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nghĩa</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tương</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ứng</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a:t>
            </a:r>
            <a:endParaRPr sz="21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128" name="Google Shape;128;p5"/>
          <p:cNvSpPr/>
          <p:nvPr/>
        </p:nvSpPr>
        <p:spPr>
          <a:xfrm>
            <a:off x="1143000" y="5995950"/>
            <a:ext cx="9252224" cy="369332"/>
          </a:xfrm>
          <a:prstGeom prst="rect">
            <a:avLst/>
          </a:prstGeom>
          <a:noFill/>
          <a:ln>
            <a:noFill/>
          </a:ln>
        </p:spPr>
        <p:txBody>
          <a:bodyPr spcFirstLastPara="1" wrap="square" lIns="0" tIns="0" rIns="0" bIns="0" anchor="t" anchorCtr="0">
            <a:spAutoFit/>
          </a:bodyPr>
          <a:lstStyle/>
          <a:p>
            <a:pPr>
              <a:buClr>
                <a:srgbClr val="000000"/>
              </a:buClr>
              <a:buSzPts val="900"/>
            </a:pPr>
            <a:r>
              <a:rPr lang="en-US" sz="2400" b="1" dirty="0">
                <a:solidFill>
                  <a:srgbClr val="000000"/>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Hai </a:t>
            </a:r>
            <a:r>
              <a:rPr lang="en-US" sz="2400" b="1" dirty="0" err="1">
                <a:solidFill>
                  <a:srgbClr val="000000"/>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chế</a:t>
            </a:r>
            <a:r>
              <a:rPr lang="en-US" sz="2400" b="1" dirty="0">
                <a:solidFill>
                  <a:srgbClr val="000000"/>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 </a:t>
            </a:r>
            <a:r>
              <a:rPr lang="en-US" sz="2400" b="1" dirty="0" err="1">
                <a:solidFill>
                  <a:srgbClr val="000000"/>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độ</a:t>
            </a:r>
            <a:r>
              <a:rPr lang="en-US" sz="2400" b="1" dirty="0">
                <a:solidFill>
                  <a:srgbClr val="000000"/>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 </a:t>
            </a:r>
            <a:r>
              <a:rPr lang="en-US" sz="2400" b="1" dirty="0" err="1">
                <a:solidFill>
                  <a:srgbClr val="000000"/>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học</a:t>
            </a:r>
            <a:r>
              <a:rPr lang="en-US" sz="2400" b="1" dirty="0">
                <a:solidFill>
                  <a:srgbClr val="000000"/>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 </a:t>
            </a:r>
            <a:r>
              <a:rPr lang="en-US" sz="2400" b="1" dirty="0" err="1">
                <a:solidFill>
                  <a:srgbClr val="000000"/>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tập</a:t>
            </a:r>
            <a:endParaRPr sz="2400" dirty="0">
              <a:solidFill>
                <a:schemeClr val="dk1"/>
              </a:solidFill>
              <a:latin typeface="Montserrat Bold" panose="00000800000000000000" pitchFamily="2" charset="-93"/>
              <a:ea typeface="Open Sans SemiBold" panose="020B0706030804020204" pitchFamily="34" charset="0"/>
              <a:cs typeface="Open Sans SemiBold" panose="020B0706030804020204" pitchFamily="34" charset="0"/>
              <a:sym typeface="Calibri"/>
            </a:endParaRPr>
          </a:p>
        </p:txBody>
      </p:sp>
      <p:sp>
        <p:nvSpPr>
          <p:cNvPr id="129" name="Google Shape;129;p5"/>
          <p:cNvSpPr/>
          <p:nvPr/>
        </p:nvSpPr>
        <p:spPr>
          <a:xfrm>
            <a:off x="1143000" y="6535304"/>
            <a:ext cx="7429500" cy="827278"/>
          </a:xfrm>
          <a:prstGeom prst="rect">
            <a:avLst/>
          </a:prstGeom>
          <a:noFill/>
          <a:ln>
            <a:noFill/>
          </a:ln>
        </p:spPr>
        <p:txBody>
          <a:bodyPr spcFirstLastPara="1" wrap="square" lIns="0" tIns="0" rIns="0" bIns="0" anchor="t" anchorCtr="0">
            <a:spAutoFit/>
          </a:bodyPr>
          <a:lstStyle/>
          <a:p>
            <a:pPr>
              <a:lnSpc>
                <a:spcPct val="128000"/>
              </a:lnSpc>
              <a:buClr>
                <a:srgbClr val="444444"/>
              </a:buClr>
              <a:buSzPts val="800"/>
            </a:pPr>
            <a:r>
              <a:rPr lang="en-US" sz="2100" b="1"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Learn:</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Tiếp</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cận</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và</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ghi</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nhớ</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từ</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vựng</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mới</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a:t>
            </a:r>
            <a:b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br>
            <a:r>
              <a:rPr lang="en-US" sz="2100" b="1"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Review:</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Ôn</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tập</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các</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từ</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đã</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học</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dựa</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trên</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lịch</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trình</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a:t>
            </a:r>
            <a:endParaRPr sz="21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pic>
        <p:nvPicPr>
          <p:cNvPr id="130" name="Google Shape;130;p5" descr="preencoded.png"/>
          <p:cNvPicPr preferRelativeResize="0"/>
          <p:nvPr/>
        </p:nvPicPr>
        <p:blipFill rotWithShape="1">
          <a:blip r:embed="rId5">
            <a:alphaModFix/>
          </a:blip>
          <a:srcRect/>
          <a:stretch/>
        </p:blipFill>
        <p:spPr>
          <a:xfrm>
            <a:off x="9715500" y="3735734"/>
            <a:ext cx="342900" cy="342900"/>
          </a:xfrm>
          <a:prstGeom prst="rect">
            <a:avLst/>
          </a:prstGeom>
          <a:noFill/>
          <a:ln>
            <a:noFill/>
          </a:ln>
        </p:spPr>
      </p:pic>
      <p:sp>
        <p:nvSpPr>
          <p:cNvPr id="131" name="Google Shape;131;p5"/>
          <p:cNvSpPr/>
          <p:nvPr/>
        </p:nvSpPr>
        <p:spPr>
          <a:xfrm>
            <a:off x="10272711" y="3667871"/>
            <a:ext cx="4579794" cy="492443"/>
          </a:xfrm>
          <a:prstGeom prst="rect">
            <a:avLst/>
          </a:prstGeom>
          <a:noFill/>
          <a:ln>
            <a:noFill/>
          </a:ln>
        </p:spPr>
        <p:txBody>
          <a:bodyPr spcFirstLastPara="1" wrap="square" lIns="0" tIns="0" rIns="0" bIns="0" anchor="t" anchorCtr="0">
            <a:spAutoFit/>
          </a:bodyPr>
          <a:lstStyle/>
          <a:p>
            <a:pPr>
              <a:buClr>
                <a:srgbClr val="C62828"/>
              </a:buClr>
              <a:buSzPts val="1200"/>
            </a:pPr>
            <a:r>
              <a:rPr lang="en-US" sz="3200" b="1" dirty="0">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1.6. </a:t>
            </a:r>
            <a:r>
              <a:rPr lang="en-US" sz="3200" b="1" dirty="0" err="1">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Thuật</a:t>
            </a:r>
            <a:r>
              <a:rPr lang="en-US" sz="3200" b="1" dirty="0">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 </a:t>
            </a:r>
            <a:r>
              <a:rPr lang="en-US" sz="3200" b="1" dirty="0" err="1">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toán</a:t>
            </a:r>
            <a:r>
              <a:rPr lang="en-US" sz="3200" b="1" dirty="0">
                <a:solidFill>
                  <a:srgbClr val="C62828"/>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 SM-2</a:t>
            </a:r>
            <a:endParaRPr sz="3200" dirty="0">
              <a:solidFill>
                <a:schemeClr val="dk1"/>
              </a:solidFill>
              <a:latin typeface="Montserrat Bold" panose="00000800000000000000" pitchFamily="2" charset="-93"/>
              <a:ea typeface="Open Sans SemiBold" panose="020B0706030804020204" pitchFamily="34" charset="0"/>
              <a:cs typeface="Open Sans SemiBold" panose="020B0706030804020204" pitchFamily="34" charset="0"/>
              <a:sym typeface="Calibri"/>
            </a:endParaRPr>
          </a:p>
        </p:txBody>
      </p:sp>
      <p:sp>
        <p:nvSpPr>
          <p:cNvPr id="132" name="Google Shape;132;p5"/>
          <p:cNvSpPr/>
          <p:nvPr/>
        </p:nvSpPr>
        <p:spPr>
          <a:xfrm>
            <a:off x="9715500" y="4439394"/>
            <a:ext cx="9252224" cy="369332"/>
          </a:xfrm>
          <a:prstGeom prst="rect">
            <a:avLst/>
          </a:prstGeom>
          <a:noFill/>
          <a:ln>
            <a:noFill/>
          </a:ln>
        </p:spPr>
        <p:txBody>
          <a:bodyPr spcFirstLastPara="1" wrap="square" lIns="0" tIns="0" rIns="0" bIns="0" anchor="t" anchorCtr="0">
            <a:spAutoFit/>
          </a:bodyPr>
          <a:lstStyle/>
          <a:p>
            <a:pPr>
              <a:buClr>
                <a:srgbClr val="000000"/>
              </a:buClr>
              <a:buSzPts val="900"/>
            </a:pPr>
            <a:r>
              <a:rPr lang="en-US" sz="2400" b="1" dirty="0">
                <a:solidFill>
                  <a:srgbClr val="000000"/>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Spaced Repetition (SRS)</a:t>
            </a:r>
            <a:endParaRPr sz="2400" dirty="0">
              <a:solidFill>
                <a:schemeClr val="dk1"/>
              </a:solidFill>
              <a:latin typeface="Montserrat Bold" panose="00000800000000000000" pitchFamily="2" charset="-93"/>
              <a:ea typeface="Open Sans SemiBold" panose="020B0706030804020204" pitchFamily="34" charset="0"/>
              <a:cs typeface="Open Sans SemiBold" panose="020B0706030804020204" pitchFamily="34" charset="0"/>
              <a:sym typeface="Calibri"/>
            </a:endParaRPr>
          </a:p>
        </p:txBody>
      </p:sp>
      <p:sp>
        <p:nvSpPr>
          <p:cNvPr id="133" name="Google Shape;133;p5"/>
          <p:cNvSpPr/>
          <p:nvPr/>
        </p:nvSpPr>
        <p:spPr>
          <a:xfrm>
            <a:off x="9715499" y="4978748"/>
            <a:ext cx="7650542" cy="827278"/>
          </a:xfrm>
          <a:prstGeom prst="rect">
            <a:avLst/>
          </a:prstGeom>
          <a:noFill/>
          <a:ln>
            <a:noFill/>
          </a:ln>
        </p:spPr>
        <p:txBody>
          <a:bodyPr spcFirstLastPara="1" wrap="square" lIns="0" tIns="0" rIns="0" bIns="0" anchor="t" anchorCtr="0">
            <a:spAutoFit/>
          </a:bodyPr>
          <a:lstStyle/>
          <a:p>
            <a:pPr>
              <a:lnSpc>
                <a:spcPct val="128000"/>
              </a:lnSpc>
              <a:buClr>
                <a:srgbClr val="444444"/>
              </a:buClr>
              <a:buSzPts val="850"/>
            </a:pP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Xác</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định</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thời</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điểm</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ôn</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tập</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tối</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ưu</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cho</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từng</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từ</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vựng</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giúp</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tăng</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hiệu</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quả</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ghi</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nhớ</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dài</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hạn</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và</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cá</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nhân</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hóa</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quá</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trình</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học</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a:t>
            </a:r>
            <a:endParaRPr sz="21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134" name="Google Shape;134;p5"/>
          <p:cNvSpPr/>
          <p:nvPr/>
        </p:nvSpPr>
        <p:spPr>
          <a:xfrm>
            <a:off x="9715500" y="5995950"/>
            <a:ext cx="9252224" cy="369332"/>
          </a:xfrm>
          <a:prstGeom prst="rect">
            <a:avLst/>
          </a:prstGeom>
          <a:noFill/>
          <a:ln>
            <a:noFill/>
          </a:ln>
        </p:spPr>
        <p:txBody>
          <a:bodyPr spcFirstLastPara="1" wrap="square" lIns="0" tIns="0" rIns="0" bIns="0" anchor="t" anchorCtr="0">
            <a:spAutoFit/>
          </a:bodyPr>
          <a:lstStyle/>
          <a:p>
            <a:pPr>
              <a:buClr>
                <a:srgbClr val="000000"/>
              </a:buClr>
              <a:buSzPts val="900"/>
            </a:pPr>
            <a:r>
              <a:rPr lang="en-US" sz="2400" b="1" dirty="0" err="1">
                <a:solidFill>
                  <a:srgbClr val="000000"/>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Mức</a:t>
            </a:r>
            <a:r>
              <a:rPr lang="en-US" sz="2400" b="1" dirty="0">
                <a:solidFill>
                  <a:srgbClr val="000000"/>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 </a:t>
            </a:r>
            <a:r>
              <a:rPr lang="en-US" sz="2400" b="1" dirty="0" err="1">
                <a:solidFill>
                  <a:srgbClr val="000000"/>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độ</a:t>
            </a:r>
            <a:r>
              <a:rPr lang="en-US" sz="2400" b="1" dirty="0">
                <a:solidFill>
                  <a:srgbClr val="000000"/>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 </a:t>
            </a:r>
            <a:r>
              <a:rPr lang="en-US" sz="2400" b="1" dirty="0" err="1">
                <a:solidFill>
                  <a:srgbClr val="000000"/>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đánh</a:t>
            </a:r>
            <a:r>
              <a:rPr lang="en-US" sz="2400" b="1" dirty="0">
                <a:solidFill>
                  <a:srgbClr val="000000"/>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 </a:t>
            </a:r>
            <a:r>
              <a:rPr lang="en-US" sz="2400" b="1" dirty="0" err="1">
                <a:solidFill>
                  <a:srgbClr val="000000"/>
                </a:solidFill>
                <a:latin typeface="Montserrat Bold" panose="00000800000000000000" pitchFamily="2" charset="-93"/>
                <a:ea typeface="Open Sans SemiBold" panose="020B0706030804020204" pitchFamily="34" charset="0"/>
                <a:cs typeface="Open Sans SemiBold" panose="020B0706030804020204" pitchFamily="34" charset="0"/>
                <a:sym typeface="Inter"/>
              </a:rPr>
              <a:t>giá</a:t>
            </a:r>
            <a:endParaRPr sz="2400" dirty="0">
              <a:solidFill>
                <a:schemeClr val="dk1"/>
              </a:solidFill>
              <a:latin typeface="Montserrat Bold" panose="00000800000000000000" pitchFamily="2" charset="-93"/>
              <a:ea typeface="Open Sans SemiBold" panose="020B0706030804020204" pitchFamily="34" charset="0"/>
              <a:cs typeface="Open Sans SemiBold" panose="020B0706030804020204" pitchFamily="34" charset="0"/>
              <a:sym typeface="Calibri"/>
            </a:endParaRPr>
          </a:p>
        </p:txBody>
      </p:sp>
      <p:sp>
        <p:nvSpPr>
          <p:cNvPr id="135" name="Google Shape;135;p5"/>
          <p:cNvSpPr/>
          <p:nvPr/>
        </p:nvSpPr>
        <p:spPr>
          <a:xfrm>
            <a:off x="9715500" y="6592454"/>
            <a:ext cx="1857376" cy="557212"/>
          </a:xfrm>
          <a:prstGeom prst="rect">
            <a:avLst/>
          </a:prstGeom>
          <a:solidFill>
            <a:srgbClr val="FAFAFA"/>
          </a:solidFill>
          <a:ln w="9525" cap="flat" cmpd="sng">
            <a:solidFill>
              <a:srgbClr val="EEEEEE"/>
            </a:solidFill>
            <a:prstDash val="solid"/>
            <a:round/>
            <a:headEnd type="none" w="sm" len="sm"/>
            <a:tailEnd type="none" w="sm" len="sm"/>
          </a:ln>
        </p:spPr>
        <p:txBody>
          <a:bodyPr spcFirstLastPara="1" wrap="square" lIns="182850" tIns="182850" rIns="182850" bIns="182850" anchor="ctr" anchorCtr="0">
            <a:noAutofit/>
          </a:bodyPr>
          <a:lstStyle/>
          <a:p>
            <a:endParaRPr sz="3600" dirty="0">
              <a:latin typeface="Open Sans" panose="020B0606030504020204" pitchFamily="34" charset="0"/>
              <a:ea typeface="Open Sans" panose="020B0606030504020204" pitchFamily="34" charset="0"/>
              <a:cs typeface="Open Sans" panose="020B0606030504020204" pitchFamily="34" charset="0"/>
            </a:endParaRPr>
          </a:p>
        </p:txBody>
      </p:sp>
      <p:sp>
        <p:nvSpPr>
          <p:cNvPr id="136" name="Google Shape;136;p5"/>
          <p:cNvSpPr/>
          <p:nvPr/>
        </p:nvSpPr>
        <p:spPr>
          <a:xfrm>
            <a:off x="9715500" y="6592455"/>
            <a:ext cx="1857376" cy="559067"/>
          </a:xfrm>
          <a:prstGeom prst="rect">
            <a:avLst/>
          </a:prstGeom>
          <a:noFill/>
          <a:ln>
            <a:noFill/>
          </a:ln>
        </p:spPr>
        <p:txBody>
          <a:bodyPr spcFirstLastPara="1" wrap="square" lIns="170150" tIns="170150" rIns="170150" bIns="170150" anchor="t" anchorCtr="0">
            <a:spAutoFit/>
          </a:bodyPr>
          <a:lstStyle/>
          <a:p>
            <a:pPr algn="ctr">
              <a:buClr>
                <a:srgbClr val="666666"/>
              </a:buClr>
              <a:buSzPts val="700"/>
            </a:pPr>
            <a:r>
              <a:rPr lang="en-US" sz="1400" b="1"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Again</a:t>
            </a:r>
            <a:endParaRPr sz="14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137" name="Google Shape;137;p5"/>
          <p:cNvSpPr/>
          <p:nvPr/>
        </p:nvSpPr>
        <p:spPr>
          <a:xfrm>
            <a:off x="11551445" y="6592454"/>
            <a:ext cx="1864518" cy="557212"/>
          </a:xfrm>
          <a:prstGeom prst="rect">
            <a:avLst/>
          </a:prstGeom>
          <a:solidFill>
            <a:srgbClr val="FAFAFA"/>
          </a:solidFill>
          <a:ln w="9525" cap="flat" cmpd="sng">
            <a:solidFill>
              <a:srgbClr val="EEEEEE"/>
            </a:solidFill>
            <a:prstDash val="solid"/>
            <a:round/>
            <a:headEnd type="none" w="sm" len="sm"/>
            <a:tailEnd type="none" w="sm" len="sm"/>
          </a:ln>
        </p:spPr>
        <p:txBody>
          <a:bodyPr spcFirstLastPara="1" wrap="square" lIns="182850" tIns="182850" rIns="182850" bIns="182850" anchor="ctr" anchorCtr="0">
            <a:noAutofit/>
          </a:bodyPr>
          <a:lstStyle/>
          <a:p>
            <a:endParaRPr sz="3600" dirty="0">
              <a:latin typeface="Open Sans" panose="020B0606030504020204" pitchFamily="34" charset="0"/>
              <a:ea typeface="Open Sans" panose="020B0606030504020204" pitchFamily="34" charset="0"/>
              <a:cs typeface="Open Sans" panose="020B0606030504020204" pitchFamily="34" charset="0"/>
            </a:endParaRPr>
          </a:p>
        </p:txBody>
      </p:sp>
      <p:sp>
        <p:nvSpPr>
          <p:cNvPr id="138" name="Google Shape;138;p5"/>
          <p:cNvSpPr/>
          <p:nvPr/>
        </p:nvSpPr>
        <p:spPr>
          <a:xfrm>
            <a:off x="11551445" y="6592455"/>
            <a:ext cx="1864518" cy="559067"/>
          </a:xfrm>
          <a:prstGeom prst="rect">
            <a:avLst/>
          </a:prstGeom>
          <a:noFill/>
          <a:ln>
            <a:noFill/>
          </a:ln>
        </p:spPr>
        <p:txBody>
          <a:bodyPr spcFirstLastPara="1" wrap="square" lIns="170150" tIns="170150" rIns="170150" bIns="170150" anchor="t" anchorCtr="0">
            <a:spAutoFit/>
          </a:bodyPr>
          <a:lstStyle/>
          <a:p>
            <a:pPr algn="ctr">
              <a:buClr>
                <a:srgbClr val="666666"/>
              </a:buClr>
              <a:buSzPts val="700"/>
            </a:pPr>
            <a:r>
              <a:rPr lang="en-US" sz="1400" b="1"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Hard</a:t>
            </a:r>
            <a:endParaRPr sz="14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141" name="Google Shape;141;p5"/>
          <p:cNvSpPr/>
          <p:nvPr/>
        </p:nvSpPr>
        <p:spPr>
          <a:xfrm>
            <a:off x="15266195" y="6592454"/>
            <a:ext cx="1878806" cy="557212"/>
          </a:xfrm>
          <a:prstGeom prst="rect">
            <a:avLst/>
          </a:prstGeom>
          <a:solidFill>
            <a:srgbClr val="FAFAFA"/>
          </a:solidFill>
          <a:ln w="9525" cap="flat" cmpd="sng">
            <a:solidFill>
              <a:srgbClr val="EEEEEE"/>
            </a:solidFill>
            <a:prstDash val="solid"/>
            <a:round/>
            <a:headEnd type="none" w="sm" len="sm"/>
            <a:tailEnd type="none" w="sm" len="sm"/>
          </a:ln>
        </p:spPr>
        <p:txBody>
          <a:bodyPr spcFirstLastPara="1" wrap="square" lIns="182850" tIns="182850" rIns="182850" bIns="182850" anchor="ctr" anchorCtr="0">
            <a:noAutofit/>
          </a:bodyPr>
          <a:lstStyle/>
          <a:p>
            <a:endParaRPr sz="3600" dirty="0">
              <a:latin typeface="Open Sans" panose="020B0606030504020204" pitchFamily="34" charset="0"/>
              <a:ea typeface="Open Sans" panose="020B0606030504020204" pitchFamily="34" charset="0"/>
              <a:cs typeface="Open Sans" panose="020B0606030504020204" pitchFamily="34" charset="0"/>
            </a:endParaRPr>
          </a:p>
        </p:txBody>
      </p:sp>
      <p:sp>
        <p:nvSpPr>
          <p:cNvPr id="142" name="Google Shape;142;p5"/>
          <p:cNvSpPr/>
          <p:nvPr/>
        </p:nvSpPr>
        <p:spPr>
          <a:xfrm>
            <a:off x="15266195" y="6592455"/>
            <a:ext cx="1878806" cy="559067"/>
          </a:xfrm>
          <a:prstGeom prst="rect">
            <a:avLst/>
          </a:prstGeom>
          <a:noFill/>
          <a:ln>
            <a:noFill/>
          </a:ln>
        </p:spPr>
        <p:txBody>
          <a:bodyPr spcFirstLastPara="1" wrap="square" lIns="170150" tIns="170150" rIns="170150" bIns="170150" anchor="t" anchorCtr="0">
            <a:spAutoFit/>
          </a:bodyPr>
          <a:lstStyle/>
          <a:p>
            <a:pPr algn="ctr">
              <a:buClr>
                <a:srgbClr val="666666"/>
              </a:buClr>
              <a:buSzPts val="700"/>
            </a:pPr>
            <a:r>
              <a:rPr lang="en-US" sz="1400" b="1"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Inter"/>
              </a:rPr>
              <a:t>Easy</a:t>
            </a:r>
            <a:endParaRPr sz="14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139" name="Google Shape;139;p5"/>
          <p:cNvSpPr/>
          <p:nvPr/>
        </p:nvSpPr>
        <p:spPr>
          <a:xfrm>
            <a:off x="13401677" y="6592454"/>
            <a:ext cx="1871662" cy="557212"/>
          </a:xfrm>
          <a:prstGeom prst="rect">
            <a:avLst/>
          </a:prstGeom>
          <a:solidFill>
            <a:srgbClr val="FFF5F5"/>
          </a:solidFill>
          <a:ln w="9525" cap="flat" cmpd="sng">
            <a:solidFill>
              <a:srgbClr val="C62828"/>
            </a:solidFill>
            <a:prstDash val="solid"/>
            <a:round/>
            <a:headEnd type="none" w="sm" len="sm"/>
            <a:tailEnd type="none" w="sm" len="sm"/>
          </a:ln>
        </p:spPr>
        <p:txBody>
          <a:bodyPr spcFirstLastPara="1" wrap="square" lIns="182850" tIns="182850" rIns="182850" bIns="182850" anchor="ctr" anchorCtr="0">
            <a:noAutofit/>
          </a:bodyPr>
          <a:lstStyle/>
          <a:p>
            <a:endParaRPr sz="3600" dirty="0">
              <a:latin typeface="Open Sans" panose="020B0606030504020204" pitchFamily="34" charset="0"/>
              <a:ea typeface="Open Sans" panose="020B0606030504020204" pitchFamily="34" charset="0"/>
              <a:cs typeface="Open Sans" panose="020B0606030504020204" pitchFamily="34" charset="0"/>
            </a:endParaRPr>
          </a:p>
        </p:txBody>
      </p:sp>
      <p:sp>
        <p:nvSpPr>
          <p:cNvPr id="140" name="Google Shape;140;p5"/>
          <p:cNvSpPr/>
          <p:nvPr/>
        </p:nvSpPr>
        <p:spPr>
          <a:xfrm>
            <a:off x="13373101" y="6592455"/>
            <a:ext cx="1871662" cy="559067"/>
          </a:xfrm>
          <a:prstGeom prst="rect">
            <a:avLst/>
          </a:prstGeom>
          <a:noFill/>
          <a:ln>
            <a:noFill/>
          </a:ln>
        </p:spPr>
        <p:txBody>
          <a:bodyPr spcFirstLastPara="1" wrap="square" lIns="170150" tIns="170150" rIns="170150" bIns="170150" anchor="t" anchorCtr="0">
            <a:spAutoFit/>
          </a:bodyPr>
          <a:lstStyle/>
          <a:p>
            <a:pPr algn="ctr">
              <a:buClr>
                <a:srgbClr val="C62828"/>
              </a:buClr>
              <a:buSzPts val="700"/>
            </a:pPr>
            <a:r>
              <a:rPr lang="en-US" sz="1400" b="1" dirty="0">
                <a:solidFill>
                  <a:srgbClr val="C62828"/>
                </a:solidFill>
                <a:latin typeface="Open Sans" panose="020B0606030504020204" pitchFamily="34" charset="0"/>
                <a:ea typeface="Open Sans" panose="020B0606030504020204" pitchFamily="34" charset="0"/>
                <a:cs typeface="Open Sans" panose="020B0606030504020204" pitchFamily="34" charset="0"/>
                <a:sym typeface="Inter"/>
              </a:rPr>
              <a:t>Good</a:t>
            </a:r>
            <a:endParaRPr sz="14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cxnSp>
        <p:nvCxnSpPr>
          <p:cNvPr id="2" name="Straight Connector 1">
            <a:extLst>
              <a:ext uri="{FF2B5EF4-FFF2-40B4-BE49-F238E27FC236}">
                <a16:creationId xmlns:a16="http://schemas.microsoft.com/office/drawing/2014/main" id="{6985A864-46C3-50AA-ADD9-B89601E8347F}"/>
              </a:ext>
            </a:extLst>
          </p:cNvPr>
          <p:cNvCxnSpPr>
            <a:cxnSpLocks/>
          </p:cNvCxnSpPr>
          <p:nvPr/>
        </p:nvCxnSpPr>
        <p:spPr>
          <a:xfrm>
            <a:off x="1485900" y="2253908"/>
            <a:ext cx="10635568" cy="0"/>
          </a:xfrm>
          <a:prstGeom prst="line">
            <a:avLst/>
          </a:prstGeom>
          <a:ln w="12700">
            <a:solidFill>
              <a:srgbClr val="C62828"/>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4DBDB6F9-5363-249D-1D95-9ADAEA5A98A0}"/>
              </a:ext>
            </a:extLst>
          </p:cNvPr>
          <p:cNvSpPr txBox="1"/>
          <p:nvPr/>
        </p:nvSpPr>
        <p:spPr>
          <a:xfrm>
            <a:off x="17831821" y="9831884"/>
            <a:ext cx="415498"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06</a:t>
            </a:r>
            <a:endParaRPr lang="vi-V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pic>
        <p:nvPicPr>
          <p:cNvPr id="148" name="Google Shape;148;p6" descr="preencoded.png"/>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149" name="Google Shape;149;p6"/>
          <p:cNvSpPr/>
          <p:nvPr/>
        </p:nvSpPr>
        <p:spPr>
          <a:xfrm>
            <a:off x="1143001" y="1355305"/>
            <a:ext cx="13321146" cy="861774"/>
          </a:xfrm>
          <a:prstGeom prst="rect">
            <a:avLst/>
          </a:prstGeom>
          <a:noFill/>
          <a:ln>
            <a:noFill/>
          </a:ln>
        </p:spPr>
        <p:txBody>
          <a:bodyPr spcFirstLastPara="1" wrap="square" lIns="340100" tIns="0" rIns="0" bIns="0" anchor="t" anchorCtr="0">
            <a:spAutoFit/>
          </a:bodyPr>
          <a:lstStyle/>
          <a:p>
            <a:pPr>
              <a:buSzPts val="1900"/>
            </a:pPr>
            <a:r>
              <a:rPr lang="en-US" sz="5600" b="1" dirty="0">
                <a:latin typeface="Montserrat Bold" panose="00000800000000000000" pitchFamily="2" charset="-93"/>
                <a:ea typeface="Inter"/>
                <a:sym typeface="Inter"/>
              </a:rPr>
              <a:t>Theo </a:t>
            </a:r>
            <a:r>
              <a:rPr lang="en-US" sz="5600" b="1" dirty="0" err="1">
                <a:latin typeface="Montserrat Bold" panose="00000800000000000000" pitchFamily="2" charset="-93"/>
                <a:ea typeface="Inter"/>
                <a:sym typeface="Inter"/>
              </a:rPr>
              <a:t>dõi</a:t>
            </a:r>
            <a:r>
              <a:rPr lang="en-US" sz="5600" b="1" dirty="0">
                <a:latin typeface="Montserrat Bold" panose="00000800000000000000" pitchFamily="2" charset="-93"/>
                <a:ea typeface="Inter"/>
                <a:sym typeface="Inter"/>
              </a:rPr>
              <a:t> </a:t>
            </a:r>
            <a:r>
              <a:rPr lang="en-US" sz="5600" b="1" dirty="0" err="1">
                <a:latin typeface="Montserrat Bold" panose="00000800000000000000" pitchFamily="2" charset="-93"/>
                <a:ea typeface="Inter"/>
                <a:sym typeface="Inter"/>
              </a:rPr>
              <a:t>tiến</a:t>
            </a:r>
            <a:r>
              <a:rPr lang="en-US" sz="5600" b="1" dirty="0">
                <a:latin typeface="Montserrat Bold" panose="00000800000000000000" pitchFamily="2" charset="-93"/>
                <a:ea typeface="Inter"/>
                <a:sym typeface="Inter"/>
              </a:rPr>
              <a:t> </a:t>
            </a:r>
            <a:r>
              <a:rPr lang="en-US" sz="5600" b="1" dirty="0" err="1">
                <a:latin typeface="Montserrat Bold" panose="00000800000000000000" pitchFamily="2" charset="-93"/>
                <a:ea typeface="Inter"/>
                <a:sym typeface="Inter"/>
              </a:rPr>
              <a:t>độ</a:t>
            </a:r>
            <a:r>
              <a:rPr lang="en-US" sz="5600" b="1" dirty="0">
                <a:latin typeface="Montserrat Bold" panose="00000800000000000000" pitchFamily="2" charset="-93"/>
                <a:ea typeface="Inter"/>
                <a:sym typeface="Inter"/>
              </a:rPr>
              <a:t> &amp; </a:t>
            </a:r>
            <a:r>
              <a:rPr lang="en-US" sz="5600" b="1" dirty="0" err="1">
                <a:latin typeface="Montserrat Bold" panose="00000800000000000000" pitchFamily="2" charset="-93"/>
                <a:ea typeface="Inter"/>
                <a:sym typeface="Inter"/>
              </a:rPr>
              <a:t>Đồng</a:t>
            </a:r>
            <a:r>
              <a:rPr lang="en-US" sz="5600" b="1" dirty="0">
                <a:latin typeface="Montserrat Bold" panose="00000800000000000000" pitchFamily="2" charset="-93"/>
                <a:ea typeface="Inter"/>
                <a:sym typeface="Inter"/>
              </a:rPr>
              <a:t> </a:t>
            </a:r>
            <a:r>
              <a:rPr lang="en-US" sz="5600" b="1" dirty="0" err="1">
                <a:latin typeface="Montserrat Bold" panose="00000800000000000000" pitchFamily="2" charset="-93"/>
                <a:ea typeface="Inter"/>
                <a:sym typeface="Inter"/>
              </a:rPr>
              <a:t>bộ</a:t>
            </a:r>
            <a:r>
              <a:rPr lang="en-US" sz="5600" b="1" dirty="0">
                <a:latin typeface="Montserrat Bold" panose="00000800000000000000" pitchFamily="2" charset="-93"/>
                <a:ea typeface="Inter"/>
                <a:sym typeface="Inter"/>
              </a:rPr>
              <a:t> </a:t>
            </a:r>
            <a:r>
              <a:rPr lang="en-US" sz="5600" b="1" dirty="0" err="1">
                <a:latin typeface="Montserrat Bold" panose="00000800000000000000" pitchFamily="2" charset="-93"/>
                <a:ea typeface="Inter"/>
                <a:sym typeface="Inter"/>
              </a:rPr>
              <a:t>dữ</a:t>
            </a:r>
            <a:r>
              <a:rPr lang="en-US" sz="5600" b="1" dirty="0">
                <a:latin typeface="Montserrat Bold" panose="00000800000000000000" pitchFamily="2" charset="-93"/>
                <a:ea typeface="Inter"/>
                <a:sym typeface="Inter"/>
              </a:rPr>
              <a:t> </a:t>
            </a:r>
            <a:r>
              <a:rPr lang="en-US" sz="5600" b="1" dirty="0" err="1">
                <a:latin typeface="Montserrat Bold" panose="00000800000000000000" pitchFamily="2" charset="-93"/>
                <a:ea typeface="Inter"/>
                <a:sym typeface="Inter"/>
              </a:rPr>
              <a:t>liệu</a:t>
            </a:r>
            <a:endParaRPr sz="5600" b="1" dirty="0">
              <a:latin typeface="Montserrat Bold" panose="00000800000000000000" pitchFamily="2" charset="-93"/>
              <a:ea typeface="Inter"/>
              <a:sym typeface="Calibri"/>
            </a:endParaRPr>
          </a:p>
        </p:txBody>
      </p:sp>
      <p:pic>
        <p:nvPicPr>
          <p:cNvPr id="150" name="Google Shape;150;p6" descr="preencoded.png"/>
          <p:cNvPicPr preferRelativeResize="0"/>
          <p:nvPr/>
        </p:nvPicPr>
        <p:blipFill rotWithShape="1">
          <a:blip r:embed="rId4">
            <a:alphaModFix/>
          </a:blip>
          <a:srcRect/>
          <a:stretch/>
        </p:blipFill>
        <p:spPr>
          <a:xfrm>
            <a:off x="1157643" y="4340275"/>
            <a:ext cx="385110" cy="314326"/>
          </a:xfrm>
          <a:prstGeom prst="rect">
            <a:avLst/>
          </a:prstGeom>
          <a:noFill/>
          <a:ln>
            <a:noFill/>
          </a:ln>
        </p:spPr>
      </p:pic>
      <p:sp>
        <p:nvSpPr>
          <p:cNvPr id="151" name="Google Shape;151;p6"/>
          <p:cNvSpPr/>
          <p:nvPr/>
        </p:nvSpPr>
        <p:spPr>
          <a:xfrm>
            <a:off x="1784206" y="4287081"/>
            <a:ext cx="4382328" cy="430887"/>
          </a:xfrm>
          <a:prstGeom prst="rect">
            <a:avLst/>
          </a:prstGeom>
          <a:noFill/>
          <a:ln>
            <a:noFill/>
          </a:ln>
        </p:spPr>
        <p:txBody>
          <a:bodyPr spcFirstLastPara="1" wrap="square" lIns="0" tIns="0" rIns="0" bIns="0" anchor="t" anchorCtr="0">
            <a:spAutoFit/>
          </a:bodyPr>
          <a:lstStyle/>
          <a:p>
            <a:pPr>
              <a:buClr>
                <a:srgbClr val="C62828"/>
              </a:buClr>
              <a:buSzPts val="1100"/>
            </a:pPr>
            <a:r>
              <a:rPr lang="en-US" sz="2800" b="1" dirty="0">
                <a:solidFill>
                  <a:srgbClr val="C62828"/>
                </a:solidFill>
                <a:latin typeface="Montserrat Bold" panose="00000800000000000000" pitchFamily="2" charset="-93"/>
                <a:ea typeface="Inter"/>
                <a:cs typeface="Inter"/>
                <a:sym typeface="Inter"/>
              </a:rPr>
              <a:t>1.7. Theo </a:t>
            </a:r>
            <a:r>
              <a:rPr lang="en-US" sz="2800" b="1" dirty="0" err="1">
                <a:solidFill>
                  <a:srgbClr val="C62828"/>
                </a:solidFill>
                <a:latin typeface="Montserrat Bold" panose="00000800000000000000" pitchFamily="2" charset="-93"/>
                <a:ea typeface="Inter"/>
                <a:cs typeface="Inter"/>
                <a:sym typeface="Inter"/>
              </a:rPr>
              <a:t>dõi</a:t>
            </a:r>
            <a:r>
              <a:rPr lang="en-US" sz="2800" b="1" dirty="0">
                <a:solidFill>
                  <a:srgbClr val="C62828"/>
                </a:solidFill>
                <a:latin typeface="Montserrat Bold" panose="00000800000000000000" pitchFamily="2" charset="-93"/>
                <a:ea typeface="Inter"/>
                <a:cs typeface="Inter"/>
                <a:sym typeface="Inter"/>
              </a:rPr>
              <a:t> </a:t>
            </a:r>
            <a:r>
              <a:rPr lang="en-US" sz="2800" b="1" dirty="0" err="1">
                <a:solidFill>
                  <a:srgbClr val="C62828"/>
                </a:solidFill>
                <a:latin typeface="Montserrat Bold" panose="00000800000000000000" pitchFamily="2" charset="-93"/>
                <a:ea typeface="Inter"/>
                <a:cs typeface="Inter"/>
                <a:sym typeface="Inter"/>
              </a:rPr>
              <a:t>tiến</a:t>
            </a:r>
            <a:r>
              <a:rPr lang="en-US" sz="2800" b="1" dirty="0">
                <a:solidFill>
                  <a:srgbClr val="C62828"/>
                </a:solidFill>
                <a:latin typeface="Montserrat Bold" panose="00000800000000000000" pitchFamily="2" charset="-93"/>
                <a:ea typeface="Inter"/>
                <a:cs typeface="Inter"/>
                <a:sym typeface="Inter"/>
              </a:rPr>
              <a:t> </a:t>
            </a:r>
            <a:r>
              <a:rPr lang="en-US" sz="2800" b="1" dirty="0" err="1">
                <a:solidFill>
                  <a:srgbClr val="C62828"/>
                </a:solidFill>
                <a:latin typeface="Montserrat Bold" panose="00000800000000000000" pitchFamily="2" charset="-93"/>
                <a:ea typeface="Inter"/>
                <a:cs typeface="Inter"/>
                <a:sym typeface="Inter"/>
              </a:rPr>
              <a:t>độ</a:t>
            </a:r>
            <a:endParaRPr sz="2800" dirty="0">
              <a:solidFill>
                <a:schemeClr val="dk1"/>
              </a:solidFill>
              <a:latin typeface="Montserrat Bold" panose="00000800000000000000" pitchFamily="2" charset="-93"/>
              <a:ea typeface="Calibri"/>
              <a:cs typeface="Calibri"/>
              <a:sym typeface="Calibri"/>
            </a:endParaRPr>
          </a:p>
        </p:txBody>
      </p:sp>
      <p:sp>
        <p:nvSpPr>
          <p:cNvPr id="152" name="Google Shape;152;p6"/>
          <p:cNvSpPr/>
          <p:nvPr/>
        </p:nvSpPr>
        <p:spPr>
          <a:xfrm>
            <a:off x="1385888" y="4889450"/>
            <a:ext cx="1478828" cy="787908"/>
          </a:xfrm>
          <a:prstGeom prst="rect">
            <a:avLst/>
          </a:prstGeom>
          <a:noFill/>
          <a:ln>
            <a:noFill/>
          </a:ln>
        </p:spPr>
        <p:txBody>
          <a:bodyPr spcFirstLastPara="1" wrap="square" lIns="0" tIns="0" rIns="0" bIns="0" anchor="t" anchorCtr="0">
            <a:spAutoFit/>
          </a:bodyPr>
          <a:lstStyle/>
          <a:p>
            <a:pPr>
              <a:lnSpc>
                <a:spcPct val="128000"/>
              </a:lnSpc>
              <a:buClr>
                <a:srgbClr val="444444"/>
              </a:buClr>
              <a:buSzPts val="750"/>
            </a:pPr>
            <a:r>
              <a:rPr lang="en-US" sz="2000" b="1" dirty="0" err="1">
                <a:solidFill>
                  <a:srgbClr val="444444"/>
                </a:solidFill>
                <a:ea typeface="Open Sans" panose="020B0606030504020204" pitchFamily="34" charset="0"/>
                <a:cs typeface="Open Sans" panose="020B0606030504020204" pitchFamily="34" charset="0"/>
                <a:sym typeface="Inter"/>
              </a:rPr>
              <a:t>Hệ</a:t>
            </a:r>
            <a:r>
              <a:rPr lang="en-US" sz="2000" b="1" dirty="0">
                <a:solidFill>
                  <a:srgbClr val="444444"/>
                </a:solidFill>
                <a:ea typeface="Open Sans" panose="020B0606030504020204" pitchFamily="34" charset="0"/>
                <a:cs typeface="Open Sans" panose="020B0606030504020204" pitchFamily="34" charset="0"/>
                <a:sym typeface="Inter"/>
              </a:rPr>
              <a:t> </a:t>
            </a:r>
            <a:r>
              <a:rPr lang="en-US" sz="2000" b="1" dirty="0" err="1">
                <a:solidFill>
                  <a:srgbClr val="444444"/>
                </a:solidFill>
                <a:ea typeface="Open Sans" panose="020B0606030504020204" pitchFamily="34" charset="0"/>
                <a:cs typeface="Open Sans" panose="020B0606030504020204" pitchFamily="34" charset="0"/>
                <a:sym typeface="Inter"/>
              </a:rPr>
              <a:t>thống</a:t>
            </a:r>
            <a:r>
              <a:rPr lang="en-US" sz="2000" b="1" dirty="0">
                <a:solidFill>
                  <a:srgbClr val="444444"/>
                </a:solidFill>
                <a:ea typeface="Open Sans" panose="020B0606030504020204" pitchFamily="34" charset="0"/>
                <a:cs typeface="Open Sans" panose="020B0606030504020204" pitchFamily="34" charset="0"/>
                <a:sym typeface="Inter"/>
              </a:rPr>
              <a:t> Streak:</a:t>
            </a:r>
            <a:endParaRPr sz="2000" dirty="0">
              <a:solidFill>
                <a:schemeClr val="dk1"/>
              </a:solidFill>
              <a:ea typeface="Open Sans" panose="020B0606030504020204" pitchFamily="34" charset="0"/>
              <a:cs typeface="Open Sans" panose="020B0606030504020204" pitchFamily="34" charset="0"/>
              <a:sym typeface="Calibri"/>
            </a:endParaRPr>
          </a:p>
        </p:txBody>
      </p:sp>
      <p:sp>
        <p:nvSpPr>
          <p:cNvPr id="153" name="Google Shape;153;p6"/>
          <p:cNvSpPr/>
          <p:nvPr/>
        </p:nvSpPr>
        <p:spPr>
          <a:xfrm>
            <a:off x="2592902" y="4889450"/>
            <a:ext cx="3573632" cy="787908"/>
          </a:xfrm>
          <a:prstGeom prst="rect">
            <a:avLst/>
          </a:prstGeom>
          <a:noFill/>
          <a:ln>
            <a:noFill/>
          </a:ln>
        </p:spPr>
        <p:txBody>
          <a:bodyPr spcFirstLastPara="1" wrap="square" lIns="0" tIns="0" rIns="0" bIns="0" anchor="t" anchorCtr="0">
            <a:spAutoFit/>
          </a:bodyPr>
          <a:lstStyle/>
          <a:p>
            <a:pPr>
              <a:lnSpc>
                <a:spcPct val="128000"/>
              </a:lnSpc>
              <a:buClr>
                <a:srgbClr val="444444"/>
              </a:buClr>
              <a:buSzPts val="800"/>
            </a:pPr>
            <a:r>
              <a:rPr lang="en-US" sz="2000" dirty="0" err="1">
                <a:solidFill>
                  <a:srgbClr val="444444"/>
                </a:solidFill>
                <a:ea typeface="Open Sans" panose="020B0606030504020204" pitchFamily="34" charset="0"/>
                <a:cs typeface="Open Sans" panose="020B0606030504020204" pitchFamily="34" charset="0"/>
                <a:sym typeface="Inter"/>
              </a:rPr>
              <a:t>Ghi</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nhận</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số</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ngày</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học</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liên</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tiếp</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để</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duy</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trì</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động</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lực</a:t>
            </a:r>
            <a:r>
              <a:rPr lang="en-US" sz="2000" dirty="0">
                <a:solidFill>
                  <a:srgbClr val="444444"/>
                </a:solidFill>
                <a:ea typeface="Open Sans" panose="020B0606030504020204" pitchFamily="34" charset="0"/>
                <a:cs typeface="Open Sans" panose="020B0606030504020204" pitchFamily="34" charset="0"/>
                <a:sym typeface="Inter"/>
              </a:rPr>
              <a:t>.</a:t>
            </a:r>
            <a:endParaRPr sz="2000" dirty="0">
              <a:solidFill>
                <a:schemeClr val="dk1"/>
              </a:solidFill>
              <a:ea typeface="Open Sans" panose="020B0606030504020204" pitchFamily="34" charset="0"/>
              <a:cs typeface="Open Sans" panose="020B0606030504020204" pitchFamily="34" charset="0"/>
              <a:sym typeface="Calibri"/>
            </a:endParaRPr>
          </a:p>
        </p:txBody>
      </p:sp>
      <p:sp>
        <p:nvSpPr>
          <p:cNvPr id="154" name="Google Shape;154;p6"/>
          <p:cNvSpPr/>
          <p:nvPr/>
        </p:nvSpPr>
        <p:spPr>
          <a:xfrm>
            <a:off x="1385888" y="5789562"/>
            <a:ext cx="1227440" cy="787908"/>
          </a:xfrm>
          <a:prstGeom prst="rect">
            <a:avLst/>
          </a:prstGeom>
          <a:noFill/>
          <a:ln>
            <a:noFill/>
          </a:ln>
        </p:spPr>
        <p:txBody>
          <a:bodyPr spcFirstLastPara="1" wrap="square" lIns="0" tIns="0" rIns="0" bIns="0" anchor="t" anchorCtr="0">
            <a:spAutoFit/>
          </a:bodyPr>
          <a:lstStyle/>
          <a:p>
            <a:pPr>
              <a:lnSpc>
                <a:spcPct val="128000"/>
              </a:lnSpc>
              <a:buClr>
                <a:srgbClr val="444444"/>
              </a:buClr>
              <a:buSzPts val="750"/>
            </a:pPr>
            <a:r>
              <a:rPr lang="en-US" sz="2000" b="1" dirty="0" err="1">
                <a:solidFill>
                  <a:srgbClr val="444444"/>
                </a:solidFill>
                <a:ea typeface="Open Sans" panose="020B0606030504020204" pitchFamily="34" charset="0"/>
                <a:cs typeface="Open Sans" panose="020B0606030504020204" pitchFamily="34" charset="0"/>
                <a:sym typeface="Inter"/>
              </a:rPr>
              <a:t>Biểu</a:t>
            </a:r>
            <a:r>
              <a:rPr lang="en-US" sz="2000" b="1" dirty="0">
                <a:solidFill>
                  <a:srgbClr val="444444"/>
                </a:solidFill>
                <a:ea typeface="Open Sans" panose="020B0606030504020204" pitchFamily="34" charset="0"/>
                <a:cs typeface="Open Sans" panose="020B0606030504020204" pitchFamily="34" charset="0"/>
                <a:sym typeface="Inter"/>
              </a:rPr>
              <a:t> </a:t>
            </a:r>
            <a:r>
              <a:rPr lang="en-US" sz="2000" b="1" dirty="0" err="1">
                <a:solidFill>
                  <a:srgbClr val="444444"/>
                </a:solidFill>
                <a:ea typeface="Open Sans" panose="020B0606030504020204" pitchFamily="34" charset="0"/>
                <a:cs typeface="Open Sans" panose="020B0606030504020204" pitchFamily="34" charset="0"/>
                <a:sym typeface="Inter"/>
              </a:rPr>
              <a:t>đồ</a:t>
            </a:r>
            <a:r>
              <a:rPr lang="en-US" sz="2000" b="1" dirty="0">
                <a:solidFill>
                  <a:srgbClr val="444444"/>
                </a:solidFill>
                <a:ea typeface="Open Sans" panose="020B0606030504020204" pitchFamily="34" charset="0"/>
                <a:cs typeface="Open Sans" panose="020B0606030504020204" pitchFamily="34" charset="0"/>
                <a:sym typeface="Inter"/>
              </a:rPr>
              <a:t> </a:t>
            </a:r>
            <a:r>
              <a:rPr lang="en-US" sz="2000" b="1" dirty="0" err="1">
                <a:solidFill>
                  <a:srgbClr val="444444"/>
                </a:solidFill>
                <a:ea typeface="Open Sans" panose="020B0606030504020204" pitchFamily="34" charset="0"/>
                <a:cs typeface="Open Sans" panose="020B0606030504020204" pitchFamily="34" charset="0"/>
                <a:sym typeface="Inter"/>
              </a:rPr>
              <a:t>hoạt</a:t>
            </a:r>
            <a:r>
              <a:rPr lang="en-US" sz="2000" b="1" dirty="0">
                <a:solidFill>
                  <a:srgbClr val="444444"/>
                </a:solidFill>
                <a:ea typeface="Open Sans" panose="020B0606030504020204" pitchFamily="34" charset="0"/>
                <a:cs typeface="Open Sans" panose="020B0606030504020204" pitchFamily="34" charset="0"/>
                <a:sym typeface="Inter"/>
              </a:rPr>
              <a:t> </a:t>
            </a:r>
            <a:r>
              <a:rPr lang="en-US" sz="2000" b="1" dirty="0" err="1">
                <a:solidFill>
                  <a:srgbClr val="444444"/>
                </a:solidFill>
                <a:ea typeface="Open Sans" panose="020B0606030504020204" pitchFamily="34" charset="0"/>
                <a:cs typeface="Open Sans" panose="020B0606030504020204" pitchFamily="34" charset="0"/>
                <a:sym typeface="Inter"/>
              </a:rPr>
              <a:t>động</a:t>
            </a:r>
            <a:r>
              <a:rPr lang="en-US" sz="2000" b="1" dirty="0">
                <a:solidFill>
                  <a:srgbClr val="444444"/>
                </a:solidFill>
                <a:ea typeface="Open Sans" panose="020B0606030504020204" pitchFamily="34" charset="0"/>
                <a:cs typeface="Open Sans" panose="020B0606030504020204" pitchFamily="34" charset="0"/>
                <a:sym typeface="Inter"/>
              </a:rPr>
              <a:t>:</a:t>
            </a:r>
            <a:endParaRPr sz="2000" dirty="0">
              <a:solidFill>
                <a:schemeClr val="dk1"/>
              </a:solidFill>
              <a:ea typeface="Open Sans" panose="020B0606030504020204" pitchFamily="34" charset="0"/>
              <a:cs typeface="Open Sans" panose="020B0606030504020204" pitchFamily="34" charset="0"/>
              <a:sym typeface="Calibri"/>
            </a:endParaRPr>
          </a:p>
        </p:txBody>
      </p:sp>
      <p:sp>
        <p:nvSpPr>
          <p:cNvPr id="155" name="Google Shape;155;p6"/>
          <p:cNvSpPr/>
          <p:nvPr/>
        </p:nvSpPr>
        <p:spPr>
          <a:xfrm>
            <a:off x="2613329" y="5789562"/>
            <a:ext cx="3229426" cy="787908"/>
          </a:xfrm>
          <a:prstGeom prst="rect">
            <a:avLst/>
          </a:prstGeom>
          <a:noFill/>
          <a:ln>
            <a:noFill/>
          </a:ln>
        </p:spPr>
        <p:txBody>
          <a:bodyPr spcFirstLastPara="1" wrap="square" lIns="0" tIns="0" rIns="0" bIns="0" anchor="t" anchorCtr="0">
            <a:spAutoFit/>
          </a:bodyPr>
          <a:lstStyle/>
          <a:p>
            <a:pPr>
              <a:lnSpc>
                <a:spcPct val="128000"/>
              </a:lnSpc>
              <a:buClr>
                <a:srgbClr val="444444"/>
              </a:buClr>
              <a:buSzPts val="800"/>
            </a:pPr>
            <a:r>
              <a:rPr lang="en-US" sz="2000" dirty="0" err="1">
                <a:solidFill>
                  <a:srgbClr val="444444"/>
                </a:solidFill>
                <a:ea typeface="Open Sans" panose="020B0606030504020204" pitchFamily="34" charset="0"/>
                <a:cs typeface="Open Sans" panose="020B0606030504020204" pitchFamily="34" charset="0"/>
                <a:sym typeface="Inter"/>
              </a:rPr>
              <a:t>Trực</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quan</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hóa</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tỷ</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lệ</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ghi</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nhớ</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và</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tiến</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trình</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học</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theo</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tuần</a:t>
            </a:r>
            <a:r>
              <a:rPr lang="en-US" sz="2000" dirty="0">
                <a:solidFill>
                  <a:srgbClr val="444444"/>
                </a:solidFill>
                <a:ea typeface="Open Sans" panose="020B0606030504020204" pitchFamily="34" charset="0"/>
                <a:cs typeface="Open Sans" panose="020B0606030504020204" pitchFamily="34" charset="0"/>
                <a:sym typeface="Inter"/>
              </a:rPr>
              <a:t>.</a:t>
            </a:r>
            <a:endParaRPr sz="2000" dirty="0">
              <a:solidFill>
                <a:schemeClr val="dk1"/>
              </a:solidFill>
              <a:ea typeface="Open Sans" panose="020B0606030504020204" pitchFamily="34" charset="0"/>
              <a:cs typeface="Open Sans" panose="020B0606030504020204" pitchFamily="34" charset="0"/>
              <a:sym typeface="Calibri"/>
            </a:endParaRPr>
          </a:p>
        </p:txBody>
      </p:sp>
      <p:sp>
        <p:nvSpPr>
          <p:cNvPr id="156" name="Google Shape;156;p6"/>
          <p:cNvSpPr/>
          <p:nvPr/>
        </p:nvSpPr>
        <p:spPr>
          <a:xfrm>
            <a:off x="1385888" y="6689676"/>
            <a:ext cx="1334960" cy="787908"/>
          </a:xfrm>
          <a:prstGeom prst="rect">
            <a:avLst/>
          </a:prstGeom>
          <a:noFill/>
          <a:ln>
            <a:noFill/>
          </a:ln>
        </p:spPr>
        <p:txBody>
          <a:bodyPr spcFirstLastPara="1" wrap="square" lIns="0" tIns="0" rIns="0" bIns="0" anchor="t" anchorCtr="0">
            <a:spAutoFit/>
          </a:bodyPr>
          <a:lstStyle/>
          <a:p>
            <a:pPr>
              <a:lnSpc>
                <a:spcPct val="128000"/>
              </a:lnSpc>
              <a:buClr>
                <a:srgbClr val="444444"/>
              </a:buClr>
              <a:buSzPts val="750"/>
            </a:pPr>
            <a:r>
              <a:rPr lang="en-US" sz="2000" b="1" dirty="0" err="1">
                <a:solidFill>
                  <a:srgbClr val="444444"/>
                </a:solidFill>
                <a:ea typeface="Open Sans" panose="020B0606030504020204" pitchFamily="34" charset="0"/>
                <a:cs typeface="Open Sans" panose="020B0606030504020204" pitchFamily="34" charset="0"/>
                <a:sym typeface="Inter"/>
              </a:rPr>
              <a:t>Đánh</a:t>
            </a:r>
            <a:r>
              <a:rPr lang="en-US" sz="2000" b="1" dirty="0">
                <a:solidFill>
                  <a:srgbClr val="444444"/>
                </a:solidFill>
                <a:ea typeface="Open Sans" panose="020B0606030504020204" pitchFamily="34" charset="0"/>
                <a:cs typeface="Open Sans" panose="020B0606030504020204" pitchFamily="34" charset="0"/>
                <a:sym typeface="Inter"/>
              </a:rPr>
              <a:t> </a:t>
            </a:r>
            <a:r>
              <a:rPr lang="en-US" sz="2000" b="1" dirty="0" err="1">
                <a:solidFill>
                  <a:srgbClr val="444444"/>
                </a:solidFill>
                <a:ea typeface="Open Sans" panose="020B0606030504020204" pitchFamily="34" charset="0"/>
                <a:cs typeface="Open Sans" panose="020B0606030504020204" pitchFamily="34" charset="0"/>
                <a:sym typeface="Inter"/>
              </a:rPr>
              <a:t>giá</a:t>
            </a:r>
            <a:r>
              <a:rPr lang="en-US" sz="2000" b="1" dirty="0">
                <a:solidFill>
                  <a:srgbClr val="444444"/>
                </a:solidFill>
                <a:ea typeface="Open Sans" panose="020B0606030504020204" pitchFamily="34" charset="0"/>
                <a:cs typeface="Open Sans" panose="020B0606030504020204" pitchFamily="34" charset="0"/>
                <a:sym typeface="Inter"/>
              </a:rPr>
              <a:t> </a:t>
            </a:r>
            <a:r>
              <a:rPr lang="en-US" sz="2000" b="1" dirty="0" err="1">
                <a:solidFill>
                  <a:srgbClr val="444444"/>
                </a:solidFill>
                <a:ea typeface="Open Sans" panose="020B0606030504020204" pitchFamily="34" charset="0"/>
                <a:cs typeface="Open Sans" panose="020B0606030504020204" pitchFamily="34" charset="0"/>
                <a:sym typeface="Inter"/>
              </a:rPr>
              <a:t>CEFR</a:t>
            </a:r>
            <a:r>
              <a:rPr lang="en-US" sz="2000" b="1" dirty="0">
                <a:solidFill>
                  <a:srgbClr val="444444"/>
                </a:solidFill>
                <a:ea typeface="Open Sans" panose="020B0606030504020204" pitchFamily="34" charset="0"/>
                <a:cs typeface="Open Sans" panose="020B0606030504020204" pitchFamily="34" charset="0"/>
                <a:sym typeface="Inter"/>
              </a:rPr>
              <a:t>:</a:t>
            </a:r>
            <a:endParaRPr sz="2000" dirty="0">
              <a:solidFill>
                <a:schemeClr val="dk1"/>
              </a:solidFill>
              <a:ea typeface="Open Sans" panose="020B0606030504020204" pitchFamily="34" charset="0"/>
              <a:cs typeface="Open Sans" panose="020B0606030504020204" pitchFamily="34" charset="0"/>
              <a:sym typeface="Calibri"/>
            </a:endParaRPr>
          </a:p>
        </p:txBody>
      </p:sp>
      <p:sp>
        <p:nvSpPr>
          <p:cNvPr id="157" name="Google Shape;157;p6"/>
          <p:cNvSpPr/>
          <p:nvPr/>
        </p:nvSpPr>
        <p:spPr>
          <a:xfrm>
            <a:off x="2475476" y="6689676"/>
            <a:ext cx="4435804" cy="787908"/>
          </a:xfrm>
          <a:prstGeom prst="rect">
            <a:avLst/>
          </a:prstGeom>
          <a:noFill/>
          <a:ln>
            <a:noFill/>
          </a:ln>
        </p:spPr>
        <p:txBody>
          <a:bodyPr spcFirstLastPara="1" wrap="square" lIns="0" tIns="0" rIns="0" bIns="0" anchor="t" anchorCtr="0">
            <a:spAutoFit/>
          </a:bodyPr>
          <a:lstStyle/>
          <a:p>
            <a:pPr>
              <a:lnSpc>
                <a:spcPct val="128000"/>
              </a:lnSpc>
              <a:buClr>
                <a:srgbClr val="444444"/>
              </a:buClr>
              <a:buSzPts val="800"/>
            </a:pPr>
            <a:r>
              <a:rPr lang="en-US" sz="2000" dirty="0" err="1">
                <a:solidFill>
                  <a:srgbClr val="444444"/>
                </a:solidFill>
                <a:ea typeface="Open Sans" panose="020B0606030504020204" pitchFamily="34" charset="0"/>
                <a:cs typeface="Open Sans" panose="020B0606030504020204" pitchFamily="34" charset="0"/>
                <a:sym typeface="Inter"/>
              </a:rPr>
              <a:t>Cập</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nhật</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trình</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độ</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năng</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lực</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dựa</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trên</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kết</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quả</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học</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tập</a:t>
            </a:r>
            <a:r>
              <a:rPr lang="en-US" sz="2000" dirty="0">
                <a:solidFill>
                  <a:srgbClr val="444444"/>
                </a:solidFill>
                <a:ea typeface="Open Sans" panose="020B0606030504020204" pitchFamily="34" charset="0"/>
                <a:cs typeface="Open Sans" panose="020B0606030504020204" pitchFamily="34" charset="0"/>
                <a:sym typeface="Inter"/>
              </a:rPr>
              <a:t>.</a:t>
            </a:r>
            <a:endParaRPr sz="2000" dirty="0">
              <a:solidFill>
                <a:schemeClr val="dk1"/>
              </a:solidFill>
              <a:ea typeface="Open Sans" panose="020B0606030504020204" pitchFamily="34" charset="0"/>
              <a:cs typeface="Open Sans" panose="020B0606030504020204" pitchFamily="34" charset="0"/>
              <a:sym typeface="Calibri"/>
            </a:endParaRPr>
          </a:p>
        </p:txBody>
      </p:sp>
      <p:pic>
        <p:nvPicPr>
          <p:cNvPr id="158" name="Google Shape;158;p6" descr="preencoded.png"/>
          <p:cNvPicPr preferRelativeResize="0"/>
          <p:nvPr/>
        </p:nvPicPr>
        <p:blipFill rotWithShape="1">
          <a:blip r:embed="rId5">
            <a:alphaModFix/>
          </a:blip>
          <a:srcRect/>
          <a:stretch/>
        </p:blipFill>
        <p:spPr>
          <a:xfrm>
            <a:off x="6667469" y="4331999"/>
            <a:ext cx="336970" cy="314326"/>
          </a:xfrm>
          <a:prstGeom prst="rect">
            <a:avLst/>
          </a:prstGeom>
          <a:noFill/>
          <a:ln>
            <a:noFill/>
          </a:ln>
        </p:spPr>
      </p:pic>
      <p:sp>
        <p:nvSpPr>
          <p:cNvPr id="159" name="Google Shape;159;p6"/>
          <p:cNvSpPr/>
          <p:nvPr/>
        </p:nvSpPr>
        <p:spPr>
          <a:xfrm>
            <a:off x="7269379" y="4287081"/>
            <a:ext cx="5441390" cy="430887"/>
          </a:xfrm>
          <a:prstGeom prst="rect">
            <a:avLst/>
          </a:prstGeom>
          <a:noFill/>
          <a:ln>
            <a:noFill/>
          </a:ln>
        </p:spPr>
        <p:txBody>
          <a:bodyPr spcFirstLastPara="1" wrap="square" lIns="0" tIns="0" rIns="0" bIns="0" anchor="t" anchorCtr="0">
            <a:spAutoFit/>
          </a:bodyPr>
          <a:lstStyle/>
          <a:p>
            <a:pPr>
              <a:buClr>
                <a:srgbClr val="C62828"/>
              </a:buClr>
              <a:buSzPts val="1100"/>
            </a:pPr>
            <a:r>
              <a:rPr lang="en-US" sz="2800" b="1" dirty="0">
                <a:solidFill>
                  <a:srgbClr val="C62828"/>
                </a:solidFill>
                <a:latin typeface="Montserrat Bold" panose="00000800000000000000" pitchFamily="2" charset="-93"/>
                <a:ea typeface="Inter"/>
                <a:cs typeface="Inter"/>
                <a:sym typeface="Inter"/>
              </a:rPr>
              <a:t>1.8. Thông </a:t>
            </a:r>
            <a:r>
              <a:rPr lang="en-US" sz="2800" b="1" dirty="0" err="1">
                <a:solidFill>
                  <a:srgbClr val="C62828"/>
                </a:solidFill>
                <a:latin typeface="Montserrat Bold" panose="00000800000000000000" pitchFamily="2" charset="-93"/>
                <a:ea typeface="Inter"/>
                <a:cs typeface="Inter"/>
                <a:sym typeface="Inter"/>
              </a:rPr>
              <a:t>báo</a:t>
            </a:r>
            <a:r>
              <a:rPr lang="en-US" sz="2800" b="1" dirty="0">
                <a:solidFill>
                  <a:srgbClr val="C62828"/>
                </a:solidFill>
                <a:latin typeface="Montserrat Bold" panose="00000800000000000000" pitchFamily="2" charset="-93"/>
                <a:ea typeface="Inter"/>
                <a:cs typeface="Inter"/>
                <a:sym typeface="Inter"/>
              </a:rPr>
              <a:t> </a:t>
            </a:r>
            <a:r>
              <a:rPr lang="en-US" sz="2800" b="1" dirty="0" err="1">
                <a:solidFill>
                  <a:srgbClr val="C62828"/>
                </a:solidFill>
                <a:latin typeface="Montserrat Bold" panose="00000800000000000000" pitchFamily="2" charset="-93"/>
                <a:ea typeface="Inter"/>
                <a:cs typeface="Inter"/>
                <a:sym typeface="Inter"/>
              </a:rPr>
              <a:t>nhắc</a:t>
            </a:r>
            <a:r>
              <a:rPr lang="en-US" sz="2800" b="1" dirty="0">
                <a:solidFill>
                  <a:srgbClr val="C62828"/>
                </a:solidFill>
                <a:latin typeface="Montserrat Bold" panose="00000800000000000000" pitchFamily="2" charset="-93"/>
                <a:ea typeface="Inter"/>
                <a:cs typeface="Inter"/>
                <a:sym typeface="Inter"/>
              </a:rPr>
              <a:t> </a:t>
            </a:r>
            <a:r>
              <a:rPr lang="en-US" sz="2800" b="1" dirty="0" err="1">
                <a:solidFill>
                  <a:srgbClr val="C62828"/>
                </a:solidFill>
                <a:latin typeface="Montserrat Bold" panose="00000800000000000000" pitchFamily="2" charset="-93"/>
                <a:ea typeface="Inter"/>
                <a:cs typeface="Inter"/>
                <a:sym typeface="Inter"/>
              </a:rPr>
              <a:t>học</a:t>
            </a:r>
            <a:endParaRPr sz="2800" dirty="0">
              <a:solidFill>
                <a:schemeClr val="dk1"/>
              </a:solidFill>
              <a:latin typeface="Montserrat Bold" panose="00000800000000000000" pitchFamily="2" charset="-93"/>
              <a:ea typeface="Calibri"/>
              <a:cs typeface="Calibri"/>
              <a:sym typeface="Calibri"/>
            </a:endParaRPr>
          </a:p>
        </p:txBody>
      </p:sp>
      <p:sp>
        <p:nvSpPr>
          <p:cNvPr id="160" name="Google Shape;160;p6"/>
          <p:cNvSpPr/>
          <p:nvPr/>
        </p:nvSpPr>
        <p:spPr>
          <a:xfrm>
            <a:off x="6910350" y="4889450"/>
            <a:ext cx="1456740" cy="787908"/>
          </a:xfrm>
          <a:prstGeom prst="rect">
            <a:avLst/>
          </a:prstGeom>
          <a:noFill/>
          <a:ln>
            <a:noFill/>
          </a:ln>
        </p:spPr>
        <p:txBody>
          <a:bodyPr spcFirstLastPara="1" wrap="square" lIns="0" tIns="0" rIns="0" bIns="0" anchor="t" anchorCtr="0">
            <a:spAutoFit/>
          </a:bodyPr>
          <a:lstStyle/>
          <a:p>
            <a:pPr>
              <a:lnSpc>
                <a:spcPct val="128000"/>
              </a:lnSpc>
              <a:buClr>
                <a:srgbClr val="444444"/>
              </a:buClr>
              <a:buSzPts val="750"/>
            </a:pPr>
            <a:r>
              <a:rPr lang="en-US" sz="2000" b="1" dirty="0" err="1">
                <a:solidFill>
                  <a:srgbClr val="444444"/>
                </a:solidFill>
                <a:ea typeface="Open Sans" panose="020B0606030504020204" pitchFamily="34" charset="0"/>
                <a:cs typeface="Open Sans" panose="020B0606030504020204" pitchFamily="34" charset="0"/>
                <a:sym typeface="Inter"/>
              </a:rPr>
              <a:t>Nhắc</a:t>
            </a:r>
            <a:r>
              <a:rPr lang="en-US" sz="2000" b="1" dirty="0">
                <a:solidFill>
                  <a:srgbClr val="444444"/>
                </a:solidFill>
                <a:ea typeface="Open Sans" panose="020B0606030504020204" pitchFamily="34" charset="0"/>
                <a:cs typeface="Open Sans" panose="020B0606030504020204" pitchFamily="34" charset="0"/>
                <a:sym typeface="Inter"/>
              </a:rPr>
              <a:t> </a:t>
            </a:r>
            <a:r>
              <a:rPr lang="en-US" sz="2000" b="1" dirty="0" err="1">
                <a:solidFill>
                  <a:srgbClr val="444444"/>
                </a:solidFill>
                <a:ea typeface="Open Sans" panose="020B0606030504020204" pitchFamily="34" charset="0"/>
                <a:cs typeface="Open Sans" panose="020B0606030504020204" pitchFamily="34" charset="0"/>
                <a:sym typeface="Inter"/>
              </a:rPr>
              <a:t>học</a:t>
            </a:r>
            <a:r>
              <a:rPr lang="en-US" sz="2000" b="1" dirty="0">
                <a:solidFill>
                  <a:srgbClr val="444444"/>
                </a:solidFill>
                <a:ea typeface="Open Sans" panose="020B0606030504020204" pitchFamily="34" charset="0"/>
                <a:cs typeface="Open Sans" panose="020B0606030504020204" pitchFamily="34" charset="0"/>
                <a:sym typeface="Inter"/>
              </a:rPr>
              <a:t> </a:t>
            </a:r>
            <a:r>
              <a:rPr lang="en-US" sz="2000" b="1" dirty="0" err="1">
                <a:solidFill>
                  <a:srgbClr val="444444"/>
                </a:solidFill>
                <a:ea typeface="Open Sans" panose="020B0606030504020204" pitchFamily="34" charset="0"/>
                <a:cs typeface="Open Sans" panose="020B0606030504020204" pitchFamily="34" charset="0"/>
                <a:sym typeface="Inter"/>
              </a:rPr>
              <a:t>hàng</a:t>
            </a:r>
            <a:r>
              <a:rPr lang="en-US" sz="2000" b="1" dirty="0">
                <a:solidFill>
                  <a:srgbClr val="444444"/>
                </a:solidFill>
                <a:ea typeface="Open Sans" panose="020B0606030504020204" pitchFamily="34" charset="0"/>
                <a:cs typeface="Open Sans" panose="020B0606030504020204" pitchFamily="34" charset="0"/>
                <a:sym typeface="Inter"/>
              </a:rPr>
              <a:t> </a:t>
            </a:r>
            <a:r>
              <a:rPr lang="en-US" sz="2000" b="1" dirty="0" err="1">
                <a:solidFill>
                  <a:srgbClr val="444444"/>
                </a:solidFill>
                <a:ea typeface="Open Sans" panose="020B0606030504020204" pitchFamily="34" charset="0"/>
                <a:cs typeface="Open Sans" panose="020B0606030504020204" pitchFamily="34" charset="0"/>
                <a:sym typeface="Inter"/>
              </a:rPr>
              <a:t>ngày</a:t>
            </a:r>
            <a:r>
              <a:rPr lang="en-US" sz="2000" b="1" dirty="0">
                <a:solidFill>
                  <a:srgbClr val="444444"/>
                </a:solidFill>
                <a:ea typeface="Open Sans" panose="020B0606030504020204" pitchFamily="34" charset="0"/>
                <a:cs typeface="Open Sans" panose="020B0606030504020204" pitchFamily="34" charset="0"/>
                <a:sym typeface="Inter"/>
              </a:rPr>
              <a:t>:</a:t>
            </a:r>
            <a:endParaRPr sz="2000" dirty="0">
              <a:solidFill>
                <a:schemeClr val="dk1"/>
              </a:solidFill>
              <a:ea typeface="Open Sans" panose="020B0606030504020204" pitchFamily="34" charset="0"/>
              <a:cs typeface="Open Sans" panose="020B0606030504020204" pitchFamily="34" charset="0"/>
              <a:sym typeface="Calibri"/>
            </a:endParaRPr>
          </a:p>
        </p:txBody>
      </p:sp>
      <p:sp>
        <p:nvSpPr>
          <p:cNvPr id="161" name="Google Shape;161;p6"/>
          <p:cNvSpPr/>
          <p:nvPr/>
        </p:nvSpPr>
        <p:spPr>
          <a:xfrm>
            <a:off x="8189640" y="4889450"/>
            <a:ext cx="4203452" cy="787908"/>
          </a:xfrm>
          <a:prstGeom prst="rect">
            <a:avLst/>
          </a:prstGeom>
          <a:noFill/>
          <a:ln>
            <a:noFill/>
          </a:ln>
        </p:spPr>
        <p:txBody>
          <a:bodyPr spcFirstLastPara="1" wrap="square" lIns="0" tIns="0" rIns="0" bIns="0" anchor="t" anchorCtr="0">
            <a:spAutoFit/>
          </a:bodyPr>
          <a:lstStyle/>
          <a:p>
            <a:pPr>
              <a:lnSpc>
                <a:spcPct val="128000"/>
              </a:lnSpc>
              <a:buClr>
                <a:srgbClr val="444444"/>
              </a:buClr>
              <a:buSzPts val="800"/>
            </a:pPr>
            <a:r>
              <a:rPr lang="en-US" sz="2000" dirty="0" err="1">
                <a:solidFill>
                  <a:srgbClr val="444444"/>
                </a:solidFill>
                <a:ea typeface="Open Sans" panose="020B0606030504020204" pitchFamily="34" charset="0"/>
                <a:cs typeface="Open Sans" panose="020B0606030504020204" pitchFamily="34" charset="0"/>
                <a:sym typeface="Inter"/>
              </a:rPr>
              <a:t>Xây</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dựng</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thói</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quen</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học</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tập</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đều</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đặn</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thông</a:t>
            </a:r>
            <a:r>
              <a:rPr lang="en-US" sz="2000" dirty="0">
                <a:solidFill>
                  <a:srgbClr val="444444"/>
                </a:solidFill>
                <a:ea typeface="Open Sans" panose="020B0606030504020204" pitchFamily="34" charset="0"/>
                <a:cs typeface="Open Sans" panose="020B0606030504020204" pitchFamily="34" charset="0"/>
                <a:sym typeface="Inter"/>
              </a:rPr>
              <a:t> qua </a:t>
            </a:r>
            <a:r>
              <a:rPr lang="en-US" sz="2000" dirty="0" err="1">
                <a:solidFill>
                  <a:srgbClr val="444444"/>
                </a:solidFill>
                <a:ea typeface="Open Sans" panose="020B0606030504020204" pitchFamily="34" charset="0"/>
                <a:cs typeface="Open Sans" panose="020B0606030504020204" pitchFamily="34" charset="0"/>
                <a:sym typeface="Inter"/>
              </a:rPr>
              <a:t>thông</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báo</a:t>
            </a:r>
            <a:r>
              <a:rPr lang="en-US" sz="2000" dirty="0">
                <a:solidFill>
                  <a:srgbClr val="444444"/>
                </a:solidFill>
                <a:ea typeface="Open Sans" panose="020B0606030504020204" pitchFamily="34" charset="0"/>
                <a:cs typeface="Open Sans" panose="020B0606030504020204" pitchFamily="34" charset="0"/>
                <a:sym typeface="Inter"/>
              </a:rPr>
              <a:t>.</a:t>
            </a:r>
            <a:endParaRPr sz="2000" dirty="0">
              <a:solidFill>
                <a:schemeClr val="dk1"/>
              </a:solidFill>
              <a:ea typeface="Open Sans" panose="020B0606030504020204" pitchFamily="34" charset="0"/>
              <a:cs typeface="Open Sans" panose="020B0606030504020204" pitchFamily="34" charset="0"/>
              <a:sym typeface="Calibri"/>
            </a:endParaRPr>
          </a:p>
        </p:txBody>
      </p:sp>
      <p:sp>
        <p:nvSpPr>
          <p:cNvPr id="162" name="Google Shape;162;p6"/>
          <p:cNvSpPr/>
          <p:nvPr/>
        </p:nvSpPr>
        <p:spPr>
          <a:xfrm>
            <a:off x="6910349" y="5789562"/>
            <a:ext cx="1456742" cy="787908"/>
          </a:xfrm>
          <a:prstGeom prst="rect">
            <a:avLst/>
          </a:prstGeom>
          <a:noFill/>
          <a:ln>
            <a:noFill/>
          </a:ln>
        </p:spPr>
        <p:txBody>
          <a:bodyPr spcFirstLastPara="1" wrap="square" lIns="0" tIns="0" rIns="0" bIns="0" anchor="t" anchorCtr="0">
            <a:spAutoFit/>
          </a:bodyPr>
          <a:lstStyle/>
          <a:p>
            <a:pPr>
              <a:lnSpc>
                <a:spcPct val="128000"/>
              </a:lnSpc>
              <a:buClr>
                <a:srgbClr val="444444"/>
              </a:buClr>
              <a:buSzPts val="750"/>
            </a:pPr>
            <a:r>
              <a:rPr lang="en-US" sz="2000" b="1" dirty="0" err="1">
                <a:solidFill>
                  <a:srgbClr val="444444"/>
                </a:solidFill>
                <a:ea typeface="Open Sans" panose="020B0606030504020204" pitchFamily="34" charset="0"/>
                <a:cs typeface="Open Sans" panose="020B0606030504020204" pitchFamily="34" charset="0"/>
                <a:sym typeface="Inter"/>
              </a:rPr>
              <a:t>Tùy</a:t>
            </a:r>
            <a:r>
              <a:rPr lang="en-US" sz="2000" b="1" dirty="0">
                <a:solidFill>
                  <a:srgbClr val="444444"/>
                </a:solidFill>
                <a:ea typeface="Open Sans" panose="020B0606030504020204" pitchFamily="34" charset="0"/>
                <a:cs typeface="Open Sans" panose="020B0606030504020204" pitchFamily="34" charset="0"/>
                <a:sym typeface="Inter"/>
              </a:rPr>
              <a:t> </a:t>
            </a:r>
            <a:r>
              <a:rPr lang="en-US" sz="2000" b="1" dirty="0" err="1">
                <a:solidFill>
                  <a:srgbClr val="444444"/>
                </a:solidFill>
                <a:ea typeface="Open Sans" panose="020B0606030504020204" pitchFamily="34" charset="0"/>
                <a:cs typeface="Open Sans" panose="020B0606030504020204" pitchFamily="34" charset="0"/>
                <a:sym typeface="Inter"/>
              </a:rPr>
              <a:t>chỉnh</a:t>
            </a:r>
            <a:r>
              <a:rPr lang="en-US" sz="2000" b="1" dirty="0">
                <a:solidFill>
                  <a:srgbClr val="444444"/>
                </a:solidFill>
                <a:ea typeface="Open Sans" panose="020B0606030504020204" pitchFamily="34" charset="0"/>
                <a:cs typeface="Open Sans" panose="020B0606030504020204" pitchFamily="34" charset="0"/>
                <a:sym typeface="Inter"/>
              </a:rPr>
              <a:t> </a:t>
            </a:r>
            <a:r>
              <a:rPr lang="en-US" sz="2000" b="1" dirty="0" err="1">
                <a:solidFill>
                  <a:srgbClr val="444444"/>
                </a:solidFill>
                <a:ea typeface="Open Sans" panose="020B0606030504020204" pitchFamily="34" charset="0"/>
                <a:cs typeface="Open Sans" panose="020B0606030504020204" pitchFamily="34" charset="0"/>
                <a:sym typeface="Inter"/>
              </a:rPr>
              <a:t>thời</a:t>
            </a:r>
            <a:r>
              <a:rPr lang="en-US" sz="2000" b="1" dirty="0">
                <a:solidFill>
                  <a:srgbClr val="444444"/>
                </a:solidFill>
                <a:ea typeface="Open Sans" panose="020B0606030504020204" pitchFamily="34" charset="0"/>
                <a:cs typeface="Open Sans" panose="020B0606030504020204" pitchFamily="34" charset="0"/>
                <a:sym typeface="Inter"/>
              </a:rPr>
              <a:t> </a:t>
            </a:r>
            <a:r>
              <a:rPr lang="en-US" sz="2000" b="1" dirty="0" err="1">
                <a:solidFill>
                  <a:srgbClr val="444444"/>
                </a:solidFill>
                <a:ea typeface="Open Sans" panose="020B0606030504020204" pitchFamily="34" charset="0"/>
                <a:cs typeface="Open Sans" panose="020B0606030504020204" pitchFamily="34" charset="0"/>
                <a:sym typeface="Inter"/>
              </a:rPr>
              <a:t>gian</a:t>
            </a:r>
            <a:r>
              <a:rPr lang="en-US" sz="2000" b="1" dirty="0">
                <a:solidFill>
                  <a:srgbClr val="444444"/>
                </a:solidFill>
                <a:ea typeface="Open Sans" panose="020B0606030504020204" pitchFamily="34" charset="0"/>
                <a:cs typeface="Open Sans" panose="020B0606030504020204" pitchFamily="34" charset="0"/>
                <a:sym typeface="Inter"/>
              </a:rPr>
              <a:t>:</a:t>
            </a:r>
            <a:endParaRPr sz="2000" dirty="0">
              <a:solidFill>
                <a:schemeClr val="dk1"/>
              </a:solidFill>
              <a:ea typeface="Open Sans" panose="020B0606030504020204" pitchFamily="34" charset="0"/>
              <a:cs typeface="Open Sans" panose="020B0606030504020204" pitchFamily="34" charset="0"/>
              <a:sym typeface="Calibri"/>
            </a:endParaRPr>
          </a:p>
        </p:txBody>
      </p:sp>
      <p:sp>
        <p:nvSpPr>
          <p:cNvPr id="163" name="Google Shape;163;p6"/>
          <p:cNvSpPr/>
          <p:nvPr/>
        </p:nvSpPr>
        <p:spPr>
          <a:xfrm>
            <a:off x="8189635" y="5774306"/>
            <a:ext cx="4314090" cy="787908"/>
          </a:xfrm>
          <a:prstGeom prst="rect">
            <a:avLst/>
          </a:prstGeom>
          <a:noFill/>
          <a:ln>
            <a:noFill/>
          </a:ln>
        </p:spPr>
        <p:txBody>
          <a:bodyPr spcFirstLastPara="1" wrap="square" lIns="0" tIns="0" rIns="0" bIns="0" anchor="t" anchorCtr="0">
            <a:spAutoFit/>
          </a:bodyPr>
          <a:lstStyle/>
          <a:p>
            <a:pPr>
              <a:lnSpc>
                <a:spcPct val="128000"/>
              </a:lnSpc>
              <a:buClr>
                <a:srgbClr val="444444"/>
              </a:buClr>
              <a:buSzPts val="800"/>
            </a:pPr>
            <a:r>
              <a:rPr lang="en-US" sz="2000" dirty="0" err="1">
                <a:solidFill>
                  <a:srgbClr val="444444"/>
                </a:solidFill>
                <a:ea typeface="Open Sans" panose="020B0606030504020204" pitchFamily="34" charset="0"/>
                <a:cs typeface="Open Sans" panose="020B0606030504020204" pitchFamily="34" charset="0"/>
                <a:sym typeface="Inter"/>
              </a:rPr>
              <a:t>Người</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dùng</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chủ</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động</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thiết</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lập</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giờ</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nhận</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thông</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báo</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phù</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hợp</a:t>
            </a:r>
            <a:r>
              <a:rPr lang="en-US" sz="2000" dirty="0">
                <a:solidFill>
                  <a:srgbClr val="444444"/>
                </a:solidFill>
                <a:ea typeface="Open Sans" panose="020B0606030504020204" pitchFamily="34" charset="0"/>
                <a:cs typeface="Open Sans" panose="020B0606030504020204" pitchFamily="34" charset="0"/>
                <a:sym typeface="Inter"/>
              </a:rPr>
              <a:t>.</a:t>
            </a:r>
            <a:endParaRPr sz="2000" dirty="0">
              <a:solidFill>
                <a:schemeClr val="dk1"/>
              </a:solidFill>
              <a:ea typeface="Open Sans" panose="020B0606030504020204" pitchFamily="34" charset="0"/>
              <a:cs typeface="Open Sans" panose="020B0606030504020204" pitchFamily="34" charset="0"/>
              <a:sym typeface="Calibri"/>
            </a:endParaRPr>
          </a:p>
        </p:txBody>
      </p:sp>
      <p:sp>
        <p:nvSpPr>
          <p:cNvPr id="164" name="Google Shape;164;p6"/>
          <p:cNvSpPr/>
          <p:nvPr/>
        </p:nvSpPr>
        <p:spPr>
          <a:xfrm>
            <a:off x="6933068" y="6722895"/>
            <a:ext cx="6068416" cy="307777"/>
          </a:xfrm>
          <a:prstGeom prst="rect">
            <a:avLst/>
          </a:prstGeom>
          <a:noFill/>
          <a:ln>
            <a:noFill/>
          </a:ln>
        </p:spPr>
        <p:txBody>
          <a:bodyPr spcFirstLastPara="1" wrap="square" lIns="0" tIns="0" rIns="0" bIns="0" anchor="t" anchorCtr="0">
            <a:spAutoFit/>
          </a:bodyPr>
          <a:lstStyle/>
          <a:p>
            <a:pPr>
              <a:buClr>
                <a:srgbClr val="999999"/>
              </a:buClr>
              <a:buSzPts val="600"/>
            </a:pPr>
            <a:r>
              <a:rPr lang="en-US" sz="2000" b="1" dirty="0">
                <a:solidFill>
                  <a:srgbClr val="999999"/>
                </a:solidFill>
                <a:ea typeface="Open Sans" panose="020B0606030504020204" pitchFamily="34" charset="0"/>
                <a:cs typeface="Open Sans" panose="020B0606030504020204" pitchFamily="34" charset="0"/>
                <a:sym typeface="Inter"/>
              </a:rPr>
              <a:t>POWERED BY </a:t>
            </a:r>
            <a:r>
              <a:rPr lang="en-US" sz="2000" b="1" dirty="0" err="1">
                <a:solidFill>
                  <a:srgbClr val="999999"/>
                </a:solidFill>
                <a:ea typeface="Open Sans" panose="020B0606030504020204" pitchFamily="34" charset="0"/>
                <a:cs typeface="Open Sans" panose="020B0606030504020204" pitchFamily="34" charset="0"/>
                <a:sym typeface="Inter"/>
              </a:rPr>
              <a:t>WORKMANAGER</a:t>
            </a:r>
            <a:endParaRPr sz="2000" b="1" dirty="0">
              <a:solidFill>
                <a:schemeClr val="dk1"/>
              </a:solidFill>
              <a:ea typeface="Open Sans" panose="020B0606030504020204" pitchFamily="34" charset="0"/>
              <a:cs typeface="Open Sans" panose="020B0606030504020204" pitchFamily="34" charset="0"/>
              <a:sym typeface="Calibri"/>
            </a:endParaRPr>
          </a:p>
        </p:txBody>
      </p:sp>
      <p:pic>
        <p:nvPicPr>
          <p:cNvPr id="165" name="Google Shape;165;p6" descr="preencoded.png"/>
          <p:cNvPicPr preferRelativeResize="0"/>
          <p:nvPr/>
        </p:nvPicPr>
        <p:blipFill rotWithShape="1">
          <a:blip r:embed="rId6">
            <a:alphaModFix/>
          </a:blip>
          <a:srcRect/>
          <a:stretch/>
        </p:blipFill>
        <p:spPr>
          <a:xfrm>
            <a:off x="12277705" y="4331999"/>
            <a:ext cx="385110" cy="314326"/>
          </a:xfrm>
          <a:prstGeom prst="rect">
            <a:avLst/>
          </a:prstGeom>
          <a:noFill/>
          <a:ln>
            <a:noFill/>
          </a:ln>
        </p:spPr>
      </p:pic>
      <p:sp>
        <p:nvSpPr>
          <p:cNvPr id="166" name="Google Shape;166;p6"/>
          <p:cNvSpPr/>
          <p:nvPr/>
        </p:nvSpPr>
        <p:spPr>
          <a:xfrm>
            <a:off x="12833184" y="4287081"/>
            <a:ext cx="4377112" cy="430887"/>
          </a:xfrm>
          <a:prstGeom prst="rect">
            <a:avLst/>
          </a:prstGeom>
          <a:noFill/>
          <a:ln>
            <a:noFill/>
          </a:ln>
        </p:spPr>
        <p:txBody>
          <a:bodyPr spcFirstLastPara="1" wrap="square" lIns="0" tIns="0" rIns="0" bIns="0" anchor="t" anchorCtr="0">
            <a:spAutoFit/>
          </a:bodyPr>
          <a:lstStyle/>
          <a:p>
            <a:pPr>
              <a:buClr>
                <a:srgbClr val="C62828"/>
              </a:buClr>
              <a:buSzPts val="1100"/>
            </a:pPr>
            <a:r>
              <a:rPr lang="en-US" sz="2800" b="1" dirty="0">
                <a:solidFill>
                  <a:srgbClr val="C62828"/>
                </a:solidFill>
                <a:latin typeface="Montserrat Bold" panose="00000800000000000000" pitchFamily="2" charset="-93"/>
                <a:ea typeface="Inter"/>
                <a:cs typeface="Inter"/>
                <a:sym typeface="Inter"/>
              </a:rPr>
              <a:t>1.9. </a:t>
            </a:r>
            <a:r>
              <a:rPr lang="en-US" sz="2800" b="1" dirty="0" err="1">
                <a:solidFill>
                  <a:srgbClr val="C62828"/>
                </a:solidFill>
                <a:latin typeface="Montserrat Bold" panose="00000800000000000000" pitchFamily="2" charset="-93"/>
                <a:ea typeface="Inter"/>
                <a:cs typeface="Inter"/>
                <a:sym typeface="Inter"/>
              </a:rPr>
              <a:t>Đồng</a:t>
            </a:r>
            <a:r>
              <a:rPr lang="en-US" sz="2800" b="1" dirty="0">
                <a:solidFill>
                  <a:srgbClr val="C62828"/>
                </a:solidFill>
                <a:latin typeface="Montserrat Bold" panose="00000800000000000000" pitchFamily="2" charset="-93"/>
                <a:ea typeface="Inter"/>
                <a:cs typeface="Inter"/>
                <a:sym typeface="Inter"/>
              </a:rPr>
              <a:t> </a:t>
            </a:r>
            <a:r>
              <a:rPr lang="en-US" sz="2800" b="1" dirty="0" err="1">
                <a:solidFill>
                  <a:srgbClr val="C62828"/>
                </a:solidFill>
                <a:latin typeface="Montserrat Bold" panose="00000800000000000000" pitchFamily="2" charset="-93"/>
                <a:ea typeface="Inter"/>
                <a:cs typeface="Inter"/>
                <a:sym typeface="Inter"/>
              </a:rPr>
              <a:t>bộ</a:t>
            </a:r>
            <a:r>
              <a:rPr lang="en-US" sz="2800" b="1" dirty="0">
                <a:solidFill>
                  <a:srgbClr val="C62828"/>
                </a:solidFill>
                <a:latin typeface="Montserrat Bold" panose="00000800000000000000" pitchFamily="2" charset="-93"/>
                <a:ea typeface="Inter"/>
                <a:cs typeface="Inter"/>
                <a:sym typeface="Inter"/>
              </a:rPr>
              <a:t> </a:t>
            </a:r>
            <a:r>
              <a:rPr lang="en-US" sz="2800" b="1" dirty="0" err="1">
                <a:solidFill>
                  <a:srgbClr val="C62828"/>
                </a:solidFill>
                <a:latin typeface="Montserrat Bold" panose="00000800000000000000" pitchFamily="2" charset="-93"/>
                <a:ea typeface="Inter"/>
                <a:cs typeface="Inter"/>
                <a:sym typeface="Inter"/>
              </a:rPr>
              <a:t>dữ</a:t>
            </a:r>
            <a:r>
              <a:rPr lang="en-US" sz="2800" b="1" dirty="0">
                <a:solidFill>
                  <a:srgbClr val="C62828"/>
                </a:solidFill>
                <a:latin typeface="Montserrat Bold" panose="00000800000000000000" pitchFamily="2" charset="-93"/>
                <a:ea typeface="Inter"/>
                <a:cs typeface="Inter"/>
                <a:sym typeface="Inter"/>
              </a:rPr>
              <a:t> </a:t>
            </a:r>
            <a:r>
              <a:rPr lang="en-US" sz="2800" b="1" dirty="0" err="1">
                <a:solidFill>
                  <a:srgbClr val="C62828"/>
                </a:solidFill>
                <a:latin typeface="Montserrat Bold" panose="00000800000000000000" pitchFamily="2" charset="-93"/>
                <a:ea typeface="Inter"/>
                <a:cs typeface="Inter"/>
                <a:sym typeface="Inter"/>
              </a:rPr>
              <a:t>liệu</a:t>
            </a:r>
            <a:endParaRPr sz="2800" dirty="0">
              <a:solidFill>
                <a:schemeClr val="dk1"/>
              </a:solidFill>
              <a:latin typeface="Montserrat Bold" panose="00000800000000000000" pitchFamily="2" charset="-93"/>
              <a:ea typeface="Calibri"/>
              <a:cs typeface="Calibri"/>
              <a:sym typeface="Calibri"/>
            </a:endParaRPr>
          </a:p>
        </p:txBody>
      </p:sp>
      <p:sp>
        <p:nvSpPr>
          <p:cNvPr id="167" name="Google Shape;167;p6"/>
          <p:cNvSpPr/>
          <p:nvPr/>
        </p:nvSpPr>
        <p:spPr>
          <a:xfrm>
            <a:off x="12434870" y="4889450"/>
            <a:ext cx="1136448" cy="1181862"/>
          </a:xfrm>
          <a:prstGeom prst="rect">
            <a:avLst/>
          </a:prstGeom>
          <a:noFill/>
          <a:ln>
            <a:noFill/>
          </a:ln>
        </p:spPr>
        <p:txBody>
          <a:bodyPr spcFirstLastPara="1" wrap="square" lIns="0" tIns="0" rIns="0" bIns="0" anchor="t" anchorCtr="0">
            <a:spAutoFit/>
          </a:bodyPr>
          <a:lstStyle/>
          <a:p>
            <a:pPr>
              <a:lnSpc>
                <a:spcPct val="128000"/>
              </a:lnSpc>
              <a:buClr>
                <a:srgbClr val="444444"/>
              </a:buClr>
              <a:buSzPts val="750"/>
            </a:pPr>
            <a:r>
              <a:rPr lang="en-US" sz="2000" b="1" dirty="0" err="1">
                <a:solidFill>
                  <a:srgbClr val="444444"/>
                </a:solidFill>
                <a:ea typeface="Open Sans" panose="020B0606030504020204" pitchFamily="34" charset="0"/>
                <a:cs typeface="Open Sans" panose="020B0606030504020204" pitchFamily="34" charset="0"/>
                <a:sym typeface="Inter"/>
              </a:rPr>
              <a:t>Cơ</a:t>
            </a:r>
            <a:r>
              <a:rPr lang="en-US" sz="2000" b="1" dirty="0">
                <a:solidFill>
                  <a:srgbClr val="444444"/>
                </a:solidFill>
                <a:ea typeface="Open Sans" panose="020B0606030504020204" pitchFamily="34" charset="0"/>
                <a:cs typeface="Open Sans" panose="020B0606030504020204" pitchFamily="34" charset="0"/>
                <a:sym typeface="Inter"/>
              </a:rPr>
              <a:t> </a:t>
            </a:r>
            <a:r>
              <a:rPr lang="en-US" sz="2000" b="1" dirty="0" err="1">
                <a:solidFill>
                  <a:srgbClr val="444444"/>
                </a:solidFill>
                <a:ea typeface="Open Sans" panose="020B0606030504020204" pitchFamily="34" charset="0"/>
                <a:cs typeface="Open Sans" panose="020B0606030504020204" pitchFamily="34" charset="0"/>
                <a:sym typeface="Inter"/>
              </a:rPr>
              <a:t>chế</a:t>
            </a:r>
            <a:r>
              <a:rPr lang="en-US" sz="2000" b="1" dirty="0">
                <a:solidFill>
                  <a:srgbClr val="444444"/>
                </a:solidFill>
                <a:ea typeface="Open Sans" panose="020B0606030504020204" pitchFamily="34" charset="0"/>
                <a:cs typeface="Open Sans" panose="020B0606030504020204" pitchFamily="34" charset="0"/>
                <a:sym typeface="Inter"/>
              </a:rPr>
              <a:t> Offline-first:</a:t>
            </a:r>
            <a:endParaRPr sz="2000" dirty="0">
              <a:solidFill>
                <a:schemeClr val="dk1"/>
              </a:solidFill>
              <a:ea typeface="Open Sans" panose="020B0606030504020204" pitchFamily="34" charset="0"/>
              <a:cs typeface="Open Sans" panose="020B0606030504020204" pitchFamily="34" charset="0"/>
              <a:sym typeface="Calibri"/>
            </a:endParaRPr>
          </a:p>
        </p:txBody>
      </p:sp>
      <p:sp>
        <p:nvSpPr>
          <p:cNvPr id="168" name="Google Shape;168;p6"/>
          <p:cNvSpPr/>
          <p:nvPr/>
        </p:nvSpPr>
        <p:spPr>
          <a:xfrm>
            <a:off x="13568103" y="4889450"/>
            <a:ext cx="4382330" cy="787908"/>
          </a:xfrm>
          <a:prstGeom prst="rect">
            <a:avLst/>
          </a:prstGeom>
          <a:noFill/>
          <a:ln>
            <a:noFill/>
          </a:ln>
        </p:spPr>
        <p:txBody>
          <a:bodyPr spcFirstLastPara="1" wrap="square" lIns="0" tIns="0" rIns="0" bIns="0" anchor="t" anchorCtr="0">
            <a:spAutoFit/>
          </a:bodyPr>
          <a:lstStyle/>
          <a:p>
            <a:pPr>
              <a:lnSpc>
                <a:spcPct val="128000"/>
              </a:lnSpc>
              <a:buClr>
                <a:srgbClr val="444444"/>
              </a:buClr>
              <a:buSzPts val="800"/>
            </a:pPr>
            <a:r>
              <a:rPr lang="en-US" sz="2000" dirty="0" err="1">
                <a:solidFill>
                  <a:srgbClr val="444444"/>
                </a:solidFill>
                <a:ea typeface="Open Sans" panose="020B0606030504020204" pitchFamily="34" charset="0"/>
                <a:cs typeface="Open Sans" panose="020B0606030504020204" pitchFamily="34" charset="0"/>
                <a:sym typeface="Inter"/>
              </a:rPr>
              <a:t>Sử</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dụng</a:t>
            </a:r>
            <a:r>
              <a:rPr lang="en-US" sz="2000" dirty="0">
                <a:solidFill>
                  <a:srgbClr val="444444"/>
                </a:solidFill>
                <a:ea typeface="Open Sans" panose="020B0606030504020204" pitchFamily="34" charset="0"/>
                <a:cs typeface="Open Sans" panose="020B0606030504020204" pitchFamily="34" charset="0"/>
                <a:sym typeface="Inter"/>
              </a:rPr>
              <a:t> Room Database </a:t>
            </a:r>
            <a:r>
              <a:rPr lang="en-US" sz="2000" dirty="0" err="1">
                <a:solidFill>
                  <a:srgbClr val="444444"/>
                </a:solidFill>
                <a:ea typeface="Open Sans" panose="020B0606030504020204" pitchFamily="34" charset="0"/>
                <a:cs typeface="Open Sans" panose="020B0606030504020204" pitchFamily="34" charset="0"/>
                <a:sym typeface="Inter"/>
              </a:rPr>
              <a:t>để</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học</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tập</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ngay</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cả</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khi</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không</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có</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mạng</a:t>
            </a:r>
            <a:r>
              <a:rPr lang="en-US" sz="2000" dirty="0">
                <a:solidFill>
                  <a:srgbClr val="444444"/>
                </a:solidFill>
                <a:ea typeface="Open Sans" panose="020B0606030504020204" pitchFamily="34" charset="0"/>
                <a:cs typeface="Open Sans" panose="020B0606030504020204" pitchFamily="34" charset="0"/>
                <a:sym typeface="Inter"/>
              </a:rPr>
              <a:t>.</a:t>
            </a:r>
            <a:endParaRPr sz="2000" dirty="0">
              <a:solidFill>
                <a:schemeClr val="dk1"/>
              </a:solidFill>
              <a:ea typeface="Open Sans" panose="020B0606030504020204" pitchFamily="34" charset="0"/>
              <a:cs typeface="Open Sans" panose="020B0606030504020204" pitchFamily="34" charset="0"/>
              <a:sym typeface="Calibri"/>
            </a:endParaRPr>
          </a:p>
        </p:txBody>
      </p:sp>
      <p:sp>
        <p:nvSpPr>
          <p:cNvPr id="169" name="Google Shape;169;p6"/>
          <p:cNvSpPr/>
          <p:nvPr/>
        </p:nvSpPr>
        <p:spPr>
          <a:xfrm>
            <a:off x="12434868" y="6156246"/>
            <a:ext cx="1078512" cy="787908"/>
          </a:xfrm>
          <a:prstGeom prst="rect">
            <a:avLst/>
          </a:prstGeom>
          <a:noFill/>
          <a:ln>
            <a:noFill/>
          </a:ln>
        </p:spPr>
        <p:txBody>
          <a:bodyPr spcFirstLastPara="1" wrap="square" lIns="0" tIns="0" rIns="0" bIns="0" anchor="t" anchorCtr="0">
            <a:spAutoFit/>
          </a:bodyPr>
          <a:lstStyle/>
          <a:p>
            <a:pPr>
              <a:lnSpc>
                <a:spcPct val="128000"/>
              </a:lnSpc>
              <a:buClr>
                <a:srgbClr val="444444"/>
              </a:buClr>
              <a:buSzPts val="750"/>
            </a:pPr>
            <a:r>
              <a:rPr lang="en-US" sz="2000" b="1" dirty="0">
                <a:solidFill>
                  <a:srgbClr val="444444"/>
                </a:solidFill>
                <a:ea typeface="Open Sans" panose="020B0606030504020204" pitchFamily="34" charset="0"/>
                <a:cs typeface="Open Sans" panose="020B0606030504020204" pitchFamily="34" charset="0"/>
                <a:sym typeface="Inter"/>
              </a:rPr>
              <a:t>Cloud Sync:</a:t>
            </a:r>
            <a:endParaRPr sz="2000" dirty="0">
              <a:solidFill>
                <a:schemeClr val="dk1"/>
              </a:solidFill>
              <a:ea typeface="Open Sans" panose="020B0606030504020204" pitchFamily="34" charset="0"/>
              <a:cs typeface="Open Sans" panose="020B0606030504020204" pitchFamily="34" charset="0"/>
              <a:sym typeface="Calibri"/>
            </a:endParaRPr>
          </a:p>
        </p:txBody>
      </p:sp>
      <p:sp>
        <p:nvSpPr>
          <p:cNvPr id="170" name="Google Shape;170;p6"/>
          <p:cNvSpPr/>
          <p:nvPr/>
        </p:nvSpPr>
        <p:spPr>
          <a:xfrm>
            <a:off x="13568101" y="6148296"/>
            <a:ext cx="4774622" cy="787908"/>
          </a:xfrm>
          <a:prstGeom prst="rect">
            <a:avLst/>
          </a:prstGeom>
          <a:noFill/>
          <a:ln>
            <a:noFill/>
          </a:ln>
        </p:spPr>
        <p:txBody>
          <a:bodyPr spcFirstLastPara="1" wrap="square" lIns="0" tIns="0" rIns="0" bIns="0" anchor="t" anchorCtr="0">
            <a:spAutoFit/>
          </a:bodyPr>
          <a:lstStyle/>
          <a:p>
            <a:pPr>
              <a:lnSpc>
                <a:spcPct val="128000"/>
              </a:lnSpc>
              <a:buClr>
                <a:srgbClr val="444444"/>
              </a:buClr>
              <a:buSzPts val="800"/>
            </a:pPr>
            <a:r>
              <a:rPr lang="en-US" sz="2000" dirty="0" err="1">
                <a:solidFill>
                  <a:srgbClr val="444444"/>
                </a:solidFill>
                <a:ea typeface="Open Sans" panose="020B0606030504020204" pitchFamily="34" charset="0"/>
                <a:cs typeface="Open Sans" panose="020B0606030504020204" pitchFamily="34" charset="0"/>
                <a:sym typeface="Inter"/>
              </a:rPr>
              <a:t>Tự</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động</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đồng</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bộ</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với</a:t>
            </a:r>
            <a:r>
              <a:rPr lang="en-US" sz="2000" dirty="0">
                <a:solidFill>
                  <a:srgbClr val="444444"/>
                </a:solidFill>
                <a:ea typeface="Open Sans" panose="020B0606030504020204" pitchFamily="34" charset="0"/>
                <a:cs typeface="Open Sans" panose="020B0606030504020204" pitchFamily="34" charset="0"/>
                <a:sym typeface="Inter"/>
              </a:rPr>
              <a:t> Cloud </a:t>
            </a:r>
            <a:r>
              <a:rPr lang="en-US" sz="2000" dirty="0" err="1">
                <a:solidFill>
                  <a:srgbClr val="444444"/>
                </a:solidFill>
                <a:ea typeface="Open Sans" panose="020B0606030504020204" pitchFamily="34" charset="0"/>
                <a:cs typeface="Open Sans" panose="020B0606030504020204" pitchFamily="34" charset="0"/>
                <a:sym typeface="Inter"/>
              </a:rPr>
              <a:t>Firestore</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khi</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có</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kết</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nối</a:t>
            </a:r>
            <a:r>
              <a:rPr lang="en-US" sz="2000" dirty="0">
                <a:solidFill>
                  <a:srgbClr val="444444"/>
                </a:solidFill>
                <a:ea typeface="Open Sans" panose="020B0606030504020204" pitchFamily="34" charset="0"/>
                <a:cs typeface="Open Sans" panose="020B0606030504020204" pitchFamily="34" charset="0"/>
                <a:sym typeface="Inter"/>
              </a:rPr>
              <a:t> Internet.</a:t>
            </a:r>
            <a:endParaRPr sz="2000" dirty="0">
              <a:solidFill>
                <a:schemeClr val="dk1"/>
              </a:solidFill>
              <a:ea typeface="Open Sans" panose="020B0606030504020204" pitchFamily="34" charset="0"/>
              <a:cs typeface="Open Sans" panose="020B0606030504020204" pitchFamily="34" charset="0"/>
              <a:sym typeface="Calibri"/>
            </a:endParaRPr>
          </a:p>
        </p:txBody>
      </p:sp>
      <p:sp>
        <p:nvSpPr>
          <p:cNvPr id="171" name="Google Shape;171;p6"/>
          <p:cNvSpPr/>
          <p:nvPr/>
        </p:nvSpPr>
        <p:spPr>
          <a:xfrm>
            <a:off x="12434869" y="7032576"/>
            <a:ext cx="1113810" cy="787908"/>
          </a:xfrm>
          <a:prstGeom prst="rect">
            <a:avLst/>
          </a:prstGeom>
          <a:noFill/>
          <a:ln>
            <a:noFill/>
          </a:ln>
        </p:spPr>
        <p:txBody>
          <a:bodyPr spcFirstLastPara="1" wrap="square" lIns="0" tIns="0" rIns="0" bIns="0" anchor="t" anchorCtr="0">
            <a:spAutoFit/>
          </a:bodyPr>
          <a:lstStyle/>
          <a:p>
            <a:pPr>
              <a:lnSpc>
                <a:spcPct val="128000"/>
              </a:lnSpc>
              <a:buClr>
                <a:srgbClr val="444444"/>
              </a:buClr>
              <a:buSzPts val="750"/>
            </a:pPr>
            <a:r>
              <a:rPr lang="en-US" sz="2000" b="1" dirty="0">
                <a:solidFill>
                  <a:srgbClr val="444444"/>
                </a:solidFill>
                <a:ea typeface="Open Sans" panose="020B0606030504020204" pitchFamily="34" charset="0"/>
                <a:cs typeface="Open Sans" panose="020B0606030504020204" pitchFamily="34" charset="0"/>
                <a:sym typeface="Inter"/>
              </a:rPr>
              <a:t>An </a:t>
            </a:r>
            <a:r>
              <a:rPr lang="en-US" sz="2000" b="1" dirty="0" err="1">
                <a:solidFill>
                  <a:srgbClr val="444444"/>
                </a:solidFill>
                <a:ea typeface="Open Sans" panose="020B0606030504020204" pitchFamily="34" charset="0"/>
                <a:cs typeface="Open Sans" panose="020B0606030504020204" pitchFamily="34" charset="0"/>
                <a:sym typeface="Inter"/>
              </a:rPr>
              <a:t>toàn</a:t>
            </a:r>
            <a:r>
              <a:rPr lang="en-US" sz="2000" b="1" dirty="0">
                <a:solidFill>
                  <a:srgbClr val="444444"/>
                </a:solidFill>
                <a:ea typeface="Open Sans" panose="020B0606030504020204" pitchFamily="34" charset="0"/>
                <a:cs typeface="Open Sans" panose="020B0606030504020204" pitchFamily="34" charset="0"/>
                <a:sym typeface="Inter"/>
              </a:rPr>
              <a:t> </a:t>
            </a:r>
            <a:r>
              <a:rPr lang="en-US" sz="2000" b="1" dirty="0" err="1">
                <a:solidFill>
                  <a:srgbClr val="444444"/>
                </a:solidFill>
                <a:ea typeface="Open Sans" panose="020B0606030504020204" pitchFamily="34" charset="0"/>
                <a:cs typeface="Open Sans" panose="020B0606030504020204" pitchFamily="34" charset="0"/>
                <a:sym typeface="Inter"/>
              </a:rPr>
              <a:t>dữ</a:t>
            </a:r>
            <a:r>
              <a:rPr lang="en-US" sz="2000" b="1" dirty="0">
                <a:solidFill>
                  <a:srgbClr val="444444"/>
                </a:solidFill>
                <a:ea typeface="Open Sans" panose="020B0606030504020204" pitchFamily="34" charset="0"/>
                <a:cs typeface="Open Sans" panose="020B0606030504020204" pitchFamily="34" charset="0"/>
                <a:sym typeface="Inter"/>
              </a:rPr>
              <a:t> </a:t>
            </a:r>
            <a:r>
              <a:rPr lang="en-US" sz="2000" b="1" dirty="0" err="1">
                <a:solidFill>
                  <a:srgbClr val="444444"/>
                </a:solidFill>
                <a:ea typeface="Open Sans" panose="020B0606030504020204" pitchFamily="34" charset="0"/>
                <a:cs typeface="Open Sans" panose="020B0606030504020204" pitchFamily="34" charset="0"/>
                <a:sym typeface="Inter"/>
              </a:rPr>
              <a:t>liệu</a:t>
            </a:r>
            <a:r>
              <a:rPr lang="en-US" sz="2000" b="1" dirty="0">
                <a:solidFill>
                  <a:srgbClr val="444444"/>
                </a:solidFill>
                <a:ea typeface="Open Sans" panose="020B0606030504020204" pitchFamily="34" charset="0"/>
                <a:cs typeface="Open Sans" panose="020B0606030504020204" pitchFamily="34" charset="0"/>
                <a:sym typeface="Inter"/>
              </a:rPr>
              <a:t>:</a:t>
            </a:r>
            <a:endParaRPr sz="2000" dirty="0">
              <a:solidFill>
                <a:schemeClr val="dk1"/>
              </a:solidFill>
              <a:ea typeface="Open Sans" panose="020B0606030504020204" pitchFamily="34" charset="0"/>
              <a:cs typeface="Open Sans" panose="020B0606030504020204" pitchFamily="34" charset="0"/>
              <a:sym typeface="Calibri"/>
            </a:endParaRPr>
          </a:p>
        </p:txBody>
      </p:sp>
      <p:sp>
        <p:nvSpPr>
          <p:cNvPr id="172" name="Google Shape;172;p6"/>
          <p:cNvSpPr/>
          <p:nvPr/>
        </p:nvSpPr>
        <p:spPr>
          <a:xfrm>
            <a:off x="13548679" y="7006890"/>
            <a:ext cx="4037634" cy="393954"/>
          </a:xfrm>
          <a:prstGeom prst="rect">
            <a:avLst/>
          </a:prstGeom>
          <a:noFill/>
          <a:ln>
            <a:noFill/>
          </a:ln>
        </p:spPr>
        <p:txBody>
          <a:bodyPr spcFirstLastPara="1" wrap="square" lIns="0" tIns="0" rIns="0" bIns="0" anchor="t" anchorCtr="0">
            <a:spAutoFit/>
          </a:bodyPr>
          <a:lstStyle/>
          <a:p>
            <a:pPr>
              <a:lnSpc>
                <a:spcPct val="128000"/>
              </a:lnSpc>
              <a:buClr>
                <a:srgbClr val="444444"/>
              </a:buClr>
              <a:buSzPts val="800"/>
            </a:pPr>
            <a:r>
              <a:rPr lang="en-US" sz="2000" dirty="0" err="1">
                <a:solidFill>
                  <a:srgbClr val="444444"/>
                </a:solidFill>
                <a:ea typeface="Open Sans" panose="020B0606030504020204" pitchFamily="34" charset="0"/>
                <a:cs typeface="Open Sans" panose="020B0606030504020204" pitchFamily="34" charset="0"/>
                <a:sym typeface="Inter"/>
              </a:rPr>
              <a:t>Tránh</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mất</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dữ</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liệu</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khi</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thay</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đổi</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thiết</a:t>
            </a:r>
            <a:r>
              <a:rPr lang="en-US" sz="2000" dirty="0">
                <a:solidFill>
                  <a:srgbClr val="444444"/>
                </a:solidFill>
                <a:ea typeface="Open Sans" panose="020B0606030504020204" pitchFamily="34" charset="0"/>
                <a:cs typeface="Open Sans" panose="020B0606030504020204" pitchFamily="34" charset="0"/>
                <a:sym typeface="Inter"/>
              </a:rPr>
              <a:t> </a:t>
            </a:r>
            <a:r>
              <a:rPr lang="en-US" sz="2000" dirty="0" err="1">
                <a:solidFill>
                  <a:srgbClr val="444444"/>
                </a:solidFill>
                <a:ea typeface="Open Sans" panose="020B0606030504020204" pitchFamily="34" charset="0"/>
                <a:cs typeface="Open Sans" panose="020B0606030504020204" pitchFamily="34" charset="0"/>
                <a:sym typeface="Inter"/>
              </a:rPr>
              <a:t>bị</a:t>
            </a:r>
            <a:r>
              <a:rPr lang="en-US" sz="2000" dirty="0">
                <a:solidFill>
                  <a:srgbClr val="444444"/>
                </a:solidFill>
                <a:ea typeface="Open Sans" panose="020B0606030504020204" pitchFamily="34" charset="0"/>
                <a:cs typeface="Open Sans" panose="020B0606030504020204" pitchFamily="34" charset="0"/>
                <a:sym typeface="Inter"/>
              </a:rPr>
              <a:t>.</a:t>
            </a:r>
            <a:endParaRPr sz="2000" dirty="0">
              <a:solidFill>
                <a:schemeClr val="dk1"/>
              </a:solidFill>
              <a:ea typeface="Open Sans" panose="020B0606030504020204" pitchFamily="34" charset="0"/>
              <a:cs typeface="Open Sans" panose="020B0606030504020204" pitchFamily="34" charset="0"/>
              <a:sym typeface="Calibri"/>
            </a:endParaRPr>
          </a:p>
        </p:txBody>
      </p:sp>
      <p:cxnSp>
        <p:nvCxnSpPr>
          <p:cNvPr id="2" name="Straight Connector 1">
            <a:extLst>
              <a:ext uri="{FF2B5EF4-FFF2-40B4-BE49-F238E27FC236}">
                <a16:creationId xmlns:a16="http://schemas.microsoft.com/office/drawing/2014/main" id="{FDD26ED3-4716-8D4D-3FF3-4650ACAEF207}"/>
              </a:ext>
            </a:extLst>
          </p:cNvPr>
          <p:cNvCxnSpPr>
            <a:cxnSpLocks/>
          </p:cNvCxnSpPr>
          <p:nvPr/>
        </p:nvCxnSpPr>
        <p:spPr>
          <a:xfrm>
            <a:off x="1457326" y="2253910"/>
            <a:ext cx="13006820" cy="0"/>
          </a:xfrm>
          <a:prstGeom prst="line">
            <a:avLst/>
          </a:prstGeom>
          <a:ln w="12700">
            <a:solidFill>
              <a:srgbClr val="C62828"/>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8734D55D-D627-7596-4C5A-CA314D361310}"/>
              </a:ext>
            </a:extLst>
          </p:cNvPr>
          <p:cNvCxnSpPr>
            <a:cxnSpLocks/>
          </p:cNvCxnSpPr>
          <p:nvPr/>
        </p:nvCxnSpPr>
        <p:spPr>
          <a:xfrm>
            <a:off x="12434867" y="6130558"/>
            <a:ext cx="5770766" cy="0"/>
          </a:xfrm>
          <a:prstGeom prst="line">
            <a:avLst/>
          </a:prstGeom>
          <a:ln w="3175">
            <a:solidFill>
              <a:srgbClr val="C62828"/>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A823813-6DC0-86FC-5DBD-B86F287C250A}"/>
              </a:ext>
            </a:extLst>
          </p:cNvPr>
          <p:cNvCxnSpPr>
            <a:cxnSpLocks/>
          </p:cNvCxnSpPr>
          <p:nvPr/>
        </p:nvCxnSpPr>
        <p:spPr>
          <a:xfrm>
            <a:off x="12434865" y="7032576"/>
            <a:ext cx="5770766" cy="0"/>
          </a:xfrm>
          <a:prstGeom prst="line">
            <a:avLst/>
          </a:prstGeom>
          <a:ln w="3175">
            <a:solidFill>
              <a:srgbClr val="C62828"/>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FEF82FC-3D27-7BB8-A24A-1DA18CFE2C0C}"/>
              </a:ext>
            </a:extLst>
          </p:cNvPr>
          <p:cNvCxnSpPr>
            <a:cxnSpLocks/>
          </p:cNvCxnSpPr>
          <p:nvPr/>
        </p:nvCxnSpPr>
        <p:spPr>
          <a:xfrm>
            <a:off x="6910405" y="5789562"/>
            <a:ext cx="5226178" cy="0"/>
          </a:xfrm>
          <a:prstGeom prst="line">
            <a:avLst/>
          </a:prstGeom>
          <a:ln w="3175">
            <a:solidFill>
              <a:srgbClr val="C62828"/>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387CE32-E79C-DAC3-13D0-26C559AC1909}"/>
              </a:ext>
            </a:extLst>
          </p:cNvPr>
          <p:cNvCxnSpPr>
            <a:cxnSpLocks/>
          </p:cNvCxnSpPr>
          <p:nvPr/>
        </p:nvCxnSpPr>
        <p:spPr>
          <a:xfrm>
            <a:off x="1385885" y="5789562"/>
            <a:ext cx="5468358" cy="0"/>
          </a:xfrm>
          <a:prstGeom prst="line">
            <a:avLst/>
          </a:prstGeom>
          <a:ln w="3175">
            <a:solidFill>
              <a:srgbClr val="C62828"/>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D552357-E4CC-D8B0-5E27-5FA41880739E}"/>
              </a:ext>
            </a:extLst>
          </p:cNvPr>
          <p:cNvCxnSpPr>
            <a:cxnSpLocks/>
          </p:cNvCxnSpPr>
          <p:nvPr/>
        </p:nvCxnSpPr>
        <p:spPr>
          <a:xfrm>
            <a:off x="1385883" y="6689676"/>
            <a:ext cx="5468358" cy="0"/>
          </a:xfrm>
          <a:prstGeom prst="line">
            <a:avLst/>
          </a:prstGeom>
          <a:ln w="3175">
            <a:solidFill>
              <a:srgbClr val="C62828"/>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4FB1EE7F-C394-7A77-F4F7-4831E3B55C9F}"/>
              </a:ext>
            </a:extLst>
          </p:cNvPr>
          <p:cNvSpPr txBox="1"/>
          <p:nvPr/>
        </p:nvSpPr>
        <p:spPr>
          <a:xfrm>
            <a:off x="17831821" y="9831884"/>
            <a:ext cx="415498"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07</a:t>
            </a:r>
            <a:endParaRPr lang="vi-V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pic>
        <p:nvPicPr>
          <p:cNvPr id="178" name="Google Shape;178;p7" descr="preencoded.png"/>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179" name="Google Shape;179;p7"/>
          <p:cNvSpPr/>
          <p:nvPr/>
        </p:nvSpPr>
        <p:spPr>
          <a:xfrm>
            <a:off x="1142999" y="1355305"/>
            <a:ext cx="11416778" cy="861774"/>
          </a:xfrm>
          <a:prstGeom prst="rect">
            <a:avLst/>
          </a:prstGeom>
          <a:noFill/>
          <a:ln>
            <a:noFill/>
          </a:ln>
        </p:spPr>
        <p:txBody>
          <a:bodyPr spcFirstLastPara="1" wrap="square" lIns="340100" tIns="0" rIns="0" bIns="0" anchor="t" anchorCtr="0">
            <a:spAutoFit/>
          </a:bodyPr>
          <a:lstStyle/>
          <a:p>
            <a:pPr>
              <a:buSzPts val="1900"/>
            </a:pPr>
            <a:r>
              <a:rPr lang="en-US" sz="5600" b="1" dirty="0" err="1">
                <a:latin typeface="Montserrat Bold" panose="00000800000000000000" pitchFamily="2" charset="-93"/>
                <a:ea typeface="Open Sans" panose="020B0606030504020204" pitchFamily="34" charset="0"/>
                <a:cs typeface="Open Sans" panose="020B0606030504020204" pitchFamily="34" charset="0"/>
                <a:sym typeface="Inter"/>
              </a:rPr>
              <a:t>Kiến</a:t>
            </a:r>
            <a:r>
              <a:rPr lang="en-US" sz="5600" b="1" dirty="0">
                <a:latin typeface="Montserrat Bold" panose="00000800000000000000" pitchFamily="2" charset="-93"/>
                <a:ea typeface="Open Sans" panose="020B0606030504020204" pitchFamily="34" charset="0"/>
                <a:cs typeface="Open Sans" panose="020B0606030504020204" pitchFamily="34" charset="0"/>
                <a:sym typeface="Inter"/>
              </a:rPr>
              <a:t> </a:t>
            </a:r>
            <a:r>
              <a:rPr lang="en-US" sz="5600" b="1" dirty="0" err="1">
                <a:latin typeface="Montserrat Bold" panose="00000800000000000000" pitchFamily="2" charset="-93"/>
                <a:ea typeface="Open Sans" panose="020B0606030504020204" pitchFamily="34" charset="0"/>
                <a:cs typeface="Open Sans" panose="020B0606030504020204" pitchFamily="34" charset="0"/>
                <a:sym typeface="Inter"/>
              </a:rPr>
              <a:t>thức</a:t>
            </a:r>
            <a:r>
              <a:rPr lang="en-US" sz="5600" b="1" dirty="0">
                <a:latin typeface="Montserrat Bold" panose="00000800000000000000" pitchFamily="2" charset="-93"/>
                <a:ea typeface="Open Sans" panose="020B0606030504020204" pitchFamily="34" charset="0"/>
                <a:cs typeface="Open Sans" panose="020B0606030504020204" pitchFamily="34" charset="0"/>
                <a:sym typeface="Inter"/>
              </a:rPr>
              <a:t> &amp; </a:t>
            </a:r>
            <a:r>
              <a:rPr lang="en-US" sz="5600" b="1" dirty="0" err="1">
                <a:latin typeface="Montserrat Bold" panose="00000800000000000000" pitchFamily="2" charset="-93"/>
                <a:ea typeface="Open Sans" panose="020B0606030504020204" pitchFamily="34" charset="0"/>
                <a:cs typeface="Open Sans" panose="020B0606030504020204" pitchFamily="34" charset="0"/>
                <a:sym typeface="Inter"/>
              </a:rPr>
              <a:t>Kỹ</a:t>
            </a:r>
            <a:r>
              <a:rPr lang="en-US" sz="5600" b="1" dirty="0">
                <a:latin typeface="Montserrat Bold" panose="00000800000000000000" pitchFamily="2" charset="-93"/>
                <a:ea typeface="Open Sans" panose="020B0606030504020204" pitchFamily="34" charset="0"/>
                <a:cs typeface="Open Sans" panose="020B0606030504020204" pitchFamily="34" charset="0"/>
                <a:sym typeface="Inter"/>
              </a:rPr>
              <a:t> </a:t>
            </a:r>
            <a:r>
              <a:rPr lang="en-US" sz="5600" b="1" dirty="0" err="1">
                <a:latin typeface="Montserrat Bold" panose="00000800000000000000" pitchFamily="2" charset="-93"/>
                <a:ea typeface="Open Sans" panose="020B0606030504020204" pitchFamily="34" charset="0"/>
                <a:cs typeface="Open Sans" panose="020B0606030504020204" pitchFamily="34" charset="0"/>
                <a:sym typeface="Inter"/>
              </a:rPr>
              <a:t>năng</a:t>
            </a:r>
            <a:r>
              <a:rPr lang="en-US" sz="5600" b="1" dirty="0">
                <a:latin typeface="Montserrat Bold" panose="00000800000000000000" pitchFamily="2" charset="-93"/>
                <a:ea typeface="Open Sans" panose="020B0606030504020204" pitchFamily="34" charset="0"/>
                <a:cs typeface="Open Sans" panose="020B0606030504020204" pitchFamily="34" charset="0"/>
                <a:sym typeface="Inter"/>
              </a:rPr>
              <a:t> </a:t>
            </a:r>
            <a:r>
              <a:rPr lang="en-US" sz="5600" b="1" dirty="0" err="1">
                <a:latin typeface="Montserrat Bold" panose="00000800000000000000" pitchFamily="2" charset="-93"/>
                <a:ea typeface="Open Sans" panose="020B0606030504020204" pitchFamily="34" charset="0"/>
                <a:cs typeface="Open Sans" panose="020B0606030504020204" pitchFamily="34" charset="0"/>
                <a:sym typeface="Inter"/>
              </a:rPr>
              <a:t>áp</a:t>
            </a:r>
            <a:r>
              <a:rPr lang="en-US" sz="5600" b="1" dirty="0">
                <a:latin typeface="Montserrat Bold" panose="00000800000000000000" pitchFamily="2" charset="-93"/>
                <a:ea typeface="Open Sans" panose="020B0606030504020204" pitchFamily="34" charset="0"/>
                <a:cs typeface="Open Sans" panose="020B0606030504020204" pitchFamily="34" charset="0"/>
                <a:sym typeface="Inter"/>
              </a:rPr>
              <a:t> </a:t>
            </a:r>
            <a:r>
              <a:rPr lang="en-US" sz="5600" b="1" dirty="0" err="1">
                <a:latin typeface="Montserrat Bold" panose="00000800000000000000" pitchFamily="2" charset="-93"/>
                <a:ea typeface="Open Sans" panose="020B0606030504020204" pitchFamily="34" charset="0"/>
                <a:cs typeface="Open Sans" panose="020B0606030504020204" pitchFamily="34" charset="0"/>
                <a:sym typeface="Inter"/>
              </a:rPr>
              <a:t>dụng</a:t>
            </a:r>
            <a:endParaRPr sz="5600" b="1" dirty="0">
              <a:latin typeface="Montserrat Bold" panose="00000800000000000000" pitchFamily="2" charset="-93"/>
              <a:ea typeface="Open Sans" panose="020B0606030504020204" pitchFamily="34" charset="0"/>
              <a:cs typeface="Open Sans" panose="020B0606030504020204" pitchFamily="34" charset="0"/>
              <a:sym typeface="Calibri"/>
            </a:endParaRPr>
          </a:p>
        </p:txBody>
      </p:sp>
      <p:pic>
        <p:nvPicPr>
          <p:cNvPr id="180" name="Google Shape;180;p7" descr="preencoded.png"/>
          <p:cNvPicPr preferRelativeResize="0"/>
          <p:nvPr/>
        </p:nvPicPr>
        <p:blipFill rotWithShape="1">
          <a:blip r:embed="rId4">
            <a:alphaModFix/>
          </a:blip>
          <a:srcRect/>
          <a:stretch/>
        </p:blipFill>
        <p:spPr>
          <a:xfrm>
            <a:off x="1143000" y="3957193"/>
            <a:ext cx="235744" cy="314326"/>
          </a:xfrm>
          <a:prstGeom prst="rect">
            <a:avLst/>
          </a:prstGeom>
          <a:noFill/>
          <a:ln>
            <a:noFill/>
          </a:ln>
        </p:spPr>
      </p:pic>
      <p:sp>
        <p:nvSpPr>
          <p:cNvPr id="181" name="Google Shape;181;p7"/>
          <p:cNvSpPr/>
          <p:nvPr/>
        </p:nvSpPr>
        <p:spPr>
          <a:xfrm>
            <a:off x="1593056" y="3925044"/>
            <a:ext cx="5716136" cy="492443"/>
          </a:xfrm>
          <a:prstGeom prst="rect">
            <a:avLst/>
          </a:prstGeom>
          <a:noFill/>
          <a:ln>
            <a:noFill/>
          </a:ln>
        </p:spPr>
        <p:txBody>
          <a:bodyPr spcFirstLastPara="1" wrap="square" lIns="0" tIns="0" rIns="0" bIns="0" anchor="t" anchorCtr="0">
            <a:spAutoFit/>
          </a:bodyPr>
          <a:lstStyle/>
          <a:p>
            <a:pPr>
              <a:buClr>
                <a:srgbClr val="C62828"/>
              </a:buClr>
              <a:buSzPts val="1100"/>
            </a:pPr>
            <a:r>
              <a:rPr lang="en-US" sz="3200" b="1" dirty="0" err="1">
                <a:solidFill>
                  <a:srgbClr val="C62828"/>
                </a:solidFill>
                <a:latin typeface="Montserrat Bold" panose="00000800000000000000" pitchFamily="2" charset="-93"/>
                <a:ea typeface="Open Sans" panose="020B0606030504020204" pitchFamily="34" charset="0"/>
                <a:cs typeface="Open Sans" panose="020B0606030504020204" pitchFamily="34" charset="0"/>
                <a:sym typeface="Inter"/>
              </a:rPr>
              <a:t>Lập</a:t>
            </a:r>
            <a:r>
              <a:rPr lang="en-US" sz="3200" b="1" dirty="0">
                <a:solidFill>
                  <a:srgbClr val="C62828"/>
                </a:solidFill>
                <a:latin typeface="Montserrat Bold" panose="00000800000000000000" pitchFamily="2" charset="-93"/>
                <a:ea typeface="Open Sans" panose="020B0606030504020204" pitchFamily="34" charset="0"/>
                <a:cs typeface="Open Sans" panose="020B0606030504020204" pitchFamily="34" charset="0"/>
                <a:sym typeface="Inter"/>
              </a:rPr>
              <a:t> </a:t>
            </a:r>
            <a:r>
              <a:rPr lang="en-US" sz="3200" b="1" dirty="0" err="1">
                <a:solidFill>
                  <a:srgbClr val="C62828"/>
                </a:solidFill>
                <a:latin typeface="Montserrat Bold" panose="00000800000000000000" pitchFamily="2" charset="-93"/>
                <a:ea typeface="Open Sans" panose="020B0606030504020204" pitchFamily="34" charset="0"/>
                <a:cs typeface="Open Sans" panose="020B0606030504020204" pitchFamily="34" charset="0"/>
                <a:sym typeface="Inter"/>
              </a:rPr>
              <a:t>trình</a:t>
            </a:r>
            <a:r>
              <a:rPr lang="en-US" sz="3200" b="1" dirty="0">
                <a:solidFill>
                  <a:srgbClr val="C62828"/>
                </a:solidFill>
                <a:latin typeface="Montserrat Bold" panose="00000800000000000000" pitchFamily="2" charset="-93"/>
                <a:ea typeface="Open Sans" panose="020B0606030504020204" pitchFamily="34" charset="0"/>
                <a:cs typeface="Open Sans" panose="020B0606030504020204" pitchFamily="34" charset="0"/>
                <a:sym typeface="Inter"/>
              </a:rPr>
              <a:t> Android </a:t>
            </a:r>
            <a:r>
              <a:rPr lang="en-US" sz="3200" b="1" dirty="0" err="1">
                <a:solidFill>
                  <a:srgbClr val="C62828"/>
                </a:solidFill>
                <a:latin typeface="Montserrat Bold" panose="00000800000000000000" pitchFamily="2" charset="-93"/>
                <a:ea typeface="Open Sans" panose="020B0606030504020204" pitchFamily="34" charset="0"/>
                <a:cs typeface="Open Sans" panose="020B0606030504020204" pitchFamily="34" charset="0"/>
                <a:sym typeface="Inter"/>
              </a:rPr>
              <a:t>hiện</a:t>
            </a:r>
            <a:r>
              <a:rPr lang="en-US" sz="3200" b="1" dirty="0">
                <a:solidFill>
                  <a:srgbClr val="C62828"/>
                </a:solidFill>
                <a:latin typeface="Montserrat Bold" panose="00000800000000000000" pitchFamily="2" charset="-93"/>
                <a:ea typeface="Open Sans" panose="020B0606030504020204" pitchFamily="34" charset="0"/>
                <a:cs typeface="Open Sans" panose="020B0606030504020204" pitchFamily="34" charset="0"/>
                <a:sym typeface="Inter"/>
              </a:rPr>
              <a:t> </a:t>
            </a:r>
            <a:r>
              <a:rPr lang="en-US" sz="3200" b="1" dirty="0" err="1">
                <a:solidFill>
                  <a:srgbClr val="C62828"/>
                </a:solidFill>
                <a:latin typeface="Montserrat Bold" panose="00000800000000000000" pitchFamily="2" charset="-93"/>
                <a:ea typeface="Open Sans" panose="020B0606030504020204" pitchFamily="34" charset="0"/>
                <a:cs typeface="Open Sans" panose="020B0606030504020204" pitchFamily="34" charset="0"/>
                <a:sym typeface="Inter"/>
              </a:rPr>
              <a:t>đại</a:t>
            </a:r>
            <a:endParaRPr sz="3200" dirty="0">
              <a:solidFill>
                <a:schemeClr val="dk1"/>
              </a:solidFill>
              <a:latin typeface="Montserrat Bold" panose="00000800000000000000" pitchFamily="2" charset="-93"/>
              <a:ea typeface="Open Sans" panose="020B0606030504020204" pitchFamily="34" charset="0"/>
              <a:cs typeface="Open Sans" panose="020B0606030504020204" pitchFamily="34" charset="0"/>
              <a:sym typeface="Calibri"/>
            </a:endParaRPr>
          </a:p>
        </p:txBody>
      </p:sp>
      <p:sp>
        <p:nvSpPr>
          <p:cNvPr id="182" name="Google Shape;182;p7"/>
          <p:cNvSpPr/>
          <p:nvPr/>
        </p:nvSpPr>
        <p:spPr>
          <a:xfrm>
            <a:off x="1393032" y="4532262"/>
            <a:ext cx="3318300" cy="323165"/>
          </a:xfrm>
          <a:prstGeom prst="rect">
            <a:avLst/>
          </a:prstGeom>
          <a:noFill/>
          <a:ln>
            <a:noFill/>
          </a:ln>
        </p:spPr>
        <p:txBody>
          <a:bodyPr spcFirstLastPara="1" wrap="square" lIns="0" tIns="0" rIns="0" bIns="0" anchor="t" anchorCtr="0">
            <a:spAutoFit/>
          </a:bodyPr>
          <a:lstStyle/>
          <a:p>
            <a:pPr lvl="0">
              <a:buClr>
                <a:srgbClr val="444444"/>
              </a:buClr>
              <a:buSzPts val="850"/>
            </a:pP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Ngôn</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ngữ</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lập</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trình</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b="1" dirty="0">
                <a:latin typeface="Open Sans" panose="020B0606030504020204" pitchFamily="34" charset="0"/>
                <a:ea typeface="Open Sans" panose="020B0606030504020204" pitchFamily="34" charset="0"/>
                <a:cs typeface="Open Sans" panose="020B0606030504020204" pitchFamily="34" charset="0"/>
                <a:sym typeface="Inter"/>
              </a:rPr>
              <a:t>Kotlin</a:t>
            </a:r>
            <a:endParaRPr sz="21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184" name="Google Shape;184;p7"/>
          <p:cNvSpPr/>
          <p:nvPr/>
        </p:nvSpPr>
        <p:spPr>
          <a:xfrm>
            <a:off x="1393029" y="4950172"/>
            <a:ext cx="5416322" cy="646331"/>
          </a:xfrm>
          <a:prstGeom prst="rect">
            <a:avLst/>
          </a:prstGeom>
          <a:noFill/>
          <a:ln>
            <a:noFill/>
          </a:ln>
        </p:spPr>
        <p:txBody>
          <a:bodyPr spcFirstLastPara="1" wrap="square" lIns="0" tIns="0" rIns="0" bIns="0" anchor="t" anchorCtr="0">
            <a:spAutoFit/>
          </a:bodyPr>
          <a:lstStyle/>
          <a:p>
            <a:pPr>
              <a:buSzPts val="800"/>
            </a:pPr>
            <a:r>
              <a:rPr lang="en-US" sz="2100" b="1"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Inter"/>
              </a:rPr>
              <a:t>Jetpack Compose </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&amp; Material Design 3</a:t>
            </a:r>
            <a:endParaRPr lang="en-US" sz="21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Calibri"/>
            </a:endParaRPr>
          </a:p>
          <a:p>
            <a:pPr>
              <a:buClr>
                <a:srgbClr val="000000"/>
              </a:buClr>
              <a:buSzPts val="800"/>
            </a:pPr>
            <a:endParaRPr sz="21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186" name="Google Shape;186;p7"/>
          <p:cNvSpPr/>
          <p:nvPr/>
        </p:nvSpPr>
        <p:spPr>
          <a:xfrm>
            <a:off x="1103709" y="5352691"/>
            <a:ext cx="7715250" cy="323165"/>
          </a:xfrm>
          <a:prstGeom prst="rect">
            <a:avLst/>
          </a:prstGeom>
          <a:noFill/>
          <a:ln>
            <a:noFill/>
          </a:ln>
        </p:spPr>
        <p:txBody>
          <a:bodyPr spcFirstLastPara="1" wrap="square" lIns="0" tIns="0" rIns="0" bIns="0" anchor="t" anchorCtr="0">
            <a:spAutoFit/>
          </a:bodyPr>
          <a:lstStyle/>
          <a:p>
            <a:pPr>
              <a:buClr>
                <a:srgbClr val="444444"/>
              </a:buClr>
              <a:buSzPts val="850"/>
            </a:pP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Navigation Compose,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StateFlow</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&amp;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ViewModel</a:t>
            </a:r>
            <a:endParaRPr sz="21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pic>
        <p:nvPicPr>
          <p:cNvPr id="187" name="Google Shape;187;p7" descr="preencoded.png"/>
          <p:cNvPicPr preferRelativeResize="0"/>
          <p:nvPr/>
        </p:nvPicPr>
        <p:blipFill rotWithShape="1">
          <a:blip r:embed="rId5">
            <a:alphaModFix/>
          </a:blip>
          <a:srcRect/>
          <a:stretch/>
        </p:blipFill>
        <p:spPr>
          <a:xfrm>
            <a:off x="9429750" y="3957193"/>
            <a:ext cx="353616" cy="314326"/>
          </a:xfrm>
          <a:prstGeom prst="rect">
            <a:avLst/>
          </a:prstGeom>
          <a:noFill/>
          <a:ln>
            <a:noFill/>
          </a:ln>
        </p:spPr>
      </p:pic>
      <p:sp>
        <p:nvSpPr>
          <p:cNvPr id="188" name="Google Shape;188;p7"/>
          <p:cNvSpPr/>
          <p:nvPr/>
        </p:nvSpPr>
        <p:spPr>
          <a:xfrm>
            <a:off x="9997678" y="3925044"/>
            <a:ext cx="4470112" cy="492443"/>
          </a:xfrm>
          <a:prstGeom prst="rect">
            <a:avLst/>
          </a:prstGeom>
          <a:noFill/>
          <a:ln>
            <a:noFill/>
          </a:ln>
        </p:spPr>
        <p:txBody>
          <a:bodyPr spcFirstLastPara="1" wrap="square" lIns="0" tIns="0" rIns="0" bIns="0" anchor="t" anchorCtr="0">
            <a:spAutoFit/>
          </a:bodyPr>
          <a:lstStyle/>
          <a:p>
            <a:pPr>
              <a:buClr>
                <a:srgbClr val="C62828"/>
              </a:buClr>
              <a:buSzPts val="1100"/>
            </a:pPr>
            <a:r>
              <a:rPr lang="en-US" sz="3200" b="1" dirty="0" err="1">
                <a:solidFill>
                  <a:srgbClr val="C62828"/>
                </a:solidFill>
                <a:latin typeface="Montserrat Bold" panose="00000800000000000000" pitchFamily="2" charset="-93"/>
                <a:ea typeface="Open Sans" panose="020B0606030504020204" pitchFamily="34" charset="0"/>
                <a:cs typeface="Open Sans" panose="020B0606030504020204" pitchFamily="34" charset="0"/>
                <a:sym typeface="Inter"/>
              </a:rPr>
              <a:t>Kiến</a:t>
            </a:r>
            <a:r>
              <a:rPr lang="en-US" sz="3200" b="1" dirty="0">
                <a:solidFill>
                  <a:srgbClr val="C62828"/>
                </a:solidFill>
                <a:latin typeface="Montserrat Bold" panose="00000800000000000000" pitchFamily="2" charset="-93"/>
                <a:ea typeface="Open Sans" panose="020B0606030504020204" pitchFamily="34" charset="0"/>
                <a:cs typeface="Open Sans" panose="020B0606030504020204" pitchFamily="34" charset="0"/>
                <a:sym typeface="Inter"/>
              </a:rPr>
              <a:t> </a:t>
            </a:r>
            <a:r>
              <a:rPr lang="en-US" sz="3200" b="1" dirty="0" err="1">
                <a:solidFill>
                  <a:srgbClr val="C62828"/>
                </a:solidFill>
                <a:latin typeface="Montserrat Bold" panose="00000800000000000000" pitchFamily="2" charset="-93"/>
                <a:ea typeface="Open Sans" panose="020B0606030504020204" pitchFamily="34" charset="0"/>
                <a:cs typeface="Open Sans" panose="020B0606030504020204" pitchFamily="34" charset="0"/>
                <a:sym typeface="Inter"/>
              </a:rPr>
              <a:t>trúc</a:t>
            </a:r>
            <a:r>
              <a:rPr lang="en-US" sz="3200" b="1" dirty="0">
                <a:solidFill>
                  <a:srgbClr val="C62828"/>
                </a:solidFill>
                <a:latin typeface="Montserrat Bold" panose="00000800000000000000" pitchFamily="2" charset="-93"/>
                <a:ea typeface="Open Sans" panose="020B0606030504020204" pitchFamily="34" charset="0"/>
                <a:cs typeface="Open Sans" panose="020B0606030504020204" pitchFamily="34" charset="0"/>
                <a:sym typeface="Inter"/>
              </a:rPr>
              <a:t> </a:t>
            </a:r>
            <a:r>
              <a:rPr lang="en-US" sz="3200" b="1" dirty="0" err="1">
                <a:solidFill>
                  <a:srgbClr val="C62828"/>
                </a:solidFill>
                <a:latin typeface="Montserrat Bold" panose="00000800000000000000" pitchFamily="2" charset="-93"/>
                <a:ea typeface="Open Sans" panose="020B0606030504020204" pitchFamily="34" charset="0"/>
                <a:cs typeface="Open Sans" panose="020B0606030504020204" pitchFamily="34" charset="0"/>
                <a:sym typeface="Inter"/>
              </a:rPr>
              <a:t>phần</a:t>
            </a:r>
            <a:r>
              <a:rPr lang="en-US" sz="3200" b="1" dirty="0">
                <a:solidFill>
                  <a:srgbClr val="C62828"/>
                </a:solidFill>
                <a:latin typeface="Montserrat Bold" panose="00000800000000000000" pitchFamily="2" charset="-93"/>
                <a:ea typeface="Open Sans" panose="020B0606030504020204" pitchFamily="34" charset="0"/>
                <a:cs typeface="Open Sans" panose="020B0606030504020204" pitchFamily="34" charset="0"/>
                <a:sym typeface="Inter"/>
              </a:rPr>
              <a:t> </a:t>
            </a:r>
            <a:r>
              <a:rPr lang="en-US" sz="3200" b="1" dirty="0" err="1">
                <a:solidFill>
                  <a:srgbClr val="C62828"/>
                </a:solidFill>
                <a:latin typeface="Montserrat Bold" panose="00000800000000000000" pitchFamily="2" charset="-93"/>
                <a:ea typeface="Open Sans" panose="020B0606030504020204" pitchFamily="34" charset="0"/>
                <a:cs typeface="Open Sans" panose="020B0606030504020204" pitchFamily="34" charset="0"/>
                <a:sym typeface="Inter"/>
              </a:rPr>
              <a:t>mềm</a:t>
            </a:r>
            <a:endParaRPr sz="3200" dirty="0">
              <a:solidFill>
                <a:schemeClr val="dk1"/>
              </a:solidFill>
              <a:latin typeface="Montserrat Bold" panose="00000800000000000000" pitchFamily="2" charset="-93"/>
              <a:ea typeface="Open Sans" panose="020B0606030504020204" pitchFamily="34" charset="0"/>
              <a:cs typeface="Open Sans" panose="020B0606030504020204" pitchFamily="34" charset="0"/>
              <a:sym typeface="Calibri"/>
            </a:endParaRPr>
          </a:p>
        </p:txBody>
      </p:sp>
      <p:sp>
        <p:nvSpPr>
          <p:cNvPr id="189" name="Google Shape;189;p7"/>
          <p:cNvSpPr/>
          <p:nvPr/>
        </p:nvSpPr>
        <p:spPr>
          <a:xfrm>
            <a:off x="9679782" y="4532262"/>
            <a:ext cx="4461300" cy="646331"/>
          </a:xfrm>
          <a:prstGeom prst="rect">
            <a:avLst/>
          </a:prstGeom>
          <a:noFill/>
          <a:ln>
            <a:noFill/>
          </a:ln>
        </p:spPr>
        <p:txBody>
          <a:bodyPr spcFirstLastPara="1" wrap="square" lIns="0" tIns="0" rIns="0" bIns="0" anchor="t" anchorCtr="0">
            <a:spAutoFit/>
          </a:bodyPr>
          <a:lstStyle/>
          <a:p>
            <a:pPr>
              <a:buClr>
                <a:srgbClr val="444444"/>
              </a:buClr>
              <a:buSzPts val="850"/>
            </a:pP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Mô</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hình</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b="1" dirty="0">
                <a:latin typeface="Open Sans" panose="020B0606030504020204" pitchFamily="34" charset="0"/>
                <a:ea typeface="Open Sans" panose="020B0606030504020204" pitchFamily="34" charset="0"/>
                <a:cs typeface="Open Sans" panose="020B0606030504020204" pitchFamily="34" charset="0"/>
                <a:sym typeface="Inter"/>
              </a:rPr>
              <a:t>Clean Architecture</a:t>
            </a:r>
            <a:endParaRPr lang="en-US" sz="21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Calibri"/>
            </a:endParaRPr>
          </a:p>
          <a:p>
            <a:pPr>
              <a:buClr>
                <a:srgbClr val="444444"/>
              </a:buClr>
              <a:buSzPts val="850"/>
            </a:pPr>
            <a:endParaRPr sz="21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191" name="Google Shape;191;p7"/>
          <p:cNvSpPr/>
          <p:nvPr/>
        </p:nvSpPr>
        <p:spPr>
          <a:xfrm>
            <a:off x="9679782" y="4950173"/>
            <a:ext cx="5416320" cy="969496"/>
          </a:xfrm>
          <a:prstGeom prst="rect">
            <a:avLst/>
          </a:prstGeom>
          <a:noFill/>
          <a:ln>
            <a:noFill/>
          </a:ln>
        </p:spPr>
        <p:txBody>
          <a:bodyPr spcFirstLastPara="1" wrap="square" lIns="0" tIns="0" rIns="0" bIns="0" anchor="t" anchorCtr="0">
            <a:spAutoFit/>
          </a:bodyPr>
          <a:lstStyle/>
          <a:p>
            <a:pPr>
              <a:buClr>
                <a:srgbClr val="444444"/>
              </a:buClr>
              <a:buSzPts val="850"/>
            </a:pP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Kiến</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trúc</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b="1" dirty="0" err="1">
                <a:latin typeface="Open Sans" panose="020B0606030504020204" pitchFamily="34" charset="0"/>
                <a:ea typeface="Open Sans" panose="020B0606030504020204" pitchFamily="34" charset="0"/>
                <a:cs typeface="Open Sans" panose="020B0606030504020204" pitchFamily="34" charset="0"/>
                <a:sym typeface="Inter"/>
              </a:rPr>
              <a:t>MVVM</a:t>
            </a:r>
            <a:r>
              <a:rPr lang="en-US" sz="2100" b="1" dirty="0">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(Model-View-</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ViewModel</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a:t>
            </a:r>
            <a:endParaRPr lang="en-US" sz="21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Calibri"/>
            </a:endParaRPr>
          </a:p>
          <a:p>
            <a:pPr>
              <a:buClr>
                <a:srgbClr val="444444"/>
              </a:buClr>
              <a:buSzPts val="850"/>
            </a:pPr>
            <a:endParaRPr lang="en-US" sz="21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Calibri"/>
            </a:endParaRPr>
          </a:p>
          <a:p>
            <a:pPr>
              <a:buClr>
                <a:srgbClr val="444444"/>
              </a:buClr>
              <a:buSzPts val="850"/>
            </a:pPr>
            <a:endParaRPr sz="21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194" name="Google Shape;194;p7"/>
          <p:cNvSpPr/>
          <p:nvPr/>
        </p:nvSpPr>
        <p:spPr>
          <a:xfrm>
            <a:off x="9429751" y="5368083"/>
            <a:ext cx="7715250" cy="323165"/>
          </a:xfrm>
          <a:prstGeom prst="rect">
            <a:avLst/>
          </a:prstGeom>
          <a:noFill/>
          <a:ln>
            <a:noFill/>
          </a:ln>
        </p:spPr>
        <p:txBody>
          <a:bodyPr spcFirstLastPara="1" wrap="square" lIns="0" tIns="0" rIns="0" bIns="0" anchor="t" anchorCtr="0">
            <a:spAutoFit/>
          </a:bodyPr>
          <a:lstStyle/>
          <a:p>
            <a:pPr>
              <a:buClr>
                <a:srgbClr val="444444"/>
              </a:buClr>
              <a:buSzPts val="850"/>
            </a:pP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Repository Pattern &amp; Use Case Pattern</a:t>
            </a:r>
            <a:endParaRPr sz="21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pic>
        <p:nvPicPr>
          <p:cNvPr id="195" name="Google Shape;195;p7" descr="preencoded.png"/>
          <p:cNvPicPr preferRelativeResize="0"/>
          <p:nvPr/>
        </p:nvPicPr>
        <p:blipFill rotWithShape="1">
          <a:blip r:embed="rId6">
            <a:alphaModFix/>
          </a:blip>
          <a:srcRect/>
          <a:stretch/>
        </p:blipFill>
        <p:spPr>
          <a:xfrm>
            <a:off x="1143001" y="7075439"/>
            <a:ext cx="275034" cy="314326"/>
          </a:xfrm>
          <a:prstGeom prst="rect">
            <a:avLst/>
          </a:prstGeom>
          <a:noFill/>
          <a:ln>
            <a:noFill/>
          </a:ln>
        </p:spPr>
      </p:pic>
      <p:sp>
        <p:nvSpPr>
          <p:cNvPr id="196" name="Google Shape;196;p7"/>
          <p:cNvSpPr/>
          <p:nvPr/>
        </p:nvSpPr>
        <p:spPr>
          <a:xfrm>
            <a:off x="1632345" y="7043293"/>
            <a:ext cx="5150234" cy="492443"/>
          </a:xfrm>
          <a:prstGeom prst="rect">
            <a:avLst/>
          </a:prstGeom>
          <a:noFill/>
          <a:ln>
            <a:noFill/>
          </a:ln>
        </p:spPr>
        <p:txBody>
          <a:bodyPr spcFirstLastPara="1" wrap="square" lIns="0" tIns="0" rIns="0" bIns="0" anchor="t" anchorCtr="0">
            <a:spAutoFit/>
          </a:bodyPr>
          <a:lstStyle/>
          <a:p>
            <a:pPr>
              <a:buClr>
                <a:srgbClr val="C62828"/>
              </a:buClr>
              <a:buSzPts val="1100"/>
            </a:pPr>
            <a:r>
              <a:rPr lang="en-US" sz="3200" b="1" dirty="0">
                <a:solidFill>
                  <a:srgbClr val="C62828"/>
                </a:solidFill>
                <a:latin typeface="Montserrat Bold" panose="00000800000000000000" pitchFamily="2" charset="-93"/>
                <a:ea typeface="Open Sans" panose="020B0606030504020204" pitchFamily="34" charset="0"/>
                <a:cs typeface="Open Sans" panose="020B0606030504020204" pitchFamily="34" charset="0"/>
                <a:sym typeface="Inter"/>
              </a:rPr>
              <a:t>Quản </a:t>
            </a:r>
            <a:r>
              <a:rPr lang="en-US" sz="3200" b="1" dirty="0" err="1">
                <a:solidFill>
                  <a:srgbClr val="C62828"/>
                </a:solidFill>
                <a:latin typeface="Montserrat Bold" panose="00000800000000000000" pitchFamily="2" charset="-93"/>
                <a:ea typeface="Open Sans" panose="020B0606030504020204" pitchFamily="34" charset="0"/>
                <a:cs typeface="Open Sans" panose="020B0606030504020204" pitchFamily="34" charset="0"/>
                <a:sym typeface="Inter"/>
              </a:rPr>
              <a:t>lý</a:t>
            </a:r>
            <a:r>
              <a:rPr lang="en-US" sz="3200" b="1" dirty="0">
                <a:solidFill>
                  <a:srgbClr val="C62828"/>
                </a:solidFill>
                <a:latin typeface="Montserrat Bold" panose="00000800000000000000" pitchFamily="2" charset="-93"/>
                <a:ea typeface="Open Sans" panose="020B0606030504020204" pitchFamily="34" charset="0"/>
                <a:cs typeface="Open Sans" panose="020B0606030504020204" pitchFamily="34" charset="0"/>
                <a:sym typeface="Inter"/>
              </a:rPr>
              <a:t> </a:t>
            </a:r>
            <a:r>
              <a:rPr lang="en-US" sz="3200" b="1" dirty="0" err="1">
                <a:solidFill>
                  <a:srgbClr val="C62828"/>
                </a:solidFill>
                <a:latin typeface="Montserrat Bold" panose="00000800000000000000" pitchFamily="2" charset="-93"/>
                <a:ea typeface="Open Sans" panose="020B0606030504020204" pitchFamily="34" charset="0"/>
                <a:cs typeface="Open Sans" panose="020B0606030504020204" pitchFamily="34" charset="0"/>
                <a:sym typeface="Inter"/>
              </a:rPr>
              <a:t>dữ</a:t>
            </a:r>
            <a:r>
              <a:rPr lang="en-US" sz="3200" b="1" dirty="0">
                <a:solidFill>
                  <a:srgbClr val="C62828"/>
                </a:solidFill>
                <a:latin typeface="Montserrat Bold" panose="00000800000000000000" pitchFamily="2" charset="-93"/>
                <a:ea typeface="Open Sans" panose="020B0606030504020204" pitchFamily="34" charset="0"/>
                <a:cs typeface="Open Sans" panose="020B0606030504020204" pitchFamily="34" charset="0"/>
                <a:sym typeface="Inter"/>
              </a:rPr>
              <a:t> </a:t>
            </a:r>
            <a:r>
              <a:rPr lang="en-US" sz="3200" b="1" dirty="0" err="1">
                <a:solidFill>
                  <a:srgbClr val="C62828"/>
                </a:solidFill>
                <a:latin typeface="Montserrat Bold" panose="00000800000000000000" pitchFamily="2" charset="-93"/>
                <a:ea typeface="Open Sans" panose="020B0606030504020204" pitchFamily="34" charset="0"/>
                <a:cs typeface="Open Sans" panose="020B0606030504020204" pitchFamily="34" charset="0"/>
                <a:sym typeface="Inter"/>
              </a:rPr>
              <a:t>liệu</a:t>
            </a:r>
            <a:r>
              <a:rPr lang="en-US" sz="3200" b="1" dirty="0">
                <a:solidFill>
                  <a:srgbClr val="C62828"/>
                </a:solidFill>
                <a:latin typeface="Montserrat Bold" panose="00000800000000000000" pitchFamily="2" charset="-93"/>
                <a:ea typeface="Open Sans" panose="020B0606030504020204" pitchFamily="34" charset="0"/>
                <a:cs typeface="Open Sans" panose="020B0606030504020204" pitchFamily="34" charset="0"/>
                <a:sym typeface="Inter"/>
              </a:rPr>
              <a:t> &amp; Cloud</a:t>
            </a:r>
            <a:endParaRPr sz="3200" dirty="0">
              <a:solidFill>
                <a:schemeClr val="dk1"/>
              </a:solidFill>
              <a:latin typeface="Montserrat Bold" panose="00000800000000000000" pitchFamily="2" charset="-93"/>
              <a:ea typeface="Open Sans" panose="020B0606030504020204" pitchFamily="34" charset="0"/>
              <a:cs typeface="Open Sans" panose="020B0606030504020204" pitchFamily="34" charset="0"/>
              <a:sym typeface="Calibri"/>
            </a:endParaRPr>
          </a:p>
        </p:txBody>
      </p:sp>
      <p:sp>
        <p:nvSpPr>
          <p:cNvPr id="197" name="Google Shape;197;p7"/>
          <p:cNvSpPr/>
          <p:nvPr/>
        </p:nvSpPr>
        <p:spPr>
          <a:xfrm>
            <a:off x="1393031" y="7650511"/>
            <a:ext cx="2823790" cy="323165"/>
          </a:xfrm>
          <a:prstGeom prst="rect">
            <a:avLst/>
          </a:prstGeom>
          <a:noFill/>
          <a:ln>
            <a:noFill/>
          </a:ln>
        </p:spPr>
        <p:txBody>
          <a:bodyPr spcFirstLastPara="1" wrap="square" lIns="0" tIns="0" rIns="0" bIns="0" anchor="t" anchorCtr="0">
            <a:spAutoFit/>
          </a:bodyPr>
          <a:lstStyle/>
          <a:p>
            <a:pPr>
              <a:buClr>
                <a:srgbClr val="000000"/>
              </a:buClr>
              <a:buSzPts val="800"/>
            </a:pPr>
            <a:r>
              <a:rPr lang="en-US" sz="2100" b="1"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Inter"/>
              </a:rPr>
              <a:t>Room Database</a:t>
            </a:r>
            <a:endParaRPr sz="21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199" name="Google Shape;199;p7"/>
          <p:cNvSpPr/>
          <p:nvPr/>
        </p:nvSpPr>
        <p:spPr>
          <a:xfrm>
            <a:off x="1393033" y="8068420"/>
            <a:ext cx="3836430" cy="323165"/>
          </a:xfrm>
          <a:prstGeom prst="rect">
            <a:avLst/>
          </a:prstGeom>
          <a:noFill/>
          <a:ln>
            <a:noFill/>
          </a:ln>
        </p:spPr>
        <p:txBody>
          <a:bodyPr spcFirstLastPara="1" wrap="square" lIns="0" tIns="0" rIns="0" bIns="0" anchor="t" anchorCtr="0">
            <a:spAutoFit/>
          </a:bodyPr>
          <a:lstStyle/>
          <a:p>
            <a:pPr>
              <a:buClr>
                <a:srgbClr val="000000"/>
              </a:buClr>
              <a:buSzPts val="800"/>
            </a:pPr>
            <a:r>
              <a:rPr lang="en-US" sz="2100" b="1"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Inter"/>
              </a:rPr>
              <a:t>Firebase Authentication</a:t>
            </a:r>
            <a:endParaRPr sz="21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201" name="Google Shape;201;p7"/>
          <p:cNvSpPr/>
          <p:nvPr/>
        </p:nvSpPr>
        <p:spPr>
          <a:xfrm>
            <a:off x="1393032" y="8486329"/>
            <a:ext cx="2823788" cy="323165"/>
          </a:xfrm>
          <a:prstGeom prst="rect">
            <a:avLst/>
          </a:prstGeom>
          <a:noFill/>
          <a:ln>
            <a:noFill/>
          </a:ln>
        </p:spPr>
        <p:txBody>
          <a:bodyPr spcFirstLastPara="1" wrap="square" lIns="0" tIns="0" rIns="0" bIns="0" anchor="t" anchorCtr="0">
            <a:spAutoFit/>
          </a:bodyPr>
          <a:lstStyle/>
          <a:p>
            <a:pPr>
              <a:buClr>
                <a:srgbClr val="000000"/>
              </a:buClr>
              <a:buSzPts val="800"/>
            </a:pPr>
            <a:r>
              <a:rPr lang="en-US" sz="2100" b="1"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Inter"/>
              </a:rPr>
              <a:t>Cloud </a:t>
            </a:r>
            <a:r>
              <a:rPr lang="en-US" sz="2100" b="1" dirty="0" err="1">
                <a:solidFill>
                  <a:srgbClr val="000000"/>
                </a:solidFill>
                <a:latin typeface="Open Sans" panose="020B0606030504020204" pitchFamily="34" charset="0"/>
                <a:ea typeface="Open Sans" panose="020B0606030504020204" pitchFamily="34" charset="0"/>
                <a:cs typeface="Open Sans" panose="020B0606030504020204" pitchFamily="34" charset="0"/>
                <a:sym typeface="Inter"/>
              </a:rPr>
              <a:t>Firestore</a:t>
            </a:r>
            <a:endParaRPr sz="21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pic>
        <p:nvPicPr>
          <p:cNvPr id="203" name="Google Shape;203;p7" descr="preencoded.png"/>
          <p:cNvPicPr preferRelativeResize="0"/>
          <p:nvPr/>
        </p:nvPicPr>
        <p:blipFill rotWithShape="1">
          <a:blip r:embed="rId7">
            <a:alphaModFix/>
          </a:blip>
          <a:srcRect/>
          <a:stretch/>
        </p:blipFill>
        <p:spPr>
          <a:xfrm>
            <a:off x="9429751" y="7075439"/>
            <a:ext cx="314326" cy="314326"/>
          </a:xfrm>
          <a:prstGeom prst="rect">
            <a:avLst/>
          </a:prstGeom>
          <a:noFill/>
          <a:ln>
            <a:noFill/>
          </a:ln>
        </p:spPr>
      </p:pic>
      <p:sp>
        <p:nvSpPr>
          <p:cNvPr id="204" name="Google Shape;204;p7"/>
          <p:cNvSpPr/>
          <p:nvPr/>
        </p:nvSpPr>
        <p:spPr>
          <a:xfrm>
            <a:off x="9958389" y="7043292"/>
            <a:ext cx="4719318" cy="492443"/>
          </a:xfrm>
          <a:prstGeom prst="rect">
            <a:avLst/>
          </a:prstGeom>
          <a:noFill/>
          <a:ln>
            <a:noFill/>
          </a:ln>
        </p:spPr>
        <p:txBody>
          <a:bodyPr spcFirstLastPara="1" wrap="square" lIns="0" tIns="0" rIns="0" bIns="0" anchor="t" anchorCtr="0">
            <a:spAutoFit/>
          </a:bodyPr>
          <a:lstStyle/>
          <a:p>
            <a:pPr>
              <a:buClr>
                <a:srgbClr val="C62828"/>
              </a:buClr>
              <a:buSzPts val="1100"/>
            </a:pPr>
            <a:r>
              <a:rPr lang="en-US" sz="3200" b="1" dirty="0" err="1">
                <a:solidFill>
                  <a:srgbClr val="C62828"/>
                </a:solidFill>
                <a:latin typeface="Montserrat Bold" panose="00000800000000000000" pitchFamily="2" charset="-93"/>
                <a:ea typeface="Open Sans" panose="020B0606030504020204" pitchFamily="34" charset="0"/>
                <a:cs typeface="Open Sans" panose="020B0606030504020204" pitchFamily="34" charset="0"/>
                <a:sym typeface="Inter"/>
              </a:rPr>
              <a:t>Lập</a:t>
            </a:r>
            <a:r>
              <a:rPr lang="en-US" sz="3200" b="1" dirty="0">
                <a:solidFill>
                  <a:srgbClr val="C62828"/>
                </a:solidFill>
                <a:latin typeface="Montserrat Bold" panose="00000800000000000000" pitchFamily="2" charset="-93"/>
                <a:ea typeface="Open Sans" panose="020B0606030504020204" pitchFamily="34" charset="0"/>
                <a:cs typeface="Open Sans" panose="020B0606030504020204" pitchFamily="34" charset="0"/>
                <a:sym typeface="Inter"/>
              </a:rPr>
              <a:t> </a:t>
            </a:r>
            <a:r>
              <a:rPr lang="en-US" sz="3200" b="1" dirty="0" err="1">
                <a:solidFill>
                  <a:srgbClr val="C62828"/>
                </a:solidFill>
                <a:latin typeface="Montserrat Bold" panose="00000800000000000000" pitchFamily="2" charset="-93"/>
                <a:ea typeface="Open Sans" panose="020B0606030504020204" pitchFamily="34" charset="0"/>
                <a:cs typeface="Open Sans" panose="020B0606030504020204" pitchFamily="34" charset="0"/>
                <a:sym typeface="Inter"/>
              </a:rPr>
              <a:t>trình</a:t>
            </a:r>
            <a:r>
              <a:rPr lang="en-US" sz="3200" b="1" dirty="0">
                <a:solidFill>
                  <a:srgbClr val="C62828"/>
                </a:solidFill>
                <a:latin typeface="Montserrat Bold" panose="00000800000000000000" pitchFamily="2" charset="-93"/>
                <a:ea typeface="Open Sans" panose="020B0606030504020204" pitchFamily="34" charset="0"/>
                <a:cs typeface="Open Sans" panose="020B0606030504020204" pitchFamily="34" charset="0"/>
                <a:sym typeface="Inter"/>
              </a:rPr>
              <a:t> </a:t>
            </a:r>
            <a:r>
              <a:rPr lang="en-US" sz="3200" b="1" dirty="0" err="1">
                <a:solidFill>
                  <a:srgbClr val="C62828"/>
                </a:solidFill>
                <a:latin typeface="Montserrat Bold" panose="00000800000000000000" pitchFamily="2" charset="-93"/>
                <a:ea typeface="Open Sans" panose="020B0606030504020204" pitchFamily="34" charset="0"/>
                <a:cs typeface="Open Sans" panose="020B0606030504020204" pitchFamily="34" charset="0"/>
                <a:sym typeface="Inter"/>
              </a:rPr>
              <a:t>bất</a:t>
            </a:r>
            <a:r>
              <a:rPr lang="en-US" sz="3200" b="1" dirty="0">
                <a:solidFill>
                  <a:srgbClr val="C62828"/>
                </a:solidFill>
                <a:latin typeface="Montserrat Bold" panose="00000800000000000000" pitchFamily="2" charset="-93"/>
                <a:ea typeface="Open Sans" panose="020B0606030504020204" pitchFamily="34" charset="0"/>
                <a:cs typeface="Open Sans" panose="020B0606030504020204" pitchFamily="34" charset="0"/>
                <a:sym typeface="Inter"/>
              </a:rPr>
              <a:t> </a:t>
            </a:r>
            <a:r>
              <a:rPr lang="en-US" sz="3200" b="1" dirty="0" err="1">
                <a:solidFill>
                  <a:srgbClr val="C62828"/>
                </a:solidFill>
                <a:latin typeface="Montserrat Bold" panose="00000800000000000000" pitchFamily="2" charset="-93"/>
                <a:ea typeface="Open Sans" panose="020B0606030504020204" pitchFamily="34" charset="0"/>
                <a:cs typeface="Open Sans" panose="020B0606030504020204" pitchFamily="34" charset="0"/>
                <a:sym typeface="Inter"/>
              </a:rPr>
              <a:t>đồng</a:t>
            </a:r>
            <a:r>
              <a:rPr lang="en-US" sz="3200" b="1" dirty="0">
                <a:solidFill>
                  <a:srgbClr val="C62828"/>
                </a:solidFill>
                <a:latin typeface="Montserrat Bold" panose="00000800000000000000" pitchFamily="2" charset="-93"/>
                <a:ea typeface="Open Sans" panose="020B0606030504020204" pitchFamily="34" charset="0"/>
                <a:cs typeface="Open Sans" panose="020B0606030504020204" pitchFamily="34" charset="0"/>
                <a:sym typeface="Inter"/>
              </a:rPr>
              <a:t> </a:t>
            </a:r>
            <a:r>
              <a:rPr lang="en-US" sz="3200" b="1" dirty="0" err="1">
                <a:solidFill>
                  <a:srgbClr val="C62828"/>
                </a:solidFill>
                <a:latin typeface="Montserrat Bold" panose="00000800000000000000" pitchFamily="2" charset="-93"/>
                <a:ea typeface="Open Sans" panose="020B0606030504020204" pitchFamily="34" charset="0"/>
                <a:cs typeface="Open Sans" panose="020B0606030504020204" pitchFamily="34" charset="0"/>
                <a:sym typeface="Inter"/>
              </a:rPr>
              <a:t>bộ</a:t>
            </a:r>
            <a:endParaRPr sz="3200" dirty="0">
              <a:solidFill>
                <a:schemeClr val="dk1"/>
              </a:solidFill>
              <a:latin typeface="Montserrat Bold" panose="00000800000000000000" pitchFamily="2" charset="-93"/>
              <a:ea typeface="Open Sans" panose="020B0606030504020204" pitchFamily="34" charset="0"/>
              <a:cs typeface="Open Sans" panose="020B0606030504020204" pitchFamily="34" charset="0"/>
              <a:sym typeface="Calibri"/>
            </a:endParaRPr>
          </a:p>
        </p:txBody>
      </p:sp>
      <p:sp>
        <p:nvSpPr>
          <p:cNvPr id="205" name="Google Shape;205;p7"/>
          <p:cNvSpPr/>
          <p:nvPr/>
        </p:nvSpPr>
        <p:spPr>
          <a:xfrm>
            <a:off x="9679781" y="7650510"/>
            <a:ext cx="3318302" cy="646331"/>
          </a:xfrm>
          <a:prstGeom prst="rect">
            <a:avLst/>
          </a:prstGeom>
          <a:noFill/>
          <a:ln>
            <a:noFill/>
          </a:ln>
        </p:spPr>
        <p:txBody>
          <a:bodyPr spcFirstLastPara="1" wrap="square" lIns="0" tIns="0" rIns="0" bIns="0" anchor="t" anchorCtr="0">
            <a:spAutoFit/>
          </a:bodyPr>
          <a:lstStyle/>
          <a:p>
            <a:pPr>
              <a:buSzPts val="800"/>
            </a:pPr>
            <a:r>
              <a:rPr lang="en-US" sz="2100" b="1"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Inter"/>
              </a:rPr>
              <a:t>Kotlin Coroutines </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&amp; Flow</a:t>
            </a:r>
            <a:endParaRPr lang="en-US" sz="21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Calibri"/>
            </a:endParaRPr>
          </a:p>
          <a:p>
            <a:pPr>
              <a:buClr>
                <a:srgbClr val="000000"/>
              </a:buClr>
              <a:buSzPts val="800"/>
            </a:pPr>
            <a:endParaRPr sz="21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207" name="Google Shape;207;p7"/>
          <p:cNvSpPr/>
          <p:nvPr/>
        </p:nvSpPr>
        <p:spPr>
          <a:xfrm>
            <a:off x="9679782" y="8068421"/>
            <a:ext cx="2199860" cy="323165"/>
          </a:xfrm>
          <a:prstGeom prst="rect">
            <a:avLst/>
          </a:prstGeom>
          <a:noFill/>
          <a:ln>
            <a:noFill/>
          </a:ln>
        </p:spPr>
        <p:txBody>
          <a:bodyPr spcFirstLastPara="1" wrap="square" lIns="0" tIns="0" rIns="0" bIns="0" anchor="t" anchorCtr="0">
            <a:spAutoFit/>
          </a:bodyPr>
          <a:lstStyle/>
          <a:p>
            <a:pPr>
              <a:buClr>
                <a:srgbClr val="000000"/>
              </a:buClr>
              <a:buSzPts val="800"/>
            </a:pPr>
            <a:r>
              <a:rPr lang="en-US" sz="2100" b="1" dirty="0" err="1">
                <a:solidFill>
                  <a:srgbClr val="000000"/>
                </a:solidFill>
                <a:latin typeface="Open Sans" panose="020B0606030504020204" pitchFamily="34" charset="0"/>
                <a:ea typeface="Open Sans" panose="020B0606030504020204" pitchFamily="34" charset="0"/>
                <a:cs typeface="Open Sans" panose="020B0606030504020204" pitchFamily="34" charset="0"/>
                <a:sym typeface="Inter"/>
              </a:rPr>
              <a:t>WorkManager</a:t>
            </a:r>
            <a:endParaRPr sz="21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209" name="Google Shape;209;p7"/>
          <p:cNvSpPr/>
          <p:nvPr/>
        </p:nvSpPr>
        <p:spPr>
          <a:xfrm>
            <a:off x="9679780" y="8486328"/>
            <a:ext cx="4708796" cy="646331"/>
          </a:xfrm>
          <a:prstGeom prst="rect">
            <a:avLst/>
          </a:prstGeom>
          <a:noFill/>
          <a:ln>
            <a:noFill/>
          </a:ln>
        </p:spPr>
        <p:txBody>
          <a:bodyPr spcFirstLastPara="1" wrap="square" lIns="0" tIns="0" rIns="0" bIns="0" anchor="t" anchorCtr="0">
            <a:spAutoFit/>
          </a:bodyPr>
          <a:lstStyle/>
          <a:p>
            <a:pPr>
              <a:buClr>
                <a:srgbClr val="444444"/>
              </a:buClr>
              <a:buSzPts val="850"/>
            </a:pP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Thuật</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dirty="0" err="1">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toán</a:t>
            </a:r>
            <a:r>
              <a:rPr lang="en-US" sz="2100" dirty="0">
                <a:solidFill>
                  <a:srgbClr val="444444"/>
                </a:solidFill>
                <a:latin typeface="Open Sans" panose="020B0606030504020204" pitchFamily="34" charset="0"/>
                <a:ea typeface="Open Sans" panose="020B0606030504020204" pitchFamily="34" charset="0"/>
                <a:cs typeface="Open Sans" panose="020B0606030504020204" pitchFamily="34" charset="0"/>
                <a:sym typeface="Inter"/>
              </a:rPr>
              <a:t> </a:t>
            </a:r>
            <a:r>
              <a:rPr lang="en-US" sz="2100" b="1" dirty="0">
                <a:latin typeface="Open Sans" panose="020B0606030504020204" pitchFamily="34" charset="0"/>
                <a:ea typeface="Open Sans" panose="020B0606030504020204" pitchFamily="34" charset="0"/>
                <a:cs typeface="Open Sans" panose="020B0606030504020204" pitchFamily="34" charset="0"/>
                <a:sym typeface="Inter"/>
              </a:rPr>
              <a:t>SM-2 Spaced Repetition</a:t>
            </a:r>
            <a:endParaRPr lang="en-US" sz="21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Calibri"/>
            </a:endParaRPr>
          </a:p>
          <a:p>
            <a:pPr>
              <a:buClr>
                <a:srgbClr val="444444"/>
              </a:buClr>
              <a:buSzPts val="850"/>
            </a:pPr>
            <a:endParaRPr sz="210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cxnSp>
        <p:nvCxnSpPr>
          <p:cNvPr id="2" name="Straight Connector 1">
            <a:extLst>
              <a:ext uri="{FF2B5EF4-FFF2-40B4-BE49-F238E27FC236}">
                <a16:creationId xmlns:a16="http://schemas.microsoft.com/office/drawing/2014/main" id="{A5C07CAF-937B-3BF8-6222-E7921815423A}"/>
              </a:ext>
            </a:extLst>
          </p:cNvPr>
          <p:cNvCxnSpPr>
            <a:cxnSpLocks/>
          </p:cNvCxnSpPr>
          <p:nvPr/>
        </p:nvCxnSpPr>
        <p:spPr>
          <a:xfrm>
            <a:off x="1485900" y="2253911"/>
            <a:ext cx="10907620" cy="59414"/>
          </a:xfrm>
          <a:prstGeom prst="line">
            <a:avLst/>
          </a:prstGeom>
          <a:ln w="12700">
            <a:solidFill>
              <a:srgbClr val="C62828"/>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63C6359-158D-1B21-BB6C-034B405D4AB4}"/>
              </a:ext>
            </a:extLst>
          </p:cNvPr>
          <p:cNvSpPr txBox="1"/>
          <p:nvPr/>
        </p:nvSpPr>
        <p:spPr>
          <a:xfrm>
            <a:off x="17831821" y="9831884"/>
            <a:ext cx="415498"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D8CFA-4F80-6AFC-4B3D-F30B78C9C5A0}"/>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39A3F2A2-0092-838E-594E-C999CF6D7823}"/>
              </a:ext>
            </a:extLst>
          </p:cNvPr>
          <p:cNvPicPr>
            <a:picLocks noChangeAspect="1"/>
          </p:cNvPicPr>
          <p:nvPr/>
        </p:nvPicPr>
        <p:blipFill>
          <a:blip r:embed="rId3"/>
          <a:stretch>
            <a:fillRect/>
          </a:stretch>
        </p:blipFill>
        <p:spPr>
          <a:xfrm>
            <a:off x="0" y="0"/>
            <a:ext cx="18288000" cy="10287000"/>
          </a:xfrm>
          <a:prstGeom prst="rect">
            <a:avLst/>
          </a:prstGeom>
        </p:spPr>
      </p:pic>
      <p:sp>
        <p:nvSpPr>
          <p:cNvPr id="3" name="Text 0">
            <a:extLst>
              <a:ext uri="{FF2B5EF4-FFF2-40B4-BE49-F238E27FC236}">
                <a16:creationId xmlns:a16="http://schemas.microsoft.com/office/drawing/2014/main" id="{D2757F3A-A72E-FB78-9380-D79F94F3E558}"/>
              </a:ext>
            </a:extLst>
          </p:cNvPr>
          <p:cNvSpPr/>
          <p:nvPr/>
        </p:nvSpPr>
        <p:spPr>
          <a:xfrm>
            <a:off x="1714500" y="3899429"/>
            <a:ext cx="16573500" cy="1015663"/>
          </a:xfrm>
          <a:prstGeom prst="rect">
            <a:avLst/>
          </a:prstGeom>
          <a:noFill/>
          <a:ln/>
        </p:spPr>
        <p:txBody>
          <a:bodyPr wrap="square" lIns="0" tIns="0" rIns="0" bIns="0" rtlCol="0" anchor="t">
            <a:spAutoFit/>
          </a:bodyPr>
          <a:lstStyle/>
          <a:p>
            <a:pPr>
              <a:lnSpc>
                <a:spcPct val="88000"/>
              </a:lnSpc>
            </a:pPr>
            <a:r>
              <a:rPr lang="en-US" sz="7500" b="1" kern="0" spc="-2" dirty="0" err="1">
                <a:solidFill>
                  <a:srgbClr val="0A0A0A"/>
                </a:solidFill>
                <a:latin typeface="Montserrat Black" pitchFamily="34" charset="0"/>
                <a:ea typeface="Montserrat Black" pitchFamily="34" charset="-122"/>
                <a:cs typeface="Montserrat Black" pitchFamily="34" charset="-120"/>
              </a:rPr>
              <a:t>PHẦN</a:t>
            </a:r>
            <a:r>
              <a:rPr lang="en-US" sz="7500" b="1" kern="0" spc="-2" dirty="0">
                <a:solidFill>
                  <a:srgbClr val="0A0A0A"/>
                </a:solidFill>
                <a:latin typeface="Montserrat Black" pitchFamily="34" charset="0"/>
                <a:ea typeface="Montserrat Black" pitchFamily="34" charset="-122"/>
                <a:cs typeface="Montserrat Black" pitchFamily="34" charset="-120"/>
              </a:rPr>
              <a:t> 2: </a:t>
            </a:r>
            <a:r>
              <a:rPr lang="vi-VN" sz="7500" b="1" kern="0" spc="-2" dirty="0">
                <a:solidFill>
                  <a:srgbClr val="0A0A0A"/>
                </a:solidFill>
                <a:latin typeface="Montserrat Black" pitchFamily="34" charset="0"/>
                <a:ea typeface="Montserrat Black" pitchFamily="34" charset="-122"/>
                <a:cs typeface="Montserrat Black" pitchFamily="34" charset="-120"/>
              </a:rPr>
              <a:t>THIẾT KẾ HỆ THỐNG</a:t>
            </a:r>
          </a:p>
        </p:txBody>
      </p:sp>
      <p:sp>
        <p:nvSpPr>
          <p:cNvPr id="4" name="TextBox 3">
            <a:extLst>
              <a:ext uri="{FF2B5EF4-FFF2-40B4-BE49-F238E27FC236}">
                <a16:creationId xmlns:a16="http://schemas.microsoft.com/office/drawing/2014/main" id="{B092E7D7-8304-21ED-115D-83D07982B1B9}"/>
              </a:ext>
            </a:extLst>
          </p:cNvPr>
          <p:cNvSpPr txBox="1"/>
          <p:nvPr/>
        </p:nvSpPr>
        <p:spPr>
          <a:xfrm>
            <a:off x="17831821" y="9831884"/>
            <a:ext cx="415498"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09</a:t>
            </a:r>
            <a:endParaRPr lang="vi-V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34161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18288000" cy="10287000"/>
          </a:xfrm>
          <a:prstGeom prst="rect">
            <a:avLst/>
          </a:prstGeom>
        </p:spPr>
      </p:pic>
      <p:sp>
        <p:nvSpPr>
          <p:cNvPr id="4" name="Text 0"/>
          <p:cNvSpPr/>
          <p:nvPr/>
        </p:nvSpPr>
        <p:spPr>
          <a:xfrm>
            <a:off x="1142998" y="1114426"/>
            <a:ext cx="6672264" cy="2585323"/>
          </a:xfrm>
          <a:prstGeom prst="rect">
            <a:avLst/>
          </a:prstGeom>
          <a:noFill/>
          <a:ln/>
        </p:spPr>
        <p:txBody>
          <a:bodyPr wrap="square" lIns="0" tIns="0" rIns="0" bIns="0" rtlCol="0" anchor="t">
            <a:spAutoFit/>
          </a:bodyPr>
          <a:lstStyle/>
          <a:p>
            <a:r>
              <a:rPr lang="en-US" sz="5600" b="1" dirty="0">
                <a:solidFill>
                  <a:srgbClr val="000000"/>
                </a:solidFill>
                <a:latin typeface="Montserrat Bold" panose="020B0604020202020204" charset="-93"/>
                <a:ea typeface="Inter Black" pitchFamily="34" charset="-122"/>
                <a:cs typeface="Inter Black" pitchFamily="34" charset="-120"/>
              </a:rPr>
              <a:t>MÔ HÌNH KIẾN TRÚC TỔNG QUÁT</a:t>
            </a:r>
            <a:endParaRPr lang="en-US" sz="5600" dirty="0">
              <a:latin typeface="Montserrat Bold" panose="020B0604020202020204" charset="-93"/>
            </a:endParaRPr>
          </a:p>
        </p:txBody>
      </p:sp>
      <p:pic>
        <p:nvPicPr>
          <p:cNvPr id="2" name="Picture 1">
            <a:extLst>
              <a:ext uri="{FF2B5EF4-FFF2-40B4-BE49-F238E27FC236}">
                <a16:creationId xmlns:a16="http://schemas.microsoft.com/office/drawing/2014/main" id="{5FCC7C8B-2E2F-617D-5525-0A4472AD3E3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24241" y="265429"/>
            <a:ext cx="7554322" cy="9821546"/>
          </a:xfrm>
          <a:prstGeom prst="rect">
            <a:avLst/>
          </a:prstGeom>
        </p:spPr>
      </p:pic>
      <p:sp>
        <p:nvSpPr>
          <p:cNvPr id="5" name="TextBox 4">
            <a:extLst>
              <a:ext uri="{FF2B5EF4-FFF2-40B4-BE49-F238E27FC236}">
                <a16:creationId xmlns:a16="http://schemas.microsoft.com/office/drawing/2014/main" id="{72389325-98DF-9E13-B972-3E7B125CA230}"/>
              </a:ext>
            </a:extLst>
          </p:cNvPr>
          <p:cNvSpPr txBox="1"/>
          <p:nvPr/>
        </p:nvSpPr>
        <p:spPr>
          <a:xfrm>
            <a:off x="17831821" y="9831884"/>
            <a:ext cx="415498"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10</a:t>
            </a:r>
            <a:endParaRPr lang="vi-V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18288000" cy="10287000"/>
          </a:xfrm>
          <a:prstGeom prst="rect">
            <a:avLst/>
          </a:prstGeom>
        </p:spPr>
      </p:pic>
      <p:sp>
        <p:nvSpPr>
          <p:cNvPr id="4" name="Text 0"/>
          <p:cNvSpPr/>
          <p:nvPr/>
        </p:nvSpPr>
        <p:spPr>
          <a:xfrm>
            <a:off x="1143000" y="1114426"/>
            <a:ext cx="17145000" cy="615553"/>
          </a:xfrm>
          <a:prstGeom prst="rect">
            <a:avLst/>
          </a:prstGeom>
          <a:noFill/>
          <a:ln/>
        </p:spPr>
        <p:txBody>
          <a:bodyPr wrap="square" lIns="0" tIns="0" rIns="0" bIns="0" rtlCol="0" anchor="t">
            <a:spAutoFit/>
          </a:bodyPr>
          <a:lstStyle/>
          <a:p>
            <a:r>
              <a:rPr lang="en-US" sz="4000" b="1" dirty="0">
                <a:solidFill>
                  <a:srgbClr val="000000"/>
                </a:solidFill>
                <a:latin typeface="Montserrat Bold" panose="00000800000000000000" pitchFamily="2" charset="-93"/>
                <a:ea typeface="Open Sans" panose="020B0606030504020204" pitchFamily="34" charset="0"/>
                <a:cs typeface="Open Sans" panose="020B0606030504020204" pitchFamily="34" charset="0"/>
              </a:rPr>
              <a:t>TỔNG QUAN KIẾN TRÚC PHẦN MỀM</a:t>
            </a:r>
            <a:endParaRPr lang="en-US" sz="4000" dirty="0">
              <a:latin typeface="Montserrat Bold" panose="00000800000000000000" pitchFamily="2" charset="-93"/>
              <a:ea typeface="Open Sans" panose="020B0606030504020204" pitchFamily="34" charset="0"/>
              <a:cs typeface="Open Sans" panose="020B0606030504020204" pitchFamily="34" charset="0"/>
            </a:endParaRPr>
          </a:p>
        </p:txBody>
      </p:sp>
      <p:sp>
        <p:nvSpPr>
          <p:cNvPr id="5" name="Text 1"/>
          <p:cNvSpPr/>
          <p:nvPr/>
        </p:nvSpPr>
        <p:spPr>
          <a:xfrm>
            <a:off x="1443038" y="2396728"/>
            <a:ext cx="7186612" cy="553998"/>
          </a:xfrm>
          <a:prstGeom prst="rect">
            <a:avLst/>
          </a:prstGeom>
          <a:noFill/>
          <a:ln/>
        </p:spPr>
        <p:txBody>
          <a:bodyPr wrap="square" lIns="0" tIns="0" rIns="0" bIns="0" rtlCol="0" anchor="t">
            <a:spAutoFit/>
          </a:bodyPr>
          <a:lstStyle/>
          <a:p>
            <a:r>
              <a:rPr lang="en-US" sz="3600" b="1" dirty="0">
                <a:solidFill>
                  <a:srgbClr val="C1121F"/>
                </a:solidFill>
                <a:latin typeface="Montserrat Bold" panose="00000800000000000000" pitchFamily="2" charset="-93"/>
                <a:ea typeface="Open Sans" panose="020B0606030504020204" pitchFamily="34" charset="0"/>
                <a:cs typeface="Open Sans" panose="020B0606030504020204" pitchFamily="34" charset="0"/>
              </a:rPr>
              <a:t>MÔ HÌNH CỐT LÕI</a:t>
            </a:r>
            <a:endParaRPr lang="en-US" sz="3600" dirty="0">
              <a:latin typeface="Montserrat Bold" panose="00000800000000000000" pitchFamily="2" charset="-93"/>
              <a:ea typeface="Open Sans" panose="020B0606030504020204" pitchFamily="34" charset="0"/>
              <a:cs typeface="Open Sans" panose="020B0606030504020204" pitchFamily="34" charset="0"/>
            </a:endParaRPr>
          </a:p>
        </p:txBody>
      </p:sp>
      <p:sp>
        <p:nvSpPr>
          <p:cNvPr id="6" name="Text 2"/>
          <p:cNvSpPr/>
          <p:nvPr/>
        </p:nvSpPr>
        <p:spPr>
          <a:xfrm>
            <a:off x="1757360" y="3135737"/>
            <a:ext cx="1697932" cy="712567"/>
          </a:xfrm>
          <a:prstGeom prst="rect">
            <a:avLst/>
          </a:prstGeom>
          <a:noFill/>
          <a:ln/>
        </p:spPr>
        <p:txBody>
          <a:bodyPr wrap="square" lIns="0" tIns="0" rIns="0" bIns="0" rtlCol="0" anchor="t">
            <a:spAutoFit/>
          </a:bodyPr>
          <a:lstStyle/>
          <a:p>
            <a:pPr>
              <a:lnSpc>
                <a:spcPct val="120000"/>
              </a:lnSpc>
            </a:pPr>
            <a:r>
              <a:rPr lang="en-US" sz="2000" dirty="0">
                <a:solidFill>
                  <a:srgbClr val="000000"/>
                </a:solidFill>
                <a:latin typeface="Open Sans" panose="020B0606030504020204" pitchFamily="34" charset="0"/>
                <a:ea typeface="Open Sans" panose="020B0606030504020204" pitchFamily="34" charset="0"/>
                <a:cs typeface="Open Sans" panose="020B0606030504020204" pitchFamily="34" charset="0"/>
              </a:rPr>
              <a:t>Clean Architecture</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
        <p:nvSpPr>
          <p:cNvPr id="7" name="Text 3"/>
          <p:cNvSpPr/>
          <p:nvPr/>
        </p:nvSpPr>
        <p:spPr>
          <a:xfrm>
            <a:off x="2625156" y="3161015"/>
            <a:ext cx="5128352" cy="343235"/>
          </a:xfrm>
          <a:prstGeom prst="rect">
            <a:avLst/>
          </a:prstGeom>
          <a:noFill/>
          <a:ln/>
        </p:spPr>
        <p:txBody>
          <a:bodyPr wrap="square" lIns="0" tIns="0" rIns="0" bIns="0" rtlCol="0" anchor="t">
            <a:spAutoFit/>
          </a:bodyPr>
          <a:lstStyle/>
          <a:p>
            <a:pPr>
              <a:lnSpc>
                <a:spcPct val="120000"/>
              </a:lnSpc>
            </a:pPr>
            <a:r>
              <a:rPr lang="en-US" sz="2000" dirty="0">
                <a:solidFill>
                  <a:srgbClr val="000000"/>
                </a:solidFill>
                <a:latin typeface="Open Sans" panose="020B0606030504020204" pitchFamily="34" charset="0"/>
                <a:ea typeface="Open Sans" panose="020B0606030504020204" pitchFamily="34" charset="0"/>
                <a:cs typeface="Open Sans" panose="020B0606030504020204" pitchFamily="34" charset="0"/>
              </a:rPr>
              <a:t>: Tách biệt hoàn toàn các tầng nghiệp vụ.</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Text 4"/>
          <p:cNvSpPr/>
          <p:nvPr/>
        </p:nvSpPr>
        <p:spPr>
          <a:xfrm>
            <a:off x="1757363" y="3886201"/>
            <a:ext cx="766235" cy="343235"/>
          </a:xfrm>
          <a:prstGeom prst="rect">
            <a:avLst/>
          </a:prstGeom>
          <a:noFill/>
          <a:ln/>
        </p:spPr>
        <p:txBody>
          <a:bodyPr wrap="none" lIns="0" tIns="0" rIns="0" bIns="0" rtlCol="0" anchor="t">
            <a:spAutoFit/>
          </a:bodyPr>
          <a:lstStyle/>
          <a:p>
            <a:pPr>
              <a:lnSpc>
                <a:spcPct val="120000"/>
              </a:lnSpc>
            </a:pPr>
            <a:r>
              <a:rPr lang="en-US" sz="2000" dirty="0">
                <a:solidFill>
                  <a:srgbClr val="000000"/>
                </a:solidFill>
                <a:latin typeface="Open Sans" panose="020B0606030504020204" pitchFamily="34" charset="0"/>
                <a:ea typeface="Open Sans" panose="020B0606030504020204" pitchFamily="34" charset="0"/>
                <a:cs typeface="Open Sans" panose="020B0606030504020204" pitchFamily="34" charset="0"/>
              </a:rPr>
              <a:t>MVVM</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
        <p:nvSpPr>
          <p:cNvPr id="9" name="Text 5"/>
          <p:cNvSpPr/>
          <p:nvPr/>
        </p:nvSpPr>
        <p:spPr>
          <a:xfrm>
            <a:off x="2568178" y="3886201"/>
            <a:ext cx="4528484" cy="343235"/>
          </a:xfrm>
          <a:prstGeom prst="rect">
            <a:avLst/>
          </a:prstGeom>
          <a:noFill/>
          <a:ln/>
        </p:spPr>
        <p:txBody>
          <a:bodyPr wrap="none" lIns="0" tIns="0" rIns="0" bIns="0" rtlCol="0" anchor="t">
            <a:spAutoFit/>
          </a:bodyPr>
          <a:lstStyle/>
          <a:p>
            <a:pPr>
              <a:lnSpc>
                <a:spcPct val="120000"/>
              </a:lnSpc>
            </a:pPr>
            <a:r>
              <a:rPr lang="en-US" sz="2000" dirty="0">
                <a:solidFill>
                  <a:srgbClr val="000000"/>
                </a:solidFill>
                <a:latin typeface="Open Sans" panose="020B0606030504020204" pitchFamily="34" charset="0"/>
                <a:ea typeface="Open Sans" panose="020B0606030504020204" pitchFamily="34" charset="0"/>
                <a:cs typeface="Open Sans" panose="020B0606030504020204" pitchFamily="34" charset="0"/>
              </a:rPr>
              <a:t>: Quản lý trạng thái giao diện hiện đại.</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6"/>
          <p:cNvSpPr/>
          <p:nvPr/>
        </p:nvSpPr>
        <p:spPr>
          <a:xfrm>
            <a:off x="1757362" y="4443413"/>
            <a:ext cx="1032334" cy="343235"/>
          </a:xfrm>
          <a:prstGeom prst="rect">
            <a:avLst/>
          </a:prstGeom>
          <a:noFill/>
          <a:ln/>
        </p:spPr>
        <p:txBody>
          <a:bodyPr wrap="none" lIns="0" tIns="0" rIns="0" bIns="0" rtlCol="0" anchor="t">
            <a:spAutoFit/>
          </a:bodyPr>
          <a:lstStyle/>
          <a:p>
            <a:pPr>
              <a:lnSpc>
                <a:spcPct val="120000"/>
              </a:lnSpc>
            </a:pPr>
            <a:r>
              <a:rPr lang="en-US" sz="2000" dirty="0">
                <a:solidFill>
                  <a:srgbClr val="000000"/>
                </a:solidFill>
                <a:latin typeface="Open Sans" panose="020B0606030504020204" pitchFamily="34" charset="0"/>
                <a:ea typeface="Open Sans" panose="020B0606030504020204" pitchFamily="34" charset="0"/>
                <a:cs typeface="Open Sans" panose="020B0606030504020204" pitchFamily="34" charset="0"/>
              </a:rPr>
              <a:t>Mục tiêu</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7"/>
          <p:cNvSpPr/>
          <p:nvPr/>
        </p:nvSpPr>
        <p:spPr>
          <a:xfrm>
            <a:off x="2789635" y="4443413"/>
            <a:ext cx="5729132" cy="343235"/>
          </a:xfrm>
          <a:prstGeom prst="rect">
            <a:avLst/>
          </a:prstGeom>
          <a:noFill/>
          <a:ln/>
        </p:spPr>
        <p:txBody>
          <a:bodyPr wrap="none" lIns="0" tIns="0" rIns="0" bIns="0" rtlCol="0" anchor="t">
            <a:spAutoFit/>
          </a:bodyPr>
          <a:lstStyle/>
          <a:p>
            <a:pPr>
              <a:lnSpc>
                <a:spcPct val="120000"/>
              </a:lnSpc>
            </a:pPr>
            <a:r>
              <a:rPr lang="en-US" sz="2000" dirty="0">
                <a:solidFill>
                  <a:srgbClr val="000000"/>
                </a:solidFill>
                <a:latin typeface="Open Sans" panose="020B0606030504020204" pitchFamily="34" charset="0"/>
                <a:ea typeface="Open Sans" panose="020B0606030504020204" pitchFamily="34" charset="0"/>
                <a:cs typeface="Open Sans" panose="020B0606030504020204" pitchFamily="34" charset="0"/>
              </a:rPr>
              <a:t>: Khả năng mở rộng, bảo trì và kiểm thử độc lập.</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
        <p:nvSpPr>
          <p:cNvPr id="12" name="Shape 8"/>
          <p:cNvSpPr/>
          <p:nvPr/>
        </p:nvSpPr>
        <p:spPr>
          <a:xfrm>
            <a:off x="1443038" y="5000627"/>
            <a:ext cx="7186612" cy="3343274"/>
          </a:xfrm>
          <a:prstGeom prst="rect">
            <a:avLst/>
          </a:prstGeom>
          <a:solidFill>
            <a:srgbClr val="F9F9F9"/>
          </a:solidFill>
          <a:ln w="9144">
            <a:solidFill>
              <a:srgbClr val="1A1A1A"/>
            </a:solidFill>
            <a:prstDash val="dash"/>
          </a:ln>
        </p:spPr>
      </p:sp>
      <p:sp>
        <p:nvSpPr>
          <p:cNvPr id="13" name="Text 9"/>
          <p:cNvSpPr/>
          <p:nvPr/>
        </p:nvSpPr>
        <p:spPr>
          <a:xfrm>
            <a:off x="3700462" y="6456164"/>
            <a:ext cx="3221772" cy="307777"/>
          </a:xfrm>
          <a:prstGeom prst="rect">
            <a:avLst/>
          </a:prstGeom>
          <a:noFill/>
          <a:ln/>
        </p:spPr>
        <p:txBody>
          <a:bodyPr wrap="square" lIns="0" tIns="0" rIns="0" bIns="0" rtlCol="0" anchor="t">
            <a:spAutoFit/>
          </a:bodyPr>
          <a:lstStyle/>
          <a:p>
            <a:r>
              <a:rPr lang="en-US" sz="2000" b="1" dirty="0">
                <a:solidFill>
                  <a:srgbClr val="C1121F"/>
                </a:solidFill>
                <a:latin typeface="Open Sans" panose="020B0606030504020204" pitchFamily="34" charset="0"/>
                <a:ea typeface="Open Sans" panose="020B0606030504020204" pitchFamily="34" charset="0"/>
                <a:cs typeface="Open Sans" panose="020B0606030504020204" pitchFamily="34" charset="0"/>
              </a:rPr>
              <a:t>CLEAN ARCHITECTURE</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0"/>
          <p:cNvSpPr/>
          <p:nvPr/>
        </p:nvSpPr>
        <p:spPr>
          <a:xfrm>
            <a:off x="3455292" y="6731199"/>
            <a:ext cx="4298216" cy="307777"/>
          </a:xfrm>
          <a:prstGeom prst="rect">
            <a:avLst/>
          </a:prstGeom>
          <a:noFill/>
          <a:ln/>
        </p:spPr>
        <p:txBody>
          <a:bodyPr wrap="square" lIns="0" tIns="0" rIns="0" bIns="0" rtlCol="0" anchor="t">
            <a:spAutoFit/>
          </a:bodyPr>
          <a:lstStyle/>
          <a:p>
            <a:r>
              <a:rPr lang="en-US" sz="2000" dirty="0">
                <a:solidFill>
                  <a:srgbClr val="000000"/>
                </a:solidFill>
                <a:latin typeface="Open Sans" panose="020B0606030504020204" pitchFamily="34" charset="0"/>
                <a:ea typeface="Open Sans" panose="020B0606030504020204" pitchFamily="34" charset="0"/>
                <a:cs typeface="Open Sans" panose="020B0606030504020204" pitchFamily="34" charset="0"/>
              </a:rPr>
              <a:t>Presentation ➔ Domain ➔ Data</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1"/>
          <p:cNvSpPr/>
          <p:nvPr/>
        </p:nvSpPr>
        <p:spPr>
          <a:xfrm>
            <a:off x="9658350" y="2396728"/>
            <a:ext cx="7186612" cy="553998"/>
          </a:xfrm>
          <a:prstGeom prst="rect">
            <a:avLst/>
          </a:prstGeom>
          <a:noFill/>
          <a:ln/>
        </p:spPr>
        <p:txBody>
          <a:bodyPr wrap="square" lIns="0" tIns="0" rIns="0" bIns="0" rtlCol="0" anchor="t">
            <a:spAutoFit/>
          </a:bodyPr>
          <a:lstStyle/>
          <a:p>
            <a:r>
              <a:rPr lang="en-US" sz="3600" b="1" dirty="0">
                <a:solidFill>
                  <a:srgbClr val="C1121F"/>
                </a:solidFill>
                <a:latin typeface="Montserrat Bold" panose="00000800000000000000" pitchFamily="2" charset="-93"/>
                <a:ea typeface="Open Sans" panose="020B0606030504020204" pitchFamily="34" charset="0"/>
                <a:cs typeface="Open Sans" panose="020B0606030504020204" pitchFamily="34" charset="0"/>
              </a:rPr>
              <a:t>CẤU TRÚC 3 TẦNG CHÍNH</a:t>
            </a:r>
            <a:endParaRPr lang="en-US" sz="3600" dirty="0">
              <a:latin typeface="Montserrat Bold" panose="00000800000000000000" pitchFamily="2" charset="-93"/>
              <a:ea typeface="Open Sans" panose="020B0606030504020204" pitchFamily="34" charset="0"/>
              <a:cs typeface="Open Sans" panose="020B0606030504020204" pitchFamily="34" charset="0"/>
            </a:endParaRPr>
          </a:p>
        </p:txBody>
      </p:sp>
      <p:sp>
        <p:nvSpPr>
          <p:cNvPr id="16" name="Text 12"/>
          <p:cNvSpPr/>
          <p:nvPr/>
        </p:nvSpPr>
        <p:spPr>
          <a:xfrm>
            <a:off x="9998281" y="3124375"/>
            <a:ext cx="1811890" cy="712567"/>
          </a:xfrm>
          <a:prstGeom prst="rect">
            <a:avLst/>
          </a:prstGeom>
          <a:noFill/>
          <a:ln/>
        </p:spPr>
        <p:txBody>
          <a:bodyPr wrap="square" lIns="0" tIns="0" rIns="0" bIns="0" rtlCol="0" anchor="t">
            <a:spAutoFit/>
          </a:bodyPr>
          <a:lstStyle/>
          <a:p>
            <a:pPr>
              <a:lnSpc>
                <a:spcPct val="120000"/>
              </a:lnSpc>
            </a:pPr>
            <a:r>
              <a:rPr lang="en-US" sz="2000" dirty="0">
                <a:solidFill>
                  <a:srgbClr val="000000"/>
                </a:solidFill>
                <a:latin typeface="Open Sans" panose="020B0606030504020204" pitchFamily="34" charset="0"/>
                <a:ea typeface="Open Sans" panose="020B0606030504020204" pitchFamily="34" charset="0"/>
                <a:cs typeface="Open Sans" panose="020B0606030504020204" pitchFamily="34" charset="0"/>
              </a:rPr>
              <a:t>Presentation Layer</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
        <p:nvSpPr>
          <p:cNvPr id="17" name="Text 13"/>
          <p:cNvSpPr/>
          <p:nvPr/>
        </p:nvSpPr>
        <p:spPr>
          <a:xfrm>
            <a:off x="11511376" y="3111329"/>
            <a:ext cx="5087132" cy="712567"/>
          </a:xfrm>
          <a:prstGeom prst="rect">
            <a:avLst/>
          </a:prstGeom>
          <a:noFill/>
          <a:ln/>
        </p:spPr>
        <p:txBody>
          <a:bodyPr wrap="square" lIns="0" tIns="0" rIns="0" bIns="0" rtlCol="0" anchor="t">
            <a:spAutoFit/>
          </a:bodyPr>
          <a:lstStyle/>
          <a:p>
            <a:pPr>
              <a:lnSpc>
                <a:spcPct val="120000"/>
              </a:lnSpc>
            </a:pPr>
            <a:r>
              <a:rPr lang="en-US" sz="2000" dirty="0">
                <a:solidFill>
                  <a:srgbClr val="000000"/>
                </a:solidFill>
                <a:latin typeface="Open Sans" panose="020B0606030504020204" pitchFamily="34" charset="0"/>
                <a:ea typeface="Open Sans" panose="020B0606030504020204" pitchFamily="34" charset="0"/>
                <a:cs typeface="Open Sans" panose="020B0606030504020204" pitchFamily="34" charset="0"/>
              </a:rPr>
              <a:t>: Quản lý giao diện và tương tác (Jetpack Compose).</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
        <p:nvSpPr>
          <p:cNvPr id="18" name="Text 14"/>
          <p:cNvSpPr/>
          <p:nvPr/>
        </p:nvSpPr>
        <p:spPr>
          <a:xfrm>
            <a:off x="9972677" y="4116015"/>
            <a:ext cx="1448618" cy="712567"/>
          </a:xfrm>
          <a:prstGeom prst="rect">
            <a:avLst/>
          </a:prstGeom>
          <a:noFill/>
          <a:ln/>
        </p:spPr>
        <p:txBody>
          <a:bodyPr wrap="square" lIns="0" tIns="0" rIns="0" bIns="0" rtlCol="0" anchor="t">
            <a:spAutoFit/>
          </a:bodyPr>
          <a:lstStyle/>
          <a:p>
            <a:pPr>
              <a:lnSpc>
                <a:spcPct val="120000"/>
              </a:lnSpc>
            </a:pPr>
            <a:r>
              <a:rPr lang="en-US" sz="2000" dirty="0">
                <a:solidFill>
                  <a:srgbClr val="000000"/>
                </a:solidFill>
                <a:latin typeface="Open Sans" panose="020B0606030504020204" pitchFamily="34" charset="0"/>
                <a:ea typeface="Open Sans" panose="020B0606030504020204" pitchFamily="34" charset="0"/>
                <a:cs typeface="Open Sans" panose="020B0606030504020204" pitchFamily="34" charset="0"/>
              </a:rPr>
              <a:t>Domain Layer</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5"/>
          <p:cNvSpPr/>
          <p:nvPr/>
        </p:nvSpPr>
        <p:spPr>
          <a:xfrm>
            <a:off x="11343160" y="4116013"/>
            <a:ext cx="5441696" cy="712567"/>
          </a:xfrm>
          <a:prstGeom prst="rect">
            <a:avLst/>
          </a:prstGeom>
          <a:noFill/>
          <a:ln/>
        </p:spPr>
        <p:txBody>
          <a:bodyPr wrap="square" lIns="0" tIns="0" rIns="0" bIns="0" rtlCol="0" anchor="t">
            <a:spAutoFit/>
          </a:bodyPr>
          <a:lstStyle/>
          <a:p>
            <a:pPr>
              <a:lnSpc>
                <a:spcPct val="120000"/>
              </a:lnSpc>
            </a:pPr>
            <a:r>
              <a:rPr lang="en-US" sz="2000" dirty="0">
                <a:solidFill>
                  <a:srgbClr val="000000"/>
                </a:solidFill>
                <a:latin typeface="Open Sans" panose="020B0606030504020204" pitchFamily="34" charset="0"/>
                <a:ea typeface="Open Sans" panose="020B0606030504020204" pitchFamily="34" charset="0"/>
                <a:cs typeface="Open Sans" panose="020B0606030504020204" pitchFamily="34" charset="0"/>
              </a:rPr>
              <a:t>: Chứa quy tắc nghiệp vụ và Use Cases (Trung tâm).</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
        <p:nvSpPr>
          <p:cNvPr id="20" name="Text 16"/>
          <p:cNvSpPr/>
          <p:nvPr/>
        </p:nvSpPr>
        <p:spPr>
          <a:xfrm>
            <a:off x="9972676" y="4829177"/>
            <a:ext cx="1284006" cy="343235"/>
          </a:xfrm>
          <a:prstGeom prst="rect">
            <a:avLst/>
          </a:prstGeom>
          <a:noFill/>
          <a:ln/>
        </p:spPr>
        <p:txBody>
          <a:bodyPr wrap="none" lIns="0" tIns="0" rIns="0" bIns="0" rtlCol="0" anchor="t">
            <a:spAutoFit/>
          </a:bodyPr>
          <a:lstStyle/>
          <a:p>
            <a:pPr>
              <a:lnSpc>
                <a:spcPct val="120000"/>
              </a:lnSpc>
            </a:pPr>
            <a:r>
              <a:rPr lang="en-US" sz="2000" dirty="0">
                <a:solidFill>
                  <a:srgbClr val="000000"/>
                </a:solidFill>
                <a:latin typeface="Open Sans" panose="020B0606030504020204" pitchFamily="34" charset="0"/>
                <a:ea typeface="Open Sans" panose="020B0606030504020204" pitchFamily="34" charset="0"/>
                <a:cs typeface="Open Sans" panose="020B0606030504020204" pitchFamily="34" charset="0"/>
              </a:rPr>
              <a:t>Data Layer</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
        <p:nvSpPr>
          <p:cNvPr id="21" name="Text 17"/>
          <p:cNvSpPr/>
          <p:nvPr/>
        </p:nvSpPr>
        <p:spPr>
          <a:xfrm>
            <a:off x="11021040" y="4829177"/>
            <a:ext cx="4807406" cy="343235"/>
          </a:xfrm>
          <a:prstGeom prst="rect">
            <a:avLst/>
          </a:prstGeom>
          <a:noFill/>
          <a:ln/>
        </p:spPr>
        <p:txBody>
          <a:bodyPr wrap="none" lIns="0" tIns="0" rIns="0" bIns="0" rtlCol="0" anchor="t">
            <a:spAutoFit/>
          </a:bodyPr>
          <a:lstStyle/>
          <a:p>
            <a:pPr>
              <a:lnSpc>
                <a:spcPct val="120000"/>
              </a:lnSpc>
            </a:pPr>
            <a:r>
              <a:rPr lang="en-US" sz="2000" dirty="0">
                <a:solidFill>
                  <a:srgbClr val="000000"/>
                </a:solidFill>
                <a:latin typeface="Open Sans" panose="020B0606030504020204" pitchFamily="34" charset="0"/>
                <a:ea typeface="Open Sans" panose="020B0606030504020204" pitchFamily="34" charset="0"/>
                <a:cs typeface="Open Sans" panose="020B0606030504020204" pitchFamily="34" charset="0"/>
              </a:rPr>
              <a:t>: Truy xuất dữ liệu (Room, Firebase, API).</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
        <p:nvSpPr>
          <p:cNvPr id="22" name="Text 18"/>
          <p:cNvSpPr/>
          <p:nvPr/>
        </p:nvSpPr>
        <p:spPr>
          <a:xfrm>
            <a:off x="9959059" y="5570915"/>
            <a:ext cx="2035746" cy="712567"/>
          </a:xfrm>
          <a:prstGeom prst="rect">
            <a:avLst/>
          </a:prstGeom>
          <a:noFill/>
          <a:ln/>
        </p:spPr>
        <p:txBody>
          <a:bodyPr wrap="square" lIns="0" tIns="0" rIns="0" bIns="0" rtlCol="0" anchor="t">
            <a:spAutoFit/>
          </a:bodyPr>
          <a:lstStyle/>
          <a:p>
            <a:pPr>
              <a:lnSpc>
                <a:spcPct val="120000"/>
              </a:lnSpc>
            </a:pPr>
            <a:r>
              <a:rPr lang="en-US" sz="2000" dirty="0">
                <a:solidFill>
                  <a:srgbClr val="000000"/>
                </a:solidFill>
                <a:latin typeface="Open Sans" panose="020B0606030504020204" pitchFamily="34" charset="0"/>
                <a:ea typeface="Open Sans" panose="020B0606030504020204" pitchFamily="34" charset="0"/>
                <a:cs typeface="Open Sans" panose="020B0606030504020204" pitchFamily="34" charset="0"/>
              </a:rPr>
              <a:t>Core Infrastructure</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
        <p:nvSpPr>
          <p:cNvPr id="23" name="Text 19"/>
          <p:cNvSpPr/>
          <p:nvPr/>
        </p:nvSpPr>
        <p:spPr>
          <a:xfrm>
            <a:off x="11851522" y="5570915"/>
            <a:ext cx="4850216" cy="712567"/>
          </a:xfrm>
          <a:prstGeom prst="rect">
            <a:avLst/>
          </a:prstGeom>
          <a:noFill/>
          <a:ln/>
        </p:spPr>
        <p:txBody>
          <a:bodyPr wrap="square" lIns="0" tIns="0" rIns="0" bIns="0" rtlCol="0" anchor="t">
            <a:spAutoFit/>
          </a:bodyPr>
          <a:lstStyle/>
          <a:p>
            <a:pPr>
              <a:lnSpc>
                <a:spcPct val="120000"/>
              </a:lnSpc>
            </a:pPr>
            <a:r>
              <a:rPr lang="en-US" sz="2000" dirty="0">
                <a:solidFill>
                  <a:srgbClr val="000000"/>
                </a:solidFill>
                <a:latin typeface="Open Sans" panose="020B0606030504020204" pitchFamily="34" charset="0"/>
                <a:ea typeface="Open Sans" panose="020B0606030504020204" pitchFamily="34" charset="0"/>
                <a:cs typeface="Open Sans" panose="020B0606030504020204" pitchFamily="34" charset="0"/>
              </a:rPr>
              <a:t>: Các dịch vụ dùng chung cho toàn hệ thống.</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
        <p:nvSpPr>
          <p:cNvPr id="2" name="TextBox 1">
            <a:extLst>
              <a:ext uri="{FF2B5EF4-FFF2-40B4-BE49-F238E27FC236}">
                <a16:creationId xmlns:a16="http://schemas.microsoft.com/office/drawing/2014/main" id="{DEAB43F9-0F8D-BDAE-3D53-91678711FA42}"/>
              </a:ext>
            </a:extLst>
          </p:cNvPr>
          <p:cNvSpPr txBox="1"/>
          <p:nvPr/>
        </p:nvSpPr>
        <p:spPr>
          <a:xfrm>
            <a:off x="17831821" y="9831884"/>
            <a:ext cx="415498"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11</a:t>
            </a:r>
            <a:endParaRPr lang="vi-V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18288000" cy="10287000"/>
          </a:xfrm>
          <a:prstGeom prst="rect">
            <a:avLst/>
          </a:prstGeom>
        </p:spPr>
      </p:pic>
      <p:sp>
        <p:nvSpPr>
          <p:cNvPr id="4" name="Text 0"/>
          <p:cNvSpPr/>
          <p:nvPr/>
        </p:nvSpPr>
        <p:spPr>
          <a:xfrm>
            <a:off x="1143000" y="1114427"/>
            <a:ext cx="17145000" cy="615553"/>
          </a:xfrm>
          <a:prstGeom prst="rect">
            <a:avLst/>
          </a:prstGeom>
          <a:noFill/>
          <a:ln/>
        </p:spPr>
        <p:txBody>
          <a:bodyPr wrap="square" lIns="0" tIns="0" rIns="0" bIns="0" rtlCol="0" anchor="t">
            <a:spAutoFit/>
          </a:bodyPr>
          <a:lstStyle/>
          <a:p>
            <a:r>
              <a:rPr lang="en-US" sz="4000" b="1" dirty="0">
                <a:solidFill>
                  <a:srgbClr val="000000"/>
                </a:solidFill>
                <a:latin typeface="Montserrat Bold" panose="00000800000000000000" pitchFamily="2" charset="-93"/>
                <a:ea typeface="Open Sans" panose="020B0606030504020204" pitchFamily="34" charset="0"/>
                <a:cs typeface="Open Sans" panose="020B0606030504020204" pitchFamily="34" charset="0"/>
              </a:rPr>
              <a:t>CHI TIẾT CÁC TẦNG (LAYERS)</a:t>
            </a:r>
            <a:endParaRPr lang="en-US" sz="4000" dirty="0">
              <a:latin typeface="Montserrat Bold" panose="00000800000000000000" pitchFamily="2" charset="-93"/>
              <a:ea typeface="Open Sans" panose="020B0606030504020204" pitchFamily="34" charset="0"/>
              <a:cs typeface="Open Sans" panose="020B0606030504020204" pitchFamily="34" charset="0"/>
            </a:endParaRPr>
          </a:p>
        </p:txBody>
      </p:sp>
      <p:sp>
        <p:nvSpPr>
          <p:cNvPr id="5" name="Shape 1"/>
          <p:cNvSpPr/>
          <p:nvPr/>
        </p:nvSpPr>
        <p:spPr>
          <a:xfrm>
            <a:off x="1157289" y="2511028"/>
            <a:ext cx="4733906" cy="596504"/>
          </a:xfrm>
          <a:prstGeom prst="rect">
            <a:avLst/>
          </a:prstGeom>
          <a:solidFill>
            <a:srgbClr val="000000"/>
          </a:solidFill>
          <a:ln/>
        </p:spPr>
      </p:sp>
      <p:sp>
        <p:nvSpPr>
          <p:cNvPr id="6" name="Text 2"/>
          <p:cNvSpPr/>
          <p:nvPr/>
        </p:nvSpPr>
        <p:spPr>
          <a:xfrm>
            <a:off x="1157289" y="2511028"/>
            <a:ext cx="4733906" cy="774571"/>
          </a:xfrm>
          <a:prstGeom prst="rect">
            <a:avLst/>
          </a:prstGeom>
          <a:noFill/>
          <a:ln/>
        </p:spPr>
        <p:txBody>
          <a:bodyPr wrap="square" lIns="170180" tIns="170180" rIns="170180" bIns="170180" rtlCol="0" anchor="t">
            <a:spAutoFit/>
          </a:bodyPr>
          <a:lstStyle/>
          <a:p>
            <a:pPr algn="ctr"/>
            <a:r>
              <a:rPr lang="en-US" sz="2800" b="1" dirty="0">
                <a:solidFill>
                  <a:srgbClr val="FFFFFF"/>
                </a:solidFill>
                <a:latin typeface="Montserrat Bold" panose="00000800000000000000" pitchFamily="2" charset="-93"/>
                <a:ea typeface="Open Sans" panose="020B0606030504020204" pitchFamily="34" charset="0"/>
                <a:cs typeface="Open Sans" panose="020B0606030504020204" pitchFamily="34" charset="0"/>
              </a:rPr>
              <a:t>PRESENTATION</a:t>
            </a:r>
            <a:endParaRPr lang="en-US" sz="2800" dirty="0">
              <a:latin typeface="Montserrat Bold" panose="00000800000000000000" pitchFamily="2" charset="-93"/>
              <a:ea typeface="Open Sans" panose="020B0606030504020204" pitchFamily="34" charset="0"/>
              <a:cs typeface="Open Sans" panose="020B0606030504020204" pitchFamily="34" charset="0"/>
            </a:endParaRPr>
          </a:p>
        </p:txBody>
      </p:sp>
      <p:sp>
        <p:nvSpPr>
          <p:cNvPr id="7" name="Text 3"/>
          <p:cNvSpPr/>
          <p:nvPr/>
        </p:nvSpPr>
        <p:spPr>
          <a:xfrm>
            <a:off x="1157290" y="3393282"/>
            <a:ext cx="4329112" cy="71256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lIns="170180" tIns="0" rIns="0" bIns="0" rtlCol="0" anchor="t">
            <a:spAutoFit/>
          </a:bodyPr>
          <a:lstStyle/>
          <a:p>
            <a:pPr>
              <a:lnSpc>
                <a:spcPct val="120000"/>
              </a:lnSpc>
            </a:pPr>
            <a:r>
              <a:rPr lang="en-US" sz="2000" dirty="0">
                <a:solidFill>
                  <a:srgbClr val="000000"/>
                </a:solidFill>
                <a:latin typeface="Open Sans" panose="020B0606030504020204" pitchFamily="34" charset="0"/>
                <a:ea typeface="Open Sans" panose="020B0606030504020204" pitchFamily="34" charset="0"/>
                <a:cs typeface="Open Sans" panose="020B0606030504020204" pitchFamily="34" charset="0"/>
              </a:rPr>
              <a:t>Jetpack Compose: UI Toolkit hiện đại, khai báo.</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Text 4"/>
          <p:cNvSpPr/>
          <p:nvPr/>
        </p:nvSpPr>
        <p:spPr>
          <a:xfrm>
            <a:off x="1157290" y="4250532"/>
            <a:ext cx="4462440" cy="712567"/>
          </a:xfrm>
          <a:prstGeom prst="rect">
            <a:avLst/>
          </a:prstGeom>
          <a:noFill/>
          <a:ln/>
        </p:spPr>
        <p:txBody>
          <a:bodyPr wrap="square" lIns="170180" tIns="0" rIns="0" bIns="0" rtlCol="0" anchor="t">
            <a:spAutoFit/>
          </a:bodyPr>
          <a:lstStyle/>
          <a:p>
            <a:pPr>
              <a:lnSpc>
                <a:spcPct val="120000"/>
              </a:lnSpc>
            </a:pPr>
            <a:r>
              <a:rPr lang="en-US" sz="2000" dirty="0">
                <a:solidFill>
                  <a:srgbClr val="000000"/>
                </a:solidFill>
                <a:latin typeface="Open Sans" panose="020B0606030504020204" pitchFamily="34" charset="0"/>
                <a:ea typeface="Open Sans" panose="020B0606030504020204" pitchFamily="34" charset="0"/>
                <a:cs typeface="Open Sans" panose="020B0606030504020204" pitchFamily="34" charset="0"/>
              </a:rPr>
              <a:t>ViewModel: Giữ và quản lý dữ liệu UI-related.</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
        <p:nvSpPr>
          <p:cNvPr id="9" name="Text 5"/>
          <p:cNvSpPr/>
          <p:nvPr/>
        </p:nvSpPr>
        <p:spPr>
          <a:xfrm>
            <a:off x="1157289" y="5107782"/>
            <a:ext cx="4733906" cy="712567"/>
          </a:xfrm>
          <a:prstGeom prst="rect">
            <a:avLst/>
          </a:prstGeom>
          <a:noFill/>
          <a:ln/>
        </p:spPr>
        <p:txBody>
          <a:bodyPr wrap="square" lIns="170180" tIns="0" rIns="0" bIns="0" rtlCol="0" anchor="t">
            <a:spAutoFit/>
          </a:bodyPr>
          <a:lstStyle/>
          <a:p>
            <a:pPr>
              <a:lnSpc>
                <a:spcPct val="120000"/>
              </a:lnSpc>
            </a:pPr>
            <a:r>
              <a:rPr lang="en-US" sz="2000" dirty="0">
                <a:solidFill>
                  <a:srgbClr val="000000"/>
                </a:solidFill>
                <a:latin typeface="Open Sans" panose="020B0606030504020204" pitchFamily="34" charset="0"/>
                <a:ea typeface="Open Sans" panose="020B0606030504020204" pitchFamily="34" charset="0"/>
                <a:cs typeface="Open Sans" panose="020B0606030504020204" pitchFamily="34" charset="0"/>
              </a:rPr>
              <a:t>StateFlow: Luồng dữ liệu phản hồi (Reactive).</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6"/>
          <p:cNvSpPr/>
          <p:nvPr/>
        </p:nvSpPr>
        <p:spPr>
          <a:xfrm>
            <a:off x="1157290" y="5965033"/>
            <a:ext cx="4733906" cy="712567"/>
          </a:xfrm>
          <a:prstGeom prst="rect">
            <a:avLst/>
          </a:prstGeom>
          <a:noFill/>
          <a:ln/>
        </p:spPr>
        <p:txBody>
          <a:bodyPr wrap="square" lIns="170180" tIns="0" rIns="0" bIns="0" rtlCol="0" anchor="t">
            <a:spAutoFit/>
          </a:bodyPr>
          <a:lstStyle/>
          <a:p>
            <a:pPr>
              <a:lnSpc>
                <a:spcPct val="120000"/>
              </a:lnSpc>
            </a:pPr>
            <a:r>
              <a:rPr lang="en-US" sz="2000" dirty="0">
                <a:solidFill>
                  <a:srgbClr val="000000"/>
                </a:solidFill>
                <a:latin typeface="Open Sans" panose="020B0606030504020204" pitchFamily="34" charset="0"/>
                <a:ea typeface="Open Sans" panose="020B0606030504020204" pitchFamily="34" charset="0"/>
                <a:cs typeface="Open Sans" panose="020B0606030504020204" pitchFamily="34" charset="0"/>
              </a:rPr>
              <a:t>Navigation: Quản lý điều hướng màn hình.</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
        <p:nvSpPr>
          <p:cNvPr id="11" name="Shape 7"/>
          <p:cNvSpPr/>
          <p:nvPr/>
        </p:nvSpPr>
        <p:spPr>
          <a:xfrm>
            <a:off x="6777019" y="2511028"/>
            <a:ext cx="4733906" cy="596504"/>
          </a:xfrm>
          <a:prstGeom prst="rect">
            <a:avLst/>
          </a:prstGeom>
          <a:solidFill>
            <a:srgbClr val="000000"/>
          </a:solidFill>
          <a:ln/>
        </p:spPr>
      </p:sp>
      <p:sp>
        <p:nvSpPr>
          <p:cNvPr id="12" name="Text 8"/>
          <p:cNvSpPr/>
          <p:nvPr/>
        </p:nvSpPr>
        <p:spPr>
          <a:xfrm>
            <a:off x="6777019" y="2511028"/>
            <a:ext cx="4733906" cy="774571"/>
          </a:xfrm>
          <a:prstGeom prst="rect">
            <a:avLst/>
          </a:prstGeom>
          <a:noFill/>
          <a:ln/>
        </p:spPr>
        <p:txBody>
          <a:bodyPr wrap="square" lIns="170180" tIns="170180" rIns="170180" bIns="170180" rtlCol="0" anchor="t">
            <a:spAutoFit/>
          </a:bodyPr>
          <a:lstStyle/>
          <a:p>
            <a:pPr algn="ctr"/>
            <a:r>
              <a:rPr lang="en-US" sz="2800" b="1" dirty="0">
                <a:solidFill>
                  <a:srgbClr val="FFFFFF"/>
                </a:solidFill>
                <a:latin typeface="Montserrat Bold" panose="00000800000000000000" pitchFamily="2" charset="-93"/>
                <a:ea typeface="Open Sans" panose="020B0606030504020204" pitchFamily="34" charset="0"/>
                <a:cs typeface="Open Sans" panose="020B0606030504020204" pitchFamily="34" charset="0"/>
              </a:rPr>
              <a:t>DOMAIN</a:t>
            </a:r>
            <a:endParaRPr lang="en-US" sz="2800" dirty="0">
              <a:latin typeface="Montserrat Bold" panose="00000800000000000000" pitchFamily="2" charset="-93"/>
              <a:ea typeface="Open Sans" panose="020B0606030504020204" pitchFamily="34" charset="0"/>
              <a:cs typeface="Open Sans" panose="020B0606030504020204" pitchFamily="34" charset="0"/>
            </a:endParaRPr>
          </a:p>
        </p:txBody>
      </p:sp>
      <p:sp>
        <p:nvSpPr>
          <p:cNvPr id="13" name="Text 9"/>
          <p:cNvSpPr/>
          <p:nvPr/>
        </p:nvSpPr>
        <p:spPr>
          <a:xfrm>
            <a:off x="6777019" y="3393282"/>
            <a:ext cx="4733906" cy="712567"/>
          </a:xfrm>
          <a:prstGeom prst="rect">
            <a:avLst/>
          </a:prstGeom>
          <a:noFill/>
          <a:ln/>
        </p:spPr>
        <p:txBody>
          <a:bodyPr wrap="square" lIns="170180" tIns="0" rIns="0" bIns="0" rtlCol="0" anchor="t">
            <a:spAutoFit/>
          </a:bodyPr>
          <a:lstStyle/>
          <a:p>
            <a:pPr>
              <a:lnSpc>
                <a:spcPct val="120000"/>
              </a:lnSpc>
            </a:pPr>
            <a:r>
              <a:rPr lang="en-US" sz="2000" dirty="0">
                <a:solidFill>
                  <a:srgbClr val="000000"/>
                </a:solidFill>
                <a:latin typeface="Open Sans" panose="020B0606030504020204" pitchFamily="34" charset="0"/>
                <a:ea typeface="Open Sans" panose="020B0606030504020204" pitchFamily="34" charset="0"/>
                <a:cs typeface="Open Sans" panose="020B0606030504020204" pitchFamily="34" charset="0"/>
              </a:rPr>
              <a:t>Use Cases: Chứa logic nghiệp vụ cụ thể (AddWord, Login...).</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0"/>
          <p:cNvSpPr/>
          <p:nvPr/>
        </p:nvSpPr>
        <p:spPr>
          <a:xfrm>
            <a:off x="6777019" y="4250532"/>
            <a:ext cx="4733906" cy="712567"/>
          </a:xfrm>
          <a:prstGeom prst="rect">
            <a:avLst/>
          </a:prstGeom>
          <a:noFill/>
          <a:ln/>
        </p:spPr>
        <p:txBody>
          <a:bodyPr wrap="square" lIns="170180" tIns="0" rIns="0" bIns="0" rtlCol="0" anchor="t">
            <a:spAutoFit/>
          </a:bodyPr>
          <a:lstStyle/>
          <a:p>
            <a:pPr>
              <a:lnSpc>
                <a:spcPct val="120000"/>
              </a:lnSpc>
            </a:pPr>
            <a:r>
              <a:rPr lang="en-US" sz="2000" dirty="0">
                <a:solidFill>
                  <a:srgbClr val="000000"/>
                </a:solidFill>
                <a:latin typeface="Open Sans" panose="020B0606030504020204" pitchFamily="34" charset="0"/>
                <a:ea typeface="Open Sans" panose="020B0606030504020204" pitchFamily="34" charset="0"/>
                <a:cs typeface="Open Sans" panose="020B0606030504020204" pitchFamily="34" charset="0"/>
              </a:rPr>
              <a:t>Repositoy Interface: Hợp đồng giao tiếp giữa các tầng.</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1"/>
          <p:cNvSpPr/>
          <p:nvPr/>
        </p:nvSpPr>
        <p:spPr>
          <a:xfrm>
            <a:off x="6777019" y="5107782"/>
            <a:ext cx="4733906" cy="712567"/>
          </a:xfrm>
          <a:prstGeom prst="rect">
            <a:avLst/>
          </a:prstGeom>
          <a:noFill/>
          <a:ln/>
        </p:spPr>
        <p:txBody>
          <a:bodyPr wrap="square" lIns="170180" tIns="0" rIns="0" bIns="0" rtlCol="0" anchor="t">
            <a:spAutoFit/>
          </a:bodyPr>
          <a:lstStyle/>
          <a:p>
            <a:pPr>
              <a:lnSpc>
                <a:spcPct val="120000"/>
              </a:lnSpc>
            </a:pPr>
            <a:r>
              <a:rPr lang="en-US" sz="2000" dirty="0">
                <a:solidFill>
                  <a:srgbClr val="000000"/>
                </a:solidFill>
                <a:latin typeface="Open Sans" panose="020B0606030504020204" pitchFamily="34" charset="0"/>
                <a:ea typeface="Open Sans" panose="020B0606030504020204" pitchFamily="34" charset="0"/>
                <a:cs typeface="Open Sans" panose="020B0606030504020204" pitchFamily="34" charset="0"/>
              </a:rPr>
              <a:t>Entities: Mô hình dữ liệu thuần túy của nghiệp vụ.</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
        <p:nvSpPr>
          <p:cNvPr id="16" name="Shape 12"/>
          <p:cNvSpPr/>
          <p:nvPr/>
        </p:nvSpPr>
        <p:spPr>
          <a:xfrm>
            <a:off x="12396751" y="2511028"/>
            <a:ext cx="4733962" cy="596504"/>
          </a:xfrm>
          <a:prstGeom prst="rect">
            <a:avLst/>
          </a:prstGeom>
          <a:solidFill>
            <a:srgbClr val="000000"/>
          </a:solidFill>
          <a:ln/>
        </p:spPr>
      </p:sp>
      <p:sp>
        <p:nvSpPr>
          <p:cNvPr id="17" name="Text 13"/>
          <p:cNvSpPr/>
          <p:nvPr/>
        </p:nvSpPr>
        <p:spPr>
          <a:xfrm>
            <a:off x="12396751" y="2511028"/>
            <a:ext cx="4733962" cy="774571"/>
          </a:xfrm>
          <a:prstGeom prst="rect">
            <a:avLst/>
          </a:prstGeom>
          <a:noFill/>
          <a:ln/>
        </p:spPr>
        <p:txBody>
          <a:bodyPr wrap="square" lIns="170180" tIns="170180" rIns="170180" bIns="170180" rtlCol="0" anchor="t">
            <a:spAutoFit/>
          </a:bodyPr>
          <a:lstStyle/>
          <a:p>
            <a:pPr algn="ctr"/>
            <a:r>
              <a:rPr lang="en-US" sz="2800" b="1" dirty="0">
                <a:solidFill>
                  <a:srgbClr val="FFFFFF"/>
                </a:solidFill>
                <a:latin typeface="Montserrat Bold" panose="00000800000000000000" pitchFamily="2" charset="-93"/>
                <a:ea typeface="Open Sans" panose="020B0606030504020204" pitchFamily="34" charset="0"/>
                <a:cs typeface="Open Sans" panose="020B0606030504020204" pitchFamily="34" charset="0"/>
              </a:rPr>
              <a:t>DATA</a:t>
            </a:r>
            <a:endParaRPr lang="en-US" sz="2800" dirty="0">
              <a:latin typeface="Montserrat Bold" panose="00000800000000000000" pitchFamily="2" charset="-93"/>
              <a:ea typeface="Open Sans" panose="020B0606030504020204" pitchFamily="34" charset="0"/>
              <a:cs typeface="Open Sans" panose="020B0606030504020204" pitchFamily="34" charset="0"/>
            </a:endParaRPr>
          </a:p>
        </p:txBody>
      </p:sp>
      <p:sp>
        <p:nvSpPr>
          <p:cNvPr id="18" name="Text 14"/>
          <p:cNvSpPr/>
          <p:nvPr/>
        </p:nvSpPr>
        <p:spPr>
          <a:xfrm>
            <a:off x="12396751" y="3393282"/>
            <a:ext cx="4733962" cy="712567"/>
          </a:xfrm>
          <a:prstGeom prst="rect">
            <a:avLst/>
          </a:prstGeom>
          <a:noFill/>
          <a:ln/>
        </p:spPr>
        <p:txBody>
          <a:bodyPr wrap="square" lIns="170180" tIns="0" rIns="0" bIns="0" rtlCol="0" anchor="t">
            <a:spAutoFit/>
          </a:bodyPr>
          <a:lstStyle/>
          <a:p>
            <a:pPr>
              <a:lnSpc>
                <a:spcPct val="120000"/>
              </a:lnSpc>
            </a:pPr>
            <a:r>
              <a:rPr lang="en-US" sz="2000" dirty="0">
                <a:solidFill>
                  <a:srgbClr val="000000"/>
                </a:solidFill>
                <a:latin typeface="Open Sans" panose="020B0606030504020204" pitchFamily="34" charset="0"/>
                <a:ea typeface="Open Sans" panose="020B0606030504020204" pitchFamily="34" charset="0"/>
                <a:cs typeface="Open Sans" panose="020B0606030504020204" pitchFamily="34" charset="0"/>
              </a:rPr>
              <a:t>Room Database: Lưu trữ dữ liệu cục bộ (SQLite).</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5"/>
          <p:cNvSpPr/>
          <p:nvPr/>
        </p:nvSpPr>
        <p:spPr>
          <a:xfrm>
            <a:off x="12396751" y="4250532"/>
            <a:ext cx="4733962" cy="712567"/>
          </a:xfrm>
          <a:prstGeom prst="rect">
            <a:avLst/>
          </a:prstGeom>
          <a:noFill/>
          <a:ln/>
        </p:spPr>
        <p:txBody>
          <a:bodyPr wrap="square" lIns="170180" tIns="0" rIns="0" bIns="0" rtlCol="0" anchor="t">
            <a:spAutoFit/>
          </a:bodyPr>
          <a:lstStyle/>
          <a:p>
            <a:pPr>
              <a:lnSpc>
                <a:spcPct val="120000"/>
              </a:lnSpc>
            </a:pPr>
            <a:r>
              <a:rPr lang="en-US" sz="2000" dirty="0">
                <a:solidFill>
                  <a:srgbClr val="000000"/>
                </a:solidFill>
                <a:latin typeface="Open Sans" panose="020B0606030504020204" pitchFamily="34" charset="0"/>
                <a:ea typeface="Open Sans" panose="020B0606030504020204" pitchFamily="34" charset="0"/>
                <a:cs typeface="Open Sans" panose="020B0606030504020204" pitchFamily="34" charset="0"/>
              </a:rPr>
              <a:t>Firebase: Firestore &amp; Auth cho đồng bộ đám mây.</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
        <p:nvSpPr>
          <p:cNvPr id="20" name="Text 16"/>
          <p:cNvSpPr/>
          <p:nvPr/>
        </p:nvSpPr>
        <p:spPr>
          <a:xfrm>
            <a:off x="12396751" y="5107782"/>
            <a:ext cx="4733962" cy="712567"/>
          </a:xfrm>
          <a:prstGeom prst="rect">
            <a:avLst/>
          </a:prstGeom>
          <a:noFill/>
          <a:ln/>
        </p:spPr>
        <p:txBody>
          <a:bodyPr wrap="square" lIns="170180" tIns="0" rIns="0" bIns="0" rtlCol="0" anchor="t">
            <a:spAutoFit/>
          </a:bodyPr>
          <a:lstStyle/>
          <a:p>
            <a:pPr>
              <a:lnSpc>
                <a:spcPct val="120000"/>
              </a:lnSpc>
            </a:pPr>
            <a:r>
              <a:rPr lang="en-US" sz="2000" dirty="0">
                <a:solidFill>
                  <a:srgbClr val="000000"/>
                </a:solidFill>
                <a:latin typeface="Open Sans" panose="020B0606030504020204" pitchFamily="34" charset="0"/>
                <a:ea typeface="Open Sans" panose="020B0606030504020204" pitchFamily="34" charset="0"/>
                <a:cs typeface="Open Sans" panose="020B0606030504020204" pitchFamily="34" charset="0"/>
              </a:rPr>
              <a:t>Retrofit: Giao tiếp API bên ngoài (Dictionary).</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
        <p:nvSpPr>
          <p:cNvPr id="21" name="Text 17"/>
          <p:cNvSpPr/>
          <p:nvPr/>
        </p:nvSpPr>
        <p:spPr>
          <a:xfrm>
            <a:off x="12396751" y="5965032"/>
            <a:ext cx="4733962" cy="712567"/>
          </a:xfrm>
          <a:prstGeom prst="rect">
            <a:avLst/>
          </a:prstGeom>
          <a:noFill/>
          <a:ln/>
        </p:spPr>
        <p:txBody>
          <a:bodyPr wrap="square" lIns="170180" tIns="0" rIns="0" bIns="0" rtlCol="0" anchor="t">
            <a:spAutoFit/>
          </a:bodyPr>
          <a:lstStyle/>
          <a:p>
            <a:pPr>
              <a:lnSpc>
                <a:spcPct val="120000"/>
              </a:lnSpc>
            </a:pPr>
            <a:r>
              <a:rPr lang="en-US" sz="2000" dirty="0">
                <a:solidFill>
                  <a:srgbClr val="000000"/>
                </a:solidFill>
                <a:latin typeface="Open Sans" panose="020B0606030504020204" pitchFamily="34" charset="0"/>
                <a:ea typeface="Open Sans" panose="020B0606030504020204" pitchFamily="34" charset="0"/>
                <a:cs typeface="Open Sans" panose="020B0606030504020204" pitchFamily="34" charset="0"/>
              </a:rPr>
              <a:t>Offline-first: Hoạt động bền bỉ không cần mạng.</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
        <p:nvSpPr>
          <p:cNvPr id="22" name="Shape 18"/>
          <p:cNvSpPr/>
          <p:nvPr/>
        </p:nvSpPr>
        <p:spPr>
          <a:xfrm>
            <a:off x="11151394" y="9090423"/>
            <a:ext cx="6758752" cy="767954"/>
          </a:xfrm>
          <a:prstGeom prst="rect">
            <a:avLst/>
          </a:prstGeom>
          <a:solidFill>
            <a:srgbClr val="000000">
              <a:alpha val="0"/>
            </a:srgbClr>
          </a:solidFill>
          <a:ln w="9144">
            <a:solidFill>
              <a:srgbClr val="C1121F"/>
            </a:solidFill>
            <a:prstDash val="solid"/>
          </a:ln>
        </p:spPr>
      </p:sp>
      <p:sp>
        <p:nvSpPr>
          <p:cNvPr id="23" name="Text 19"/>
          <p:cNvSpPr/>
          <p:nvPr/>
        </p:nvSpPr>
        <p:spPr>
          <a:xfrm>
            <a:off x="10804599" y="9090422"/>
            <a:ext cx="8239106" cy="884345"/>
          </a:xfrm>
          <a:prstGeom prst="rect">
            <a:avLst/>
          </a:prstGeom>
          <a:noFill/>
          <a:ln/>
        </p:spPr>
        <p:txBody>
          <a:bodyPr wrap="square" lIns="510286" tIns="255016" rIns="510286" bIns="255016" rtlCol="0" anchor="t">
            <a:spAutoFit/>
          </a:bodyPr>
          <a:lstStyle/>
          <a:p>
            <a:r>
              <a:rPr lang="en-US" sz="2400" b="1" dirty="0">
                <a:solidFill>
                  <a:srgbClr val="C1121F"/>
                </a:solidFill>
                <a:latin typeface="Montserrat Bold" panose="020B0604020202020204" charset="-93"/>
                <a:ea typeface="Inter Black" pitchFamily="34" charset="-122"/>
                <a:cs typeface="Inter Black" pitchFamily="34" charset="-120"/>
              </a:rPr>
              <a:t>DEPENDENCY INJECTION: DAGGER HILT</a:t>
            </a:r>
            <a:endParaRPr lang="en-US" sz="2400" dirty="0">
              <a:latin typeface="Montserrat Bold" panose="020B0604020202020204" charset="-93"/>
            </a:endParaRPr>
          </a:p>
        </p:txBody>
      </p:sp>
      <p:cxnSp>
        <p:nvCxnSpPr>
          <p:cNvPr id="2" name="Straight Connector 1">
            <a:extLst>
              <a:ext uri="{FF2B5EF4-FFF2-40B4-BE49-F238E27FC236}">
                <a16:creationId xmlns:a16="http://schemas.microsoft.com/office/drawing/2014/main" id="{8EDF9894-681F-D764-F70A-99C387D2ED0F}"/>
              </a:ext>
            </a:extLst>
          </p:cNvPr>
          <p:cNvCxnSpPr>
            <a:cxnSpLocks/>
          </p:cNvCxnSpPr>
          <p:nvPr/>
        </p:nvCxnSpPr>
        <p:spPr>
          <a:xfrm>
            <a:off x="1185868" y="3419391"/>
            <a:ext cx="0" cy="697474"/>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2DF9522-55EE-D2FF-0296-D3626D36110E}"/>
              </a:ext>
            </a:extLst>
          </p:cNvPr>
          <p:cNvCxnSpPr>
            <a:cxnSpLocks/>
          </p:cNvCxnSpPr>
          <p:nvPr/>
        </p:nvCxnSpPr>
        <p:spPr>
          <a:xfrm>
            <a:off x="1179528" y="4289105"/>
            <a:ext cx="0" cy="67254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93A52BF-166D-2BC8-3138-03730B68A097}"/>
              </a:ext>
            </a:extLst>
          </p:cNvPr>
          <p:cNvCxnSpPr>
            <a:cxnSpLocks/>
          </p:cNvCxnSpPr>
          <p:nvPr/>
        </p:nvCxnSpPr>
        <p:spPr>
          <a:xfrm>
            <a:off x="1176348" y="5143500"/>
            <a:ext cx="0" cy="665444"/>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A4639DB1-789A-6D28-1F88-07151D834F61}"/>
              </a:ext>
            </a:extLst>
          </p:cNvPr>
          <p:cNvCxnSpPr>
            <a:cxnSpLocks/>
          </p:cNvCxnSpPr>
          <p:nvPr/>
        </p:nvCxnSpPr>
        <p:spPr>
          <a:xfrm>
            <a:off x="1176348" y="6017250"/>
            <a:ext cx="9520" cy="64525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1E2CF6B-F827-CBF4-7631-C076006DABBA}"/>
              </a:ext>
            </a:extLst>
          </p:cNvPr>
          <p:cNvCxnSpPr>
            <a:cxnSpLocks/>
          </p:cNvCxnSpPr>
          <p:nvPr/>
        </p:nvCxnSpPr>
        <p:spPr>
          <a:xfrm>
            <a:off x="6786528" y="3455137"/>
            <a:ext cx="0" cy="697474"/>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19E9345-8E78-9EBE-F708-CD1A45DA5E32}"/>
              </a:ext>
            </a:extLst>
          </p:cNvPr>
          <p:cNvCxnSpPr>
            <a:cxnSpLocks/>
          </p:cNvCxnSpPr>
          <p:nvPr/>
        </p:nvCxnSpPr>
        <p:spPr>
          <a:xfrm>
            <a:off x="6786528" y="4349068"/>
            <a:ext cx="0" cy="64116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B8212D2B-AF4F-F3AA-1BD8-2435B155229C}"/>
              </a:ext>
            </a:extLst>
          </p:cNvPr>
          <p:cNvCxnSpPr>
            <a:cxnSpLocks/>
          </p:cNvCxnSpPr>
          <p:nvPr/>
        </p:nvCxnSpPr>
        <p:spPr>
          <a:xfrm>
            <a:off x="6777018" y="5176015"/>
            <a:ext cx="0" cy="629242"/>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90AEF4C5-5E5D-CEF3-5405-4EE318B18B62}"/>
              </a:ext>
            </a:extLst>
          </p:cNvPr>
          <p:cNvCxnSpPr>
            <a:cxnSpLocks/>
          </p:cNvCxnSpPr>
          <p:nvPr/>
        </p:nvCxnSpPr>
        <p:spPr>
          <a:xfrm>
            <a:off x="12396750" y="3445501"/>
            <a:ext cx="0" cy="697474"/>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5F47513E-2BD8-B8A6-7E92-345CD486C4DE}"/>
              </a:ext>
            </a:extLst>
          </p:cNvPr>
          <p:cNvCxnSpPr>
            <a:cxnSpLocks/>
          </p:cNvCxnSpPr>
          <p:nvPr/>
        </p:nvCxnSpPr>
        <p:spPr>
          <a:xfrm>
            <a:off x="12396750" y="4349069"/>
            <a:ext cx="0" cy="697474"/>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582712D-B3C3-C501-5A1A-05EB06735C56}"/>
              </a:ext>
            </a:extLst>
          </p:cNvPr>
          <p:cNvCxnSpPr>
            <a:cxnSpLocks/>
          </p:cNvCxnSpPr>
          <p:nvPr/>
        </p:nvCxnSpPr>
        <p:spPr>
          <a:xfrm>
            <a:off x="12396750" y="5176014"/>
            <a:ext cx="0" cy="68146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27D889DA-BD95-3F02-E749-8AB10B822007}"/>
              </a:ext>
            </a:extLst>
          </p:cNvPr>
          <p:cNvCxnSpPr>
            <a:cxnSpLocks/>
          </p:cNvCxnSpPr>
          <p:nvPr/>
        </p:nvCxnSpPr>
        <p:spPr>
          <a:xfrm>
            <a:off x="12396750" y="6017250"/>
            <a:ext cx="0" cy="64525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F3D07129-BE4D-2273-37E7-D88B97A2F261}"/>
              </a:ext>
            </a:extLst>
          </p:cNvPr>
          <p:cNvSpPr txBox="1"/>
          <p:nvPr/>
        </p:nvSpPr>
        <p:spPr>
          <a:xfrm>
            <a:off x="17831821" y="9831884"/>
            <a:ext cx="415498"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12</a:t>
            </a:r>
            <a:endParaRPr lang="vi-V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18288000" cy="10287000"/>
          </a:xfrm>
          <a:prstGeom prst="rect">
            <a:avLst/>
          </a:prstGeom>
        </p:spPr>
      </p:pic>
      <p:sp>
        <p:nvSpPr>
          <p:cNvPr id="4" name="Text 0"/>
          <p:cNvSpPr/>
          <p:nvPr/>
        </p:nvSpPr>
        <p:spPr>
          <a:xfrm>
            <a:off x="1143000" y="1114426"/>
            <a:ext cx="17145000" cy="615553"/>
          </a:xfrm>
          <a:prstGeom prst="rect">
            <a:avLst/>
          </a:prstGeom>
          <a:noFill/>
          <a:ln/>
        </p:spPr>
        <p:txBody>
          <a:bodyPr wrap="square" lIns="0" tIns="0" rIns="0" bIns="0" rtlCol="0" anchor="t">
            <a:spAutoFit/>
          </a:bodyPr>
          <a:lstStyle/>
          <a:p>
            <a:r>
              <a:rPr lang="en-US" sz="4000" b="1" dirty="0">
                <a:solidFill>
                  <a:srgbClr val="000000"/>
                </a:solidFill>
                <a:latin typeface="Montserrat Bold" panose="00000800000000000000" pitchFamily="2" charset="-93"/>
                <a:ea typeface="Open Sans" panose="020B0606030504020204" pitchFamily="34" charset="0"/>
                <a:cs typeface="Open Sans" panose="020B0606030504020204" pitchFamily="34" charset="0"/>
              </a:rPr>
              <a:t>CẤU TRÚC THƯ MỤC (FEATURE-BASED)</a:t>
            </a:r>
            <a:endParaRPr lang="en-US" sz="4000" dirty="0">
              <a:latin typeface="Montserrat Bold" panose="00000800000000000000" pitchFamily="2" charset="-93"/>
              <a:ea typeface="Open Sans" panose="020B0606030504020204" pitchFamily="34" charset="0"/>
              <a:cs typeface="Open Sans" panose="020B0606030504020204" pitchFamily="34" charset="0"/>
            </a:endParaRPr>
          </a:p>
        </p:txBody>
      </p:sp>
      <p:sp>
        <p:nvSpPr>
          <p:cNvPr id="5" name="Shape 1"/>
          <p:cNvSpPr/>
          <p:nvPr/>
        </p:nvSpPr>
        <p:spPr>
          <a:xfrm>
            <a:off x="1143001" y="2096691"/>
            <a:ext cx="7143750" cy="7600950"/>
          </a:xfrm>
          <a:prstGeom prst="rect">
            <a:avLst/>
          </a:prstGeom>
          <a:solidFill>
            <a:srgbClr val="F9F9F9"/>
          </a:solidFill>
          <a:ln w="9144">
            <a:solidFill>
              <a:srgbClr val="000000"/>
            </a:solidFill>
            <a:prstDash val="solid"/>
          </a:ln>
        </p:spPr>
      </p:sp>
      <p:sp>
        <p:nvSpPr>
          <p:cNvPr id="6" name="Text 2"/>
          <p:cNvSpPr/>
          <p:nvPr/>
        </p:nvSpPr>
        <p:spPr>
          <a:xfrm>
            <a:off x="1500188" y="2453879"/>
            <a:ext cx="3123676" cy="321627"/>
          </a:xfrm>
          <a:prstGeom prst="rect">
            <a:avLst/>
          </a:prstGeom>
          <a:noFill/>
          <a:ln/>
        </p:spPr>
        <p:txBody>
          <a:bodyPr wrap="none" lIns="0" tIns="0" rIns="0" bIns="0" rtlCol="0" anchor="t">
            <a:spAutoFit/>
          </a:bodyPr>
          <a:lstStyle/>
          <a:p>
            <a:pPr>
              <a:lnSpc>
                <a:spcPct val="104000"/>
              </a:lnSpc>
            </a:pPr>
            <a:r>
              <a:rPr lang="en-US" sz="2100" dirty="0">
                <a:solidFill>
                  <a:srgbClr val="000000"/>
                </a:solidFill>
                <a:latin typeface="Open Sans" panose="020B0606030504020204" pitchFamily="34" charset="0"/>
                <a:ea typeface="Open Sans" panose="020B0606030504020204" pitchFamily="34" charset="0"/>
                <a:cs typeface="Open Sans" panose="020B0606030504020204" pitchFamily="34" charset="0"/>
              </a:rPr>
              <a:t>com.example.englishapp</a:t>
            </a:r>
            <a:endParaRPr lang="en-US" sz="2100" dirty="0">
              <a:latin typeface="Open Sans" panose="020B0606030504020204" pitchFamily="34" charset="0"/>
              <a:ea typeface="Open Sans" panose="020B0606030504020204" pitchFamily="34" charset="0"/>
              <a:cs typeface="Open Sans" panose="020B0606030504020204" pitchFamily="34" charset="0"/>
            </a:endParaRPr>
          </a:p>
        </p:txBody>
      </p:sp>
      <p:sp>
        <p:nvSpPr>
          <p:cNvPr id="7" name="Text 3"/>
          <p:cNvSpPr/>
          <p:nvPr/>
        </p:nvSpPr>
        <p:spPr>
          <a:xfrm>
            <a:off x="1500188" y="2732484"/>
            <a:ext cx="5631408" cy="316818"/>
          </a:xfrm>
          <a:prstGeom prst="rect">
            <a:avLst/>
          </a:prstGeom>
          <a:noFill/>
          <a:ln/>
        </p:spPr>
        <p:txBody>
          <a:bodyPr wrap="square" lIns="0" tIns="0" rIns="0" bIns="0" rtlCol="0" anchor="t">
            <a:spAutoFit/>
          </a:bodyPr>
          <a:lstStyle/>
          <a:p>
            <a:pPr>
              <a:lnSpc>
                <a:spcPct val="104000"/>
              </a:lnSpc>
            </a:pPr>
            <a:r>
              <a:rPr lang="en-US" sz="2100" dirty="0">
                <a:solidFill>
                  <a:srgbClr val="000000"/>
                </a:solidFill>
                <a:latin typeface="Open Sans" panose="020B0606030504020204" pitchFamily="34" charset="0"/>
                <a:ea typeface="Open Sans" panose="020B0606030504020204" pitchFamily="34" charset="0"/>
                <a:cs typeface="Open Sans" panose="020B0606030504020204" pitchFamily="34" charset="0"/>
              </a:rPr>
              <a:t>├── </a:t>
            </a:r>
            <a:r>
              <a:rPr lang="en-US" sz="2100" b="1" dirty="0">
                <a:solidFill>
                  <a:srgbClr val="C1121F"/>
                </a:solidFill>
                <a:latin typeface="Open Sans" panose="020B0606030504020204" pitchFamily="34" charset="0"/>
                <a:ea typeface="Open Sans" panose="020B0606030504020204" pitchFamily="34" charset="0"/>
                <a:cs typeface="Open Sans" panose="020B0606030504020204" pitchFamily="34" charset="0"/>
              </a:rPr>
              <a:t>navigation/</a:t>
            </a:r>
            <a:r>
              <a:rPr lang="en-US" sz="2100" dirty="0">
                <a:solidFill>
                  <a:srgbClr val="000000"/>
                </a:solidFill>
                <a:latin typeface="Open Sans" panose="020B0606030504020204" pitchFamily="34" charset="0"/>
                <a:ea typeface="Open Sans" panose="020B0606030504020204" pitchFamily="34" charset="0"/>
                <a:cs typeface="Open Sans" panose="020B0606030504020204" pitchFamily="34" charset="0"/>
              </a:rPr>
              <a:t> (Quản lý điều hướng)</a:t>
            </a:r>
            <a:endParaRPr lang="en-US" sz="21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Text 4"/>
          <p:cNvSpPr/>
          <p:nvPr/>
        </p:nvSpPr>
        <p:spPr>
          <a:xfrm>
            <a:off x="1500188" y="3011090"/>
            <a:ext cx="4868320" cy="316818"/>
          </a:xfrm>
          <a:prstGeom prst="rect">
            <a:avLst/>
          </a:prstGeom>
          <a:noFill/>
          <a:ln/>
        </p:spPr>
        <p:txBody>
          <a:bodyPr wrap="none" lIns="0" tIns="0" rIns="0" bIns="0" rtlCol="0" anchor="t">
            <a:spAutoFit/>
          </a:bodyPr>
          <a:lstStyle/>
          <a:p>
            <a:pPr>
              <a:lnSpc>
                <a:spcPct val="104000"/>
              </a:lnSpc>
            </a:pPr>
            <a:r>
              <a:rPr lang="en-US" sz="2100" dirty="0">
                <a:solidFill>
                  <a:srgbClr val="000000"/>
                </a:solidFill>
                <a:latin typeface="Open Sans" panose="020B0606030504020204" pitchFamily="34" charset="0"/>
                <a:ea typeface="Open Sans" panose="020B0606030504020204" pitchFamily="34" charset="0"/>
                <a:cs typeface="Open Sans" panose="020B0606030504020204" pitchFamily="34" charset="0"/>
              </a:rPr>
              <a:t>├── </a:t>
            </a:r>
            <a:r>
              <a:rPr lang="en-US" sz="2100" b="1" dirty="0">
                <a:solidFill>
                  <a:srgbClr val="C1121F"/>
                </a:solidFill>
                <a:latin typeface="Open Sans" panose="020B0606030504020204" pitchFamily="34" charset="0"/>
                <a:ea typeface="Open Sans" panose="020B0606030504020204" pitchFamily="34" charset="0"/>
                <a:cs typeface="Open Sans" panose="020B0606030504020204" pitchFamily="34" charset="0"/>
              </a:rPr>
              <a:t>core/</a:t>
            </a:r>
            <a:r>
              <a:rPr lang="en-US" sz="2100" dirty="0">
                <a:solidFill>
                  <a:srgbClr val="000000"/>
                </a:solidFill>
                <a:latin typeface="Open Sans" panose="020B0606030504020204" pitchFamily="34" charset="0"/>
                <a:ea typeface="Open Sans" panose="020B0606030504020204" pitchFamily="34" charset="0"/>
                <a:cs typeface="Open Sans" panose="020B0606030504020204" pitchFamily="34" charset="0"/>
              </a:rPr>
              <a:t> (Thành phần dùng chung)</a:t>
            </a:r>
            <a:endParaRPr lang="en-US" sz="2100" dirty="0">
              <a:latin typeface="Open Sans" panose="020B0606030504020204" pitchFamily="34" charset="0"/>
              <a:ea typeface="Open Sans" panose="020B0606030504020204" pitchFamily="34" charset="0"/>
              <a:cs typeface="Open Sans" panose="020B0606030504020204" pitchFamily="34" charset="0"/>
            </a:endParaRPr>
          </a:p>
        </p:txBody>
      </p:sp>
      <p:sp>
        <p:nvSpPr>
          <p:cNvPr id="9" name="Text 5"/>
          <p:cNvSpPr/>
          <p:nvPr/>
        </p:nvSpPr>
        <p:spPr>
          <a:xfrm>
            <a:off x="1500188" y="3289696"/>
            <a:ext cx="4469044" cy="316818"/>
          </a:xfrm>
          <a:prstGeom prst="rect">
            <a:avLst/>
          </a:prstGeom>
          <a:noFill/>
          <a:ln/>
        </p:spPr>
        <p:txBody>
          <a:bodyPr wrap="none" lIns="0" tIns="0" rIns="0" bIns="0" rtlCol="0" anchor="t">
            <a:spAutoFit/>
          </a:bodyPr>
          <a:lstStyle/>
          <a:p>
            <a:pPr>
              <a:lnSpc>
                <a:spcPct val="104000"/>
              </a:lnSpc>
            </a:pPr>
            <a:r>
              <a:rPr lang="en-US" sz="2100" dirty="0">
                <a:solidFill>
                  <a:srgbClr val="000000"/>
                </a:solidFill>
                <a:latin typeface="Open Sans" panose="020B0606030504020204" pitchFamily="34" charset="0"/>
                <a:ea typeface="Open Sans" panose="020B0606030504020204" pitchFamily="34" charset="0"/>
                <a:cs typeface="Open Sans" panose="020B0606030504020204" pitchFamily="34" charset="0"/>
              </a:rPr>
              <a:t>│ ├── data/ (Room DB, Firebase)</a:t>
            </a:r>
            <a:endParaRPr lang="en-US" sz="2100" dirty="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6"/>
          <p:cNvSpPr/>
          <p:nvPr/>
        </p:nvSpPr>
        <p:spPr>
          <a:xfrm>
            <a:off x="1500188" y="3568304"/>
            <a:ext cx="3361498" cy="316818"/>
          </a:xfrm>
          <a:prstGeom prst="rect">
            <a:avLst/>
          </a:prstGeom>
          <a:noFill/>
          <a:ln/>
        </p:spPr>
        <p:txBody>
          <a:bodyPr wrap="none" lIns="0" tIns="0" rIns="0" bIns="0" rtlCol="0" anchor="t">
            <a:spAutoFit/>
          </a:bodyPr>
          <a:lstStyle/>
          <a:p>
            <a:pPr>
              <a:lnSpc>
                <a:spcPct val="104000"/>
              </a:lnSpc>
            </a:pPr>
            <a:r>
              <a:rPr lang="en-US" sz="2100" dirty="0">
                <a:solidFill>
                  <a:srgbClr val="000000"/>
                </a:solidFill>
                <a:latin typeface="Open Sans" panose="020B0606030504020204" pitchFamily="34" charset="0"/>
                <a:ea typeface="Open Sans" panose="020B0606030504020204" pitchFamily="34" charset="0"/>
                <a:cs typeface="Open Sans" panose="020B0606030504020204" pitchFamily="34" charset="0"/>
              </a:rPr>
              <a:t>│ ├── di/ (Hilt Modules)</a:t>
            </a:r>
            <a:endParaRPr lang="en-US" sz="2100" dirty="0">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7"/>
          <p:cNvSpPr/>
          <p:nvPr/>
        </p:nvSpPr>
        <p:spPr>
          <a:xfrm>
            <a:off x="1500188" y="3846910"/>
            <a:ext cx="4623060" cy="316818"/>
          </a:xfrm>
          <a:prstGeom prst="rect">
            <a:avLst/>
          </a:prstGeom>
          <a:noFill/>
          <a:ln/>
        </p:spPr>
        <p:txBody>
          <a:bodyPr wrap="none" lIns="0" tIns="0" rIns="0" bIns="0" rtlCol="0" anchor="t">
            <a:spAutoFit/>
          </a:bodyPr>
          <a:lstStyle/>
          <a:p>
            <a:pPr>
              <a:lnSpc>
                <a:spcPct val="104000"/>
              </a:lnSpc>
            </a:pPr>
            <a:r>
              <a:rPr lang="en-US" sz="2100" dirty="0">
                <a:solidFill>
                  <a:srgbClr val="000000"/>
                </a:solidFill>
                <a:latin typeface="Open Sans" panose="020B0606030504020204" pitchFamily="34" charset="0"/>
                <a:ea typeface="Open Sans" panose="020B0606030504020204" pitchFamily="34" charset="0"/>
                <a:cs typeface="Open Sans" panose="020B0606030504020204" pitchFamily="34" charset="0"/>
              </a:rPr>
              <a:t>│ ├── ui/ (Common Components)</a:t>
            </a:r>
            <a:endParaRPr lang="en-US" sz="2100" dirty="0">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8"/>
          <p:cNvSpPr/>
          <p:nvPr/>
        </p:nvSpPr>
        <p:spPr>
          <a:xfrm>
            <a:off x="1500188" y="4125516"/>
            <a:ext cx="3778278" cy="316818"/>
          </a:xfrm>
          <a:prstGeom prst="rect">
            <a:avLst/>
          </a:prstGeom>
          <a:noFill/>
          <a:ln/>
        </p:spPr>
        <p:txBody>
          <a:bodyPr wrap="none" lIns="0" tIns="0" rIns="0" bIns="0" rtlCol="0" anchor="t">
            <a:spAutoFit/>
          </a:bodyPr>
          <a:lstStyle/>
          <a:p>
            <a:pPr>
              <a:lnSpc>
                <a:spcPct val="104000"/>
              </a:lnSpc>
            </a:pPr>
            <a:r>
              <a:rPr lang="en-US" sz="2100" dirty="0">
                <a:solidFill>
                  <a:srgbClr val="000000"/>
                </a:solidFill>
                <a:latin typeface="Open Sans" panose="020B0606030504020204" pitchFamily="34" charset="0"/>
                <a:ea typeface="Open Sans" panose="020B0606030504020204" pitchFamily="34" charset="0"/>
                <a:cs typeface="Open Sans" panose="020B0606030504020204" pitchFamily="34" charset="0"/>
              </a:rPr>
              <a:t>│ └── util/ (Helper Classes)</a:t>
            </a:r>
            <a:endParaRPr lang="en-US" sz="2100" dirty="0">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9"/>
          <p:cNvSpPr/>
          <p:nvPr/>
        </p:nvSpPr>
        <p:spPr>
          <a:xfrm>
            <a:off x="1500189" y="4404122"/>
            <a:ext cx="5169107" cy="316818"/>
          </a:xfrm>
          <a:prstGeom prst="rect">
            <a:avLst/>
          </a:prstGeom>
          <a:noFill/>
          <a:ln/>
        </p:spPr>
        <p:txBody>
          <a:bodyPr wrap="none" lIns="0" tIns="0" rIns="0" bIns="0" rtlCol="0" anchor="t">
            <a:spAutoFit/>
          </a:bodyPr>
          <a:lstStyle/>
          <a:p>
            <a:pPr>
              <a:lnSpc>
                <a:spcPct val="104000"/>
              </a:lnSpc>
            </a:pPr>
            <a:r>
              <a:rPr lang="en-US" sz="2100" dirty="0">
                <a:solidFill>
                  <a:srgbClr val="000000"/>
                </a:solidFill>
                <a:latin typeface="Open Sans" panose="020B0606030504020204" pitchFamily="34" charset="0"/>
                <a:ea typeface="Open Sans" panose="020B0606030504020204" pitchFamily="34" charset="0"/>
                <a:cs typeface="Open Sans" panose="020B0606030504020204" pitchFamily="34" charset="0"/>
              </a:rPr>
              <a:t>├── </a:t>
            </a:r>
            <a:r>
              <a:rPr lang="en-US" sz="2100" b="1" dirty="0">
                <a:solidFill>
                  <a:srgbClr val="C1121F"/>
                </a:solidFill>
                <a:latin typeface="Open Sans" panose="020B0606030504020204" pitchFamily="34" charset="0"/>
                <a:ea typeface="Open Sans" panose="020B0606030504020204" pitchFamily="34" charset="0"/>
                <a:cs typeface="Open Sans" panose="020B0606030504020204" pitchFamily="34" charset="0"/>
              </a:rPr>
              <a:t>features/</a:t>
            </a:r>
            <a:r>
              <a:rPr lang="en-US" sz="2100" dirty="0">
                <a:solidFill>
                  <a:srgbClr val="000000"/>
                </a:solidFill>
                <a:latin typeface="Open Sans" panose="020B0606030504020204" pitchFamily="34" charset="0"/>
                <a:ea typeface="Open Sans" panose="020B0606030504020204" pitchFamily="34" charset="0"/>
                <a:cs typeface="Open Sans" panose="020B0606030504020204" pitchFamily="34" charset="0"/>
              </a:rPr>
              <a:t> (Tính năng module hóa)</a:t>
            </a:r>
            <a:endParaRPr lang="en-US" sz="2100" dirty="0">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0"/>
          <p:cNvSpPr/>
          <p:nvPr/>
        </p:nvSpPr>
        <p:spPr>
          <a:xfrm>
            <a:off x="1500188" y="4682728"/>
            <a:ext cx="4595810" cy="316818"/>
          </a:xfrm>
          <a:prstGeom prst="rect">
            <a:avLst/>
          </a:prstGeom>
          <a:noFill/>
          <a:ln/>
        </p:spPr>
        <p:txBody>
          <a:bodyPr wrap="none" lIns="0" tIns="0" rIns="0" bIns="0" rtlCol="0" anchor="t">
            <a:spAutoFit/>
          </a:bodyPr>
          <a:lstStyle/>
          <a:p>
            <a:pPr>
              <a:lnSpc>
                <a:spcPct val="104000"/>
              </a:lnSpc>
            </a:pPr>
            <a:r>
              <a:rPr lang="en-US" sz="2100" dirty="0">
                <a:solidFill>
                  <a:srgbClr val="000000"/>
                </a:solidFill>
                <a:latin typeface="Open Sans" panose="020B0606030504020204" pitchFamily="34" charset="0"/>
                <a:ea typeface="Open Sans" panose="020B0606030504020204" pitchFamily="34" charset="0"/>
                <a:cs typeface="Open Sans" panose="020B0606030504020204" pitchFamily="34" charset="0"/>
              </a:rPr>
              <a:t>│ ├── auth/ (Đăng nhập/Đăng ký)</a:t>
            </a:r>
            <a:endParaRPr lang="en-US" sz="2100" dirty="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1"/>
          <p:cNvSpPr/>
          <p:nvPr/>
        </p:nvSpPr>
        <p:spPr>
          <a:xfrm>
            <a:off x="1500188" y="4961334"/>
            <a:ext cx="4292842" cy="316818"/>
          </a:xfrm>
          <a:prstGeom prst="rect">
            <a:avLst/>
          </a:prstGeom>
          <a:noFill/>
          <a:ln/>
        </p:spPr>
        <p:txBody>
          <a:bodyPr wrap="none" lIns="0" tIns="0" rIns="0" bIns="0" rtlCol="0" anchor="t">
            <a:spAutoFit/>
          </a:bodyPr>
          <a:lstStyle/>
          <a:p>
            <a:pPr>
              <a:lnSpc>
                <a:spcPct val="104000"/>
              </a:lnSpc>
            </a:pPr>
            <a:r>
              <a:rPr lang="en-US" sz="2100" dirty="0">
                <a:solidFill>
                  <a:srgbClr val="000000"/>
                </a:solidFill>
                <a:latin typeface="Open Sans" panose="020B0606030504020204" pitchFamily="34" charset="0"/>
                <a:ea typeface="Open Sans" panose="020B0606030504020204" pitchFamily="34" charset="0"/>
                <a:cs typeface="Open Sans" panose="020B0606030504020204" pitchFamily="34" charset="0"/>
              </a:rPr>
              <a:t>│ ├── vocab/ (Quản lý từ vựng)</a:t>
            </a:r>
            <a:endParaRPr lang="en-US" sz="2100" dirty="0">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12"/>
          <p:cNvSpPr/>
          <p:nvPr/>
        </p:nvSpPr>
        <p:spPr>
          <a:xfrm>
            <a:off x="1500189" y="5239940"/>
            <a:ext cx="4950073" cy="316818"/>
          </a:xfrm>
          <a:prstGeom prst="rect">
            <a:avLst/>
          </a:prstGeom>
          <a:noFill/>
          <a:ln/>
        </p:spPr>
        <p:txBody>
          <a:bodyPr wrap="none" lIns="0" tIns="0" rIns="0" bIns="0" rtlCol="0" anchor="t">
            <a:spAutoFit/>
          </a:bodyPr>
          <a:lstStyle/>
          <a:p>
            <a:pPr>
              <a:lnSpc>
                <a:spcPct val="104000"/>
              </a:lnSpc>
            </a:pPr>
            <a:r>
              <a:rPr lang="en-US" sz="2100" dirty="0">
                <a:solidFill>
                  <a:srgbClr val="000000"/>
                </a:solidFill>
                <a:latin typeface="Open Sans" panose="020B0606030504020204" pitchFamily="34" charset="0"/>
                <a:ea typeface="Open Sans" panose="020B0606030504020204" pitchFamily="34" charset="0"/>
                <a:cs typeface="Open Sans" panose="020B0606030504020204" pitchFamily="34" charset="0"/>
              </a:rPr>
              <a:t>│ │ ├── data, domain, presentation</a:t>
            </a:r>
            <a:endParaRPr lang="en-US" sz="2100" dirty="0">
              <a:latin typeface="Open Sans" panose="020B0606030504020204" pitchFamily="34" charset="0"/>
              <a:ea typeface="Open Sans" panose="020B0606030504020204" pitchFamily="34" charset="0"/>
              <a:cs typeface="Open Sans" panose="020B0606030504020204" pitchFamily="34" charset="0"/>
            </a:endParaRPr>
          </a:p>
        </p:txBody>
      </p:sp>
      <p:sp>
        <p:nvSpPr>
          <p:cNvPr id="17" name="Text 13"/>
          <p:cNvSpPr/>
          <p:nvPr/>
        </p:nvSpPr>
        <p:spPr>
          <a:xfrm>
            <a:off x="1500189" y="5518546"/>
            <a:ext cx="3947619" cy="316818"/>
          </a:xfrm>
          <a:prstGeom prst="rect">
            <a:avLst/>
          </a:prstGeom>
          <a:noFill/>
          <a:ln/>
        </p:spPr>
        <p:txBody>
          <a:bodyPr wrap="none" lIns="0" tIns="0" rIns="0" bIns="0" rtlCol="0" anchor="t">
            <a:spAutoFit/>
          </a:bodyPr>
          <a:lstStyle/>
          <a:p>
            <a:pPr>
              <a:lnSpc>
                <a:spcPct val="104000"/>
              </a:lnSpc>
            </a:pPr>
            <a:r>
              <a:rPr lang="en-US" sz="2100" dirty="0">
                <a:solidFill>
                  <a:srgbClr val="000000"/>
                </a:solidFill>
                <a:latin typeface="Open Sans" panose="020B0606030504020204" pitchFamily="34" charset="0"/>
                <a:ea typeface="Open Sans" panose="020B0606030504020204" pitchFamily="34" charset="0"/>
                <a:cs typeface="Open Sans" panose="020B0606030504020204" pitchFamily="34" charset="0"/>
              </a:rPr>
              <a:t>│ ├── learn/ (Học Flashcard)</a:t>
            </a:r>
            <a:endParaRPr lang="en-US" sz="2100" dirty="0">
              <a:latin typeface="Open Sans" panose="020B0606030504020204" pitchFamily="34" charset="0"/>
              <a:ea typeface="Open Sans" panose="020B0606030504020204" pitchFamily="34" charset="0"/>
              <a:cs typeface="Open Sans" panose="020B0606030504020204" pitchFamily="34" charset="0"/>
            </a:endParaRPr>
          </a:p>
        </p:txBody>
      </p:sp>
      <p:sp>
        <p:nvSpPr>
          <p:cNvPr id="18" name="Text 14"/>
          <p:cNvSpPr/>
          <p:nvPr/>
        </p:nvSpPr>
        <p:spPr>
          <a:xfrm>
            <a:off x="1500189" y="5797154"/>
            <a:ext cx="3802323" cy="316818"/>
          </a:xfrm>
          <a:prstGeom prst="rect">
            <a:avLst/>
          </a:prstGeom>
          <a:noFill/>
          <a:ln/>
        </p:spPr>
        <p:txBody>
          <a:bodyPr wrap="none" lIns="0" tIns="0" rIns="0" bIns="0" rtlCol="0" anchor="t">
            <a:spAutoFit/>
          </a:bodyPr>
          <a:lstStyle/>
          <a:p>
            <a:pPr>
              <a:lnSpc>
                <a:spcPct val="104000"/>
              </a:lnSpc>
            </a:pPr>
            <a:r>
              <a:rPr lang="en-US" sz="2100" dirty="0">
                <a:solidFill>
                  <a:srgbClr val="000000"/>
                </a:solidFill>
                <a:latin typeface="Open Sans" panose="020B0606030504020204" pitchFamily="34" charset="0"/>
                <a:ea typeface="Open Sans" panose="020B0606030504020204" pitchFamily="34" charset="0"/>
                <a:cs typeface="Open Sans" panose="020B0606030504020204" pitchFamily="34" charset="0"/>
              </a:rPr>
              <a:t>│ └── progress/ (Thống kê)</a:t>
            </a:r>
            <a:endParaRPr lang="en-US" sz="2100" dirty="0">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5"/>
          <p:cNvSpPr/>
          <p:nvPr/>
        </p:nvSpPr>
        <p:spPr>
          <a:xfrm>
            <a:off x="1500188" y="6075760"/>
            <a:ext cx="4280018" cy="316818"/>
          </a:xfrm>
          <a:prstGeom prst="rect">
            <a:avLst/>
          </a:prstGeom>
          <a:noFill/>
          <a:ln/>
        </p:spPr>
        <p:txBody>
          <a:bodyPr wrap="none" lIns="0" tIns="0" rIns="0" bIns="0" rtlCol="0" anchor="t">
            <a:spAutoFit/>
          </a:bodyPr>
          <a:lstStyle/>
          <a:p>
            <a:pPr>
              <a:lnSpc>
                <a:spcPct val="104000"/>
              </a:lnSpc>
            </a:pPr>
            <a:r>
              <a:rPr lang="en-US" sz="2100" dirty="0">
                <a:solidFill>
                  <a:srgbClr val="000000"/>
                </a:solidFill>
                <a:latin typeface="Open Sans" panose="020B0606030504020204" pitchFamily="34" charset="0"/>
                <a:ea typeface="Open Sans" panose="020B0606030504020204" pitchFamily="34" charset="0"/>
                <a:cs typeface="Open Sans" panose="020B0606030504020204" pitchFamily="34" charset="0"/>
              </a:rPr>
              <a:t>├── EngLishApp.kt (Application)</a:t>
            </a:r>
            <a:endParaRPr lang="en-US" sz="2100" dirty="0">
              <a:latin typeface="Open Sans" panose="020B0606030504020204" pitchFamily="34" charset="0"/>
              <a:ea typeface="Open Sans" panose="020B0606030504020204" pitchFamily="34" charset="0"/>
              <a:cs typeface="Open Sans" panose="020B0606030504020204" pitchFamily="34" charset="0"/>
            </a:endParaRPr>
          </a:p>
        </p:txBody>
      </p:sp>
      <p:sp>
        <p:nvSpPr>
          <p:cNvPr id="20" name="Text 16"/>
          <p:cNvSpPr/>
          <p:nvPr/>
        </p:nvSpPr>
        <p:spPr>
          <a:xfrm>
            <a:off x="1500188" y="6354366"/>
            <a:ext cx="4312078" cy="316818"/>
          </a:xfrm>
          <a:prstGeom prst="rect">
            <a:avLst/>
          </a:prstGeom>
          <a:noFill/>
          <a:ln/>
        </p:spPr>
        <p:txBody>
          <a:bodyPr wrap="none" lIns="0" tIns="0" rIns="0" bIns="0" rtlCol="0" anchor="t">
            <a:spAutoFit/>
          </a:bodyPr>
          <a:lstStyle/>
          <a:p>
            <a:pPr>
              <a:lnSpc>
                <a:spcPct val="104000"/>
              </a:lnSpc>
            </a:pPr>
            <a:r>
              <a:rPr lang="en-US" sz="2100" dirty="0">
                <a:solidFill>
                  <a:srgbClr val="000000"/>
                </a:solidFill>
                <a:latin typeface="Open Sans" panose="020B0606030504020204" pitchFamily="34" charset="0"/>
                <a:ea typeface="Open Sans" panose="020B0606030504020204" pitchFamily="34" charset="0"/>
                <a:cs typeface="Open Sans" panose="020B0606030504020204" pitchFamily="34" charset="0"/>
              </a:rPr>
              <a:t>└── MainActivity.kt (Entry Point)</a:t>
            </a:r>
            <a:endParaRPr lang="en-US" sz="2100" dirty="0">
              <a:latin typeface="Open Sans" panose="020B0606030504020204" pitchFamily="34" charset="0"/>
              <a:ea typeface="Open Sans" panose="020B0606030504020204" pitchFamily="34" charset="0"/>
              <a:cs typeface="Open Sans" panose="020B0606030504020204" pitchFamily="34" charset="0"/>
            </a:endParaRPr>
          </a:p>
        </p:txBody>
      </p:sp>
      <p:sp>
        <p:nvSpPr>
          <p:cNvPr id="21" name="Text 17"/>
          <p:cNvSpPr/>
          <p:nvPr/>
        </p:nvSpPr>
        <p:spPr>
          <a:xfrm>
            <a:off x="9201151" y="2096690"/>
            <a:ext cx="7943850" cy="492443"/>
          </a:xfrm>
          <a:prstGeom prst="rect">
            <a:avLst/>
          </a:prstGeom>
          <a:noFill/>
          <a:ln/>
        </p:spPr>
        <p:txBody>
          <a:bodyPr wrap="square" lIns="0" tIns="0" rIns="0" bIns="0" rtlCol="0" anchor="t">
            <a:spAutoFit/>
          </a:bodyPr>
          <a:lstStyle/>
          <a:p>
            <a:r>
              <a:rPr lang="en-US" sz="3200" b="1" dirty="0">
                <a:solidFill>
                  <a:srgbClr val="000000"/>
                </a:solidFill>
                <a:latin typeface="Montserrat Bold" panose="00000800000000000000" pitchFamily="2" charset="-93"/>
                <a:ea typeface="Open Sans" panose="020B0606030504020204" pitchFamily="34" charset="0"/>
                <a:cs typeface="Open Sans" panose="020B0606030504020204" pitchFamily="34" charset="0"/>
              </a:rPr>
              <a:t>THƯ MỤC CORE</a:t>
            </a:r>
            <a:endParaRPr lang="en-US" sz="3200" dirty="0">
              <a:latin typeface="Montserrat Bold" panose="00000800000000000000" pitchFamily="2" charset="-93"/>
              <a:ea typeface="Open Sans" panose="020B0606030504020204" pitchFamily="34" charset="0"/>
              <a:cs typeface="Open Sans" panose="020B0606030504020204" pitchFamily="34" charset="0"/>
            </a:endParaRPr>
          </a:p>
        </p:txBody>
      </p:sp>
      <p:sp>
        <p:nvSpPr>
          <p:cNvPr id="22" name="Text 18"/>
          <p:cNvSpPr/>
          <p:nvPr/>
        </p:nvSpPr>
        <p:spPr>
          <a:xfrm>
            <a:off x="9201151" y="2586038"/>
            <a:ext cx="7943850" cy="748154"/>
          </a:xfrm>
          <a:prstGeom prst="rect">
            <a:avLst/>
          </a:prstGeom>
          <a:noFill/>
          <a:ln/>
        </p:spPr>
        <p:txBody>
          <a:bodyPr wrap="square" lIns="0" tIns="0" rIns="0" bIns="0" rtlCol="0" anchor="t">
            <a:spAutoFit/>
          </a:bodyPr>
          <a:lstStyle/>
          <a:p>
            <a:pPr>
              <a:lnSpc>
                <a:spcPct val="120000"/>
              </a:lnSpc>
            </a:pPr>
            <a:r>
              <a:rPr lang="en-US" sz="2100" dirty="0">
                <a:solidFill>
                  <a:srgbClr val="000000"/>
                </a:solidFill>
                <a:latin typeface="Open Sans" panose="020B0606030504020204" pitchFamily="34" charset="0"/>
                <a:ea typeface="Open Sans" panose="020B0606030504020204" pitchFamily="34" charset="0"/>
                <a:cs typeface="Open Sans" panose="020B0606030504020204" pitchFamily="34" charset="0"/>
              </a:rPr>
              <a:t>Trái tim của hệ thống, quản lý cơ sở dữ liệu Room, cấu hình Firebase và các Dependency Injection dùng chung.</a:t>
            </a:r>
            <a:endParaRPr lang="en-US" sz="2100" dirty="0">
              <a:latin typeface="Open Sans" panose="020B0606030504020204" pitchFamily="34" charset="0"/>
              <a:ea typeface="Open Sans" panose="020B0606030504020204" pitchFamily="34" charset="0"/>
              <a:cs typeface="Open Sans" panose="020B0606030504020204" pitchFamily="34" charset="0"/>
            </a:endParaRPr>
          </a:p>
        </p:txBody>
      </p:sp>
      <p:sp>
        <p:nvSpPr>
          <p:cNvPr id="23" name="Shape 19"/>
          <p:cNvSpPr/>
          <p:nvPr/>
        </p:nvSpPr>
        <p:spPr>
          <a:xfrm>
            <a:off x="9201151" y="3386138"/>
            <a:ext cx="1454254" cy="306780"/>
          </a:xfrm>
          <a:prstGeom prst="rect">
            <a:avLst/>
          </a:prstGeom>
          <a:solidFill>
            <a:srgbClr val="000000"/>
          </a:solidFill>
          <a:ln/>
        </p:spPr>
      </p:sp>
      <p:sp>
        <p:nvSpPr>
          <p:cNvPr id="24" name="Text 20"/>
          <p:cNvSpPr/>
          <p:nvPr/>
        </p:nvSpPr>
        <p:spPr>
          <a:xfrm>
            <a:off x="9201151" y="3320095"/>
            <a:ext cx="1590282" cy="1106970"/>
          </a:xfrm>
          <a:prstGeom prst="rect">
            <a:avLst/>
          </a:prstGeom>
          <a:noFill/>
          <a:ln/>
        </p:spPr>
        <p:txBody>
          <a:bodyPr wrap="square" lIns="170180" tIns="68072" rIns="170180" bIns="68072" rtlCol="0" anchor="t">
            <a:spAutoFit/>
          </a:bodyPr>
          <a:lstStyle/>
          <a:p>
            <a:r>
              <a:rPr lang="en-US" sz="21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SHARED INFRASTRUCTURE</a:t>
            </a:r>
            <a:endParaRPr lang="en-US" sz="2100" dirty="0">
              <a:latin typeface="Open Sans" panose="020B0606030504020204" pitchFamily="34" charset="0"/>
              <a:ea typeface="Open Sans" panose="020B0606030504020204" pitchFamily="34" charset="0"/>
              <a:cs typeface="Open Sans" panose="020B0606030504020204" pitchFamily="34" charset="0"/>
            </a:endParaRPr>
          </a:p>
        </p:txBody>
      </p:sp>
      <p:sp>
        <p:nvSpPr>
          <p:cNvPr id="25" name="Text 21"/>
          <p:cNvSpPr/>
          <p:nvPr/>
        </p:nvSpPr>
        <p:spPr>
          <a:xfrm>
            <a:off x="9201151" y="4068366"/>
            <a:ext cx="7943850" cy="492443"/>
          </a:xfrm>
          <a:prstGeom prst="rect">
            <a:avLst/>
          </a:prstGeom>
          <a:noFill/>
          <a:ln/>
        </p:spPr>
        <p:txBody>
          <a:bodyPr wrap="square" lIns="0" tIns="0" rIns="0" bIns="0" rtlCol="0" anchor="t">
            <a:spAutoFit/>
          </a:bodyPr>
          <a:lstStyle/>
          <a:p>
            <a:r>
              <a:rPr lang="en-US" sz="3200" b="1" dirty="0">
                <a:solidFill>
                  <a:srgbClr val="000000"/>
                </a:solidFill>
                <a:latin typeface="Montserrat Bold" panose="00000800000000000000" pitchFamily="2" charset="-93"/>
                <a:ea typeface="Open Sans" panose="020B0606030504020204" pitchFamily="34" charset="0"/>
                <a:cs typeface="Open Sans" panose="020B0606030504020204" pitchFamily="34" charset="0"/>
              </a:rPr>
              <a:t>THƯ MỤC FEATURES</a:t>
            </a:r>
            <a:endParaRPr lang="en-US" sz="3200" dirty="0">
              <a:latin typeface="Montserrat Bold" panose="00000800000000000000" pitchFamily="2" charset="-93"/>
              <a:ea typeface="Open Sans" panose="020B0606030504020204" pitchFamily="34" charset="0"/>
              <a:cs typeface="Open Sans" panose="020B0606030504020204" pitchFamily="34" charset="0"/>
            </a:endParaRPr>
          </a:p>
        </p:txBody>
      </p:sp>
      <p:sp>
        <p:nvSpPr>
          <p:cNvPr id="26" name="Text 22"/>
          <p:cNvSpPr/>
          <p:nvPr/>
        </p:nvSpPr>
        <p:spPr>
          <a:xfrm>
            <a:off x="9201151" y="4557712"/>
            <a:ext cx="7943850" cy="748154"/>
          </a:xfrm>
          <a:prstGeom prst="rect">
            <a:avLst/>
          </a:prstGeom>
          <a:noFill/>
          <a:ln/>
        </p:spPr>
        <p:txBody>
          <a:bodyPr wrap="square" lIns="0" tIns="0" rIns="0" bIns="0" rtlCol="0" anchor="t">
            <a:spAutoFit/>
          </a:bodyPr>
          <a:lstStyle/>
          <a:p>
            <a:pPr>
              <a:lnSpc>
                <a:spcPct val="120000"/>
              </a:lnSpc>
            </a:pPr>
            <a:r>
              <a:rPr lang="en-US" sz="2100" dirty="0">
                <a:solidFill>
                  <a:srgbClr val="000000"/>
                </a:solidFill>
                <a:latin typeface="Open Sans" panose="020B0606030504020204" pitchFamily="34" charset="0"/>
                <a:ea typeface="Open Sans" panose="020B0606030504020204" pitchFamily="34" charset="0"/>
                <a:cs typeface="Open Sans" panose="020B0606030504020204" pitchFamily="34" charset="0"/>
              </a:rPr>
              <a:t>Mỗi tính năng là một module khép kín. Cách tiếp cận này giúp giảm phụ thuộc chéo và hỗ trợ phát triển song song.</a:t>
            </a:r>
            <a:endParaRPr lang="en-US" sz="2100" dirty="0">
              <a:latin typeface="Open Sans" panose="020B0606030504020204" pitchFamily="34" charset="0"/>
              <a:ea typeface="Open Sans" panose="020B0606030504020204" pitchFamily="34" charset="0"/>
              <a:cs typeface="Open Sans" panose="020B0606030504020204" pitchFamily="34" charset="0"/>
            </a:endParaRPr>
          </a:p>
        </p:txBody>
      </p:sp>
      <p:sp>
        <p:nvSpPr>
          <p:cNvPr id="27" name="Shape 23"/>
          <p:cNvSpPr/>
          <p:nvPr/>
        </p:nvSpPr>
        <p:spPr>
          <a:xfrm>
            <a:off x="9201150" y="5357812"/>
            <a:ext cx="3569968" cy="325040"/>
          </a:xfrm>
          <a:prstGeom prst="rect">
            <a:avLst/>
          </a:prstGeom>
          <a:solidFill>
            <a:srgbClr val="000000"/>
          </a:solidFill>
          <a:ln/>
        </p:spPr>
        <p:txBody>
          <a:bodyPr/>
          <a:lstStyle/>
          <a:p>
            <a:endParaRPr lang="vi-VN" sz="3600" dirty="0">
              <a:latin typeface="Open Sans" panose="020B0606030504020204" pitchFamily="34" charset="0"/>
              <a:ea typeface="Open Sans" panose="020B0606030504020204" pitchFamily="34" charset="0"/>
              <a:cs typeface="Open Sans" panose="020B0606030504020204" pitchFamily="34" charset="0"/>
            </a:endParaRPr>
          </a:p>
        </p:txBody>
      </p:sp>
      <p:sp>
        <p:nvSpPr>
          <p:cNvPr id="28" name="Text 24"/>
          <p:cNvSpPr/>
          <p:nvPr/>
        </p:nvSpPr>
        <p:spPr>
          <a:xfrm>
            <a:off x="9086853" y="5288227"/>
            <a:ext cx="3768090" cy="460639"/>
          </a:xfrm>
          <a:prstGeom prst="rect">
            <a:avLst/>
          </a:prstGeom>
          <a:noFill/>
          <a:ln/>
        </p:spPr>
        <p:txBody>
          <a:bodyPr wrap="square" lIns="170180" tIns="68072" rIns="170180" bIns="68072" rtlCol="0" anchor="t">
            <a:spAutoFit/>
          </a:bodyPr>
          <a:lstStyle/>
          <a:p>
            <a:r>
              <a:rPr lang="en-US" sz="21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MODULAR ARCHITECTURE</a:t>
            </a:r>
            <a:endParaRPr lang="en-US" sz="2100" dirty="0">
              <a:latin typeface="Open Sans" panose="020B0606030504020204" pitchFamily="34" charset="0"/>
              <a:ea typeface="Open Sans" panose="020B0606030504020204" pitchFamily="34" charset="0"/>
              <a:cs typeface="Open Sans" panose="020B0606030504020204" pitchFamily="34" charset="0"/>
            </a:endParaRPr>
          </a:p>
        </p:txBody>
      </p:sp>
      <p:sp>
        <p:nvSpPr>
          <p:cNvPr id="29" name="Text 25"/>
          <p:cNvSpPr/>
          <p:nvPr/>
        </p:nvSpPr>
        <p:spPr>
          <a:xfrm>
            <a:off x="9201151" y="6040040"/>
            <a:ext cx="7943850" cy="492443"/>
          </a:xfrm>
          <a:prstGeom prst="rect">
            <a:avLst/>
          </a:prstGeom>
          <a:noFill/>
          <a:ln/>
        </p:spPr>
        <p:txBody>
          <a:bodyPr wrap="square" lIns="0" tIns="0" rIns="0" bIns="0" rtlCol="0" anchor="t">
            <a:spAutoFit/>
          </a:bodyPr>
          <a:lstStyle/>
          <a:p>
            <a:r>
              <a:rPr lang="en-US" sz="3200" b="1" dirty="0">
                <a:solidFill>
                  <a:srgbClr val="000000"/>
                </a:solidFill>
                <a:latin typeface="Montserrat Bold" panose="00000800000000000000" pitchFamily="2" charset="-93"/>
                <a:ea typeface="Open Sans" panose="020B0606030504020204" pitchFamily="34" charset="0"/>
                <a:cs typeface="Open Sans" panose="020B0606030504020204" pitchFamily="34" charset="0"/>
              </a:rPr>
              <a:t>LỢI ÍCH CỐT LÕI</a:t>
            </a:r>
            <a:endParaRPr lang="en-US" sz="3200" dirty="0">
              <a:latin typeface="Montserrat Bold" panose="00000800000000000000" pitchFamily="2" charset="-93"/>
              <a:ea typeface="Open Sans" panose="020B0606030504020204" pitchFamily="34" charset="0"/>
              <a:cs typeface="Open Sans" panose="020B0606030504020204" pitchFamily="34" charset="0"/>
            </a:endParaRPr>
          </a:p>
        </p:txBody>
      </p:sp>
      <p:sp>
        <p:nvSpPr>
          <p:cNvPr id="30" name="Text 26"/>
          <p:cNvSpPr/>
          <p:nvPr/>
        </p:nvSpPr>
        <p:spPr>
          <a:xfrm>
            <a:off x="9201151" y="6529388"/>
            <a:ext cx="7943850" cy="748154"/>
          </a:xfrm>
          <a:prstGeom prst="rect">
            <a:avLst/>
          </a:prstGeom>
          <a:noFill/>
          <a:ln/>
        </p:spPr>
        <p:txBody>
          <a:bodyPr wrap="square" lIns="0" tIns="0" rIns="0" bIns="0" rtlCol="0" anchor="t">
            <a:spAutoFit/>
          </a:bodyPr>
          <a:lstStyle/>
          <a:p>
            <a:pPr>
              <a:lnSpc>
                <a:spcPct val="120000"/>
              </a:lnSpc>
            </a:pPr>
            <a:r>
              <a:rPr lang="en-US" sz="2100" dirty="0">
                <a:solidFill>
                  <a:srgbClr val="000000"/>
                </a:solidFill>
                <a:latin typeface="Open Sans" panose="020B0606030504020204" pitchFamily="34" charset="0"/>
                <a:ea typeface="Open Sans" panose="020B0606030504020204" pitchFamily="34" charset="0"/>
                <a:cs typeface="Open Sans" panose="020B0606030504020204" pitchFamily="34" charset="0"/>
              </a:rPr>
              <a:t>Dễ dàng bảo trì, mở rộng tính năng mới mà không ảnh hưởng đến các phần khác của hệ thống.</a:t>
            </a:r>
            <a:endParaRPr lang="en-US" sz="2100" dirty="0">
              <a:latin typeface="Open Sans" panose="020B0606030504020204" pitchFamily="34" charset="0"/>
              <a:ea typeface="Open Sans" panose="020B0606030504020204" pitchFamily="34" charset="0"/>
              <a:cs typeface="Open Sans" panose="020B0606030504020204" pitchFamily="34" charset="0"/>
            </a:endParaRPr>
          </a:p>
        </p:txBody>
      </p:sp>
      <p:sp>
        <p:nvSpPr>
          <p:cNvPr id="31" name="Shape 27"/>
          <p:cNvSpPr/>
          <p:nvPr/>
        </p:nvSpPr>
        <p:spPr>
          <a:xfrm>
            <a:off x="9201147" y="7329488"/>
            <a:ext cx="4613094" cy="371872"/>
          </a:xfrm>
          <a:prstGeom prst="rect">
            <a:avLst/>
          </a:prstGeom>
          <a:solidFill>
            <a:srgbClr val="000000"/>
          </a:solidFill>
          <a:ln/>
        </p:spPr>
      </p:sp>
      <p:sp>
        <p:nvSpPr>
          <p:cNvPr id="32" name="Text 28"/>
          <p:cNvSpPr/>
          <p:nvPr/>
        </p:nvSpPr>
        <p:spPr>
          <a:xfrm>
            <a:off x="9086853" y="7279081"/>
            <a:ext cx="5029670" cy="460639"/>
          </a:xfrm>
          <a:prstGeom prst="rect">
            <a:avLst/>
          </a:prstGeom>
          <a:noFill/>
          <a:ln/>
        </p:spPr>
        <p:txBody>
          <a:bodyPr wrap="square" lIns="170180" tIns="68072" rIns="170180" bIns="68072" rtlCol="0" anchor="t">
            <a:spAutoFit/>
          </a:bodyPr>
          <a:lstStyle/>
          <a:p>
            <a:r>
              <a:rPr lang="en-US" sz="21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SCALABILITY &amp; MAINTAINABILITY</a:t>
            </a:r>
            <a:endParaRPr lang="en-US" sz="2100" dirty="0">
              <a:latin typeface="Open Sans" panose="020B0606030504020204" pitchFamily="34" charset="0"/>
              <a:ea typeface="Open Sans" panose="020B0606030504020204" pitchFamily="34" charset="0"/>
              <a:cs typeface="Open Sans" panose="020B0606030504020204" pitchFamily="34" charset="0"/>
            </a:endParaRPr>
          </a:p>
        </p:txBody>
      </p:sp>
      <p:sp>
        <p:nvSpPr>
          <p:cNvPr id="2" name="TextBox 1">
            <a:extLst>
              <a:ext uri="{FF2B5EF4-FFF2-40B4-BE49-F238E27FC236}">
                <a16:creationId xmlns:a16="http://schemas.microsoft.com/office/drawing/2014/main" id="{4ECE638B-95A3-4614-6C15-361484D9DB73}"/>
              </a:ext>
            </a:extLst>
          </p:cNvPr>
          <p:cNvSpPr txBox="1"/>
          <p:nvPr/>
        </p:nvSpPr>
        <p:spPr>
          <a:xfrm>
            <a:off x="17831821" y="9831884"/>
            <a:ext cx="415498"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13</a:t>
            </a:r>
            <a:endParaRPr lang="vi-V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18288000" cy="10287000"/>
          </a:xfrm>
          <a:prstGeom prst="rect">
            <a:avLst/>
          </a:prstGeom>
        </p:spPr>
      </p:pic>
      <p:sp>
        <p:nvSpPr>
          <p:cNvPr id="4" name="Text 0"/>
          <p:cNvSpPr/>
          <p:nvPr/>
        </p:nvSpPr>
        <p:spPr>
          <a:xfrm>
            <a:off x="1143000" y="1114426"/>
            <a:ext cx="17145000" cy="615553"/>
          </a:xfrm>
          <a:prstGeom prst="rect">
            <a:avLst/>
          </a:prstGeom>
          <a:noFill/>
          <a:ln/>
        </p:spPr>
        <p:txBody>
          <a:bodyPr wrap="square" lIns="0" tIns="0" rIns="0" bIns="0" rtlCol="0" anchor="t">
            <a:spAutoFit/>
          </a:bodyPr>
          <a:lstStyle/>
          <a:p>
            <a:r>
              <a:rPr lang="en-US" sz="4000" b="1" dirty="0">
                <a:solidFill>
                  <a:srgbClr val="000000"/>
                </a:solidFill>
                <a:latin typeface="Montserrat Bold" panose="00000800000000000000" pitchFamily="2" charset="-93"/>
                <a:ea typeface="Open Sans" panose="020B0606030504020204" pitchFamily="34" charset="0"/>
                <a:cs typeface="Open Sans" panose="020B0606030504020204" pitchFamily="34" charset="0"/>
              </a:rPr>
              <a:t>THUẬT TOÁN SPACED REPETITION (SM-2)</a:t>
            </a:r>
            <a:endParaRPr lang="en-US" sz="4000" dirty="0">
              <a:latin typeface="Montserrat Bold" panose="00000800000000000000" pitchFamily="2" charset="-93"/>
              <a:ea typeface="Open Sans" panose="020B0606030504020204" pitchFamily="34" charset="0"/>
              <a:cs typeface="Open Sans" panose="020B0606030504020204" pitchFamily="34" charset="0"/>
            </a:endParaRPr>
          </a:p>
        </p:txBody>
      </p:sp>
      <p:sp>
        <p:nvSpPr>
          <p:cNvPr id="5" name="Text 1"/>
          <p:cNvSpPr/>
          <p:nvPr/>
        </p:nvSpPr>
        <p:spPr>
          <a:xfrm>
            <a:off x="1514477" y="2539604"/>
            <a:ext cx="7751582" cy="492443"/>
          </a:xfrm>
          <a:prstGeom prst="rect">
            <a:avLst/>
          </a:prstGeom>
          <a:noFill/>
          <a:ln/>
        </p:spPr>
        <p:txBody>
          <a:bodyPr wrap="square" lIns="0" tIns="0" rIns="0" bIns="0" rtlCol="0" anchor="t">
            <a:spAutoFit/>
          </a:bodyPr>
          <a:lstStyle/>
          <a:p>
            <a:r>
              <a:rPr lang="en-US" sz="3200" b="1" dirty="0">
                <a:solidFill>
                  <a:srgbClr val="C1121F"/>
                </a:solidFill>
                <a:latin typeface="Montserrat Bold" panose="00000800000000000000" pitchFamily="2" charset="-93"/>
                <a:ea typeface="Open Sans" panose="020B0606030504020204" pitchFamily="34" charset="0"/>
                <a:cs typeface="Open Sans" panose="020B0606030504020204" pitchFamily="34" charset="0"/>
              </a:rPr>
              <a:t>CÁC THAM </a:t>
            </a:r>
            <a:r>
              <a:rPr lang="en-US" sz="3200" b="1" dirty="0" err="1">
                <a:solidFill>
                  <a:srgbClr val="C1121F"/>
                </a:solidFill>
                <a:latin typeface="Montserrat Bold" panose="00000800000000000000" pitchFamily="2" charset="-93"/>
                <a:ea typeface="Open Sans" panose="020B0606030504020204" pitchFamily="34" charset="0"/>
                <a:cs typeface="Open Sans" panose="020B0606030504020204" pitchFamily="34" charset="0"/>
              </a:rPr>
              <a:t>SỐ</a:t>
            </a:r>
            <a:endParaRPr lang="en-US" sz="3200" dirty="0">
              <a:latin typeface="Montserrat Bold" panose="00000800000000000000" pitchFamily="2" charset="-93"/>
              <a:ea typeface="Open Sans" panose="020B0606030504020204" pitchFamily="34" charset="0"/>
              <a:cs typeface="Open Sans" panose="020B0606030504020204" pitchFamily="34" charset="0"/>
            </a:endParaRPr>
          </a:p>
        </p:txBody>
      </p:sp>
      <p:sp>
        <p:nvSpPr>
          <p:cNvPr id="6" name="Text 2"/>
          <p:cNvSpPr/>
          <p:nvPr/>
        </p:nvSpPr>
        <p:spPr>
          <a:xfrm>
            <a:off x="1514477" y="3109867"/>
            <a:ext cx="1301959" cy="666849"/>
          </a:xfrm>
          <a:prstGeom prst="rect">
            <a:avLst/>
          </a:prstGeom>
          <a:noFill/>
          <a:ln/>
        </p:spPr>
        <p:txBody>
          <a:bodyPr wrap="none" lIns="85090" tIns="170180" rIns="85090" bIns="170180" rtlCol="0" anchor="ctr">
            <a:spAutoFit/>
          </a:bodyPr>
          <a:lstStyle/>
          <a:p>
            <a:r>
              <a:rPr lang="en-US" sz="21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Tham số</a:t>
            </a:r>
            <a:endParaRPr lang="en-US" sz="2100" dirty="0">
              <a:latin typeface="Open Sans" panose="020B0606030504020204" pitchFamily="34" charset="0"/>
              <a:ea typeface="Open Sans" panose="020B0606030504020204" pitchFamily="34" charset="0"/>
              <a:cs typeface="Open Sans" panose="020B0606030504020204" pitchFamily="34" charset="0"/>
            </a:endParaRPr>
          </a:p>
        </p:txBody>
      </p:sp>
      <p:sp>
        <p:nvSpPr>
          <p:cNvPr id="7" name="Text 3"/>
          <p:cNvSpPr/>
          <p:nvPr/>
        </p:nvSpPr>
        <p:spPr>
          <a:xfrm>
            <a:off x="3717207" y="3109867"/>
            <a:ext cx="3610886" cy="666849"/>
          </a:xfrm>
          <a:prstGeom prst="rect">
            <a:avLst/>
          </a:prstGeom>
          <a:noFill/>
          <a:ln/>
        </p:spPr>
        <p:txBody>
          <a:bodyPr wrap="square" lIns="85090" tIns="170180" rIns="85090" bIns="170180" rtlCol="0" anchor="ctr">
            <a:spAutoFit/>
          </a:bodyPr>
          <a:lstStyle/>
          <a:p>
            <a:r>
              <a:rPr lang="en-US" sz="21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Ý nghĩa</a:t>
            </a:r>
            <a:endParaRPr lang="en-US" sz="21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Text 4"/>
          <p:cNvSpPr/>
          <p:nvPr/>
        </p:nvSpPr>
        <p:spPr>
          <a:xfrm>
            <a:off x="7328092" y="3109867"/>
            <a:ext cx="2164375" cy="666849"/>
          </a:xfrm>
          <a:prstGeom prst="rect">
            <a:avLst/>
          </a:prstGeom>
          <a:noFill/>
          <a:ln/>
        </p:spPr>
        <p:txBody>
          <a:bodyPr wrap="none" lIns="85090" tIns="170180" rIns="85090" bIns="170180" rtlCol="0" anchor="ctr">
            <a:spAutoFit/>
          </a:bodyPr>
          <a:lstStyle/>
          <a:p>
            <a:r>
              <a:rPr lang="en-US" sz="21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Giá trị ban đầu</a:t>
            </a:r>
            <a:endParaRPr lang="en-US" sz="2100" dirty="0">
              <a:latin typeface="Open Sans" panose="020B0606030504020204" pitchFamily="34" charset="0"/>
              <a:ea typeface="Open Sans" panose="020B0606030504020204" pitchFamily="34" charset="0"/>
              <a:cs typeface="Open Sans" panose="020B0606030504020204" pitchFamily="34" charset="0"/>
            </a:endParaRPr>
          </a:p>
        </p:txBody>
      </p:sp>
      <p:sp>
        <p:nvSpPr>
          <p:cNvPr id="9" name="Text 5"/>
          <p:cNvSpPr/>
          <p:nvPr/>
        </p:nvSpPr>
        <p:spPr>
          <a:xfrm>
            <a:off x="1585913" y="3900489"/>
            <a:ext cx="1950855" cy="323165"/>
          </a:xfrm>
          <a:prstGeom prst="rect">
            <a:avLst/>
          </a:prstGeom>
          <a:noFill/>
          <a:ln/>
        </p:spPr>
        <p:txBody>
          <a:bodyPr wrap="none" lIns="0" tIns="0" rIns="0" bIns="0" rtlCol="0" anchor="t">
            <a:spAutoFit/>
          </a:bodyPr>
          <a:lstStyle/>
          <a:p>
            <a:r>
              <a:rPr lang="en-US" sz="2100" dirty="0">
                <a:solidFill>
                  <a:srgbClr val="000000"/>
                </a:solidFill>
                <a:latin typeface="Open Sans" panose="020B0606030504020204" pitchFamily="34" charset="0"/>
                <a:ea typeface="Open Sans" panose="020B0606030504020204" pitchFamily="34" charset="0"/>
                <a:cs typeface="Open Sans" panose="020B0606030504020204" pitchFamily="34" charset="0"/>
              </a:rPr>
              <a:t>Ease Factor (EF)</a:t>
            </a:r>
            <a:endParaRPr lang="en-US" sz="2100" dirty="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6"/>
          <p:cNvSpPr/>
          <p:nvPr/>
        </p:nvSpPr>
        <p:spPr>
          <a:xfrm>
            <a:off x="3717207" y="3657711"/>
            <a:ext cx="3610886" cy="735586"/>
          </a:xfrm>
          <a:prstGeom prst="rect">
            <a:avLst/>
          </a:prstGeom>
          <a:noFill/>
          <a:ln/>
        </p:spPr>
        <p:txBody>
          <a:bodyPr wrap="square" lIns="85090" tIns="204216" rIns="85090" bIns="204216" rtlCol="0" anchor="ctr">
            <a:spAutoFit/>
          </a:bodyPr>
          <a:lstStyle/>
          <a:p>
            <a:r>
              <a:rPr lang="en-US" sz="2100" dirty="0">
                <a:solidFill>
                  <a:srgbClr val="000000"/>
                </a:solidFill>
                <a:latin typeface="Open Sans" panose="020B0606030504020204" pitchFamily="34" charset="0"/>
                <a:ea typeface="Open Sans" panose="020B0606030504020204" pitchFamily="34" charset="0"/>
                <a:cs typeface="Open Sans" panose="020B0606030504020204" pitchFamily="34" charset="0"/>
              </a:rPr>
              <a:t>Hệ số "độ dễ" của từ vựng</a:t>
            </a:r>
            <a:endParaRPr lang="en-US" sz="2100" dirty="0">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7"/>
          <p:cNvSpPr/>
          <p:nvPr/>
        </p:nvSpPr>
        <p:spPr>
          <a:xfrm>
            <a:off x="7328093" y="3657711"/>
            <a:ext cx="551754" cy="735586"/>
          </a:xfrm>
          <a:prstGeom prst="rect">
            <a:avLst/>
          </a:prstGeom>
          <a:noFill/>
          <a:ln/>
        </p:spPr>
        <p:txBody>
          <a:bodyPr wrap="none" lIns="85090" tIns="204216" rIns="85090" bIns="204216" rtlCol="0" anchor="ctr">
            <a:spAutoFit/>
          </a:bodyPr>
          <a:lstStyle/>
          <a:p>
            <a:r>
              <a:rPr lang="en-US" sz="2100" dirty="0">
                <a:solidFill>
                  <a:srgbClr val="000000"/>
                </a:solidFill>
                <a:latin typeface="Open Sans" panose="020B0606030504020204" pitchFamily="34" charset="0"/>
                <a:ea typeface="Open Sans" panose="020B0606030504020204" pitchFamily="34" charset="0"/>
                <a:cs typeface="Open Sans" panose="020B0606030504020204" pitchFamily="34" charset="0"/>
              </a:rPr>
              <a:t>2.5</a:t>
            </a:r>
            <a:endParaRPr lang="en-US" sz="2100" dirty="0">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8"/>
          <p:cNvSpPr/>
          <p:nvPr/>
        </p:nvSpPr>
        <p:spPr>
          <a:xfrm>
            <a:off x="1585912" y="4514851"/>
            <a:ext cx="1253548" cy="323165"/>
          </a:xfrm>
          <a:prstGeom prst="rect">
            <a:avLst/>
          </a:prstGeom>
          <a:noFill/>
          <a:ln/>
        </p:spPr>
        <p:txBody>
          <a:bodyPr wrap="none" lIns="0" tIns="0" rIns="0" bIns="0" rtlCol="0" anchor="t">
            <a:spAutoFit/>
          </a:bodyPr>
          <a:lstStyle/>
          <a:p>
            <a:r>
              <a:rPr lang="en-US" sz="2100" dirty="0">
                <a:solidFill>
                  <a:srgbClr val="000000"/>
                </a:solidFill>
                <a:latin typeface="Open Sans" panose="020B0606030504020204" pitchFamily="34" charset="0"/>
                <a:ea typeface="Open Sans" panose="020B0606030504020204" pitchFamily="34" charset="0"/>
                <a:cs typeface="Open Sans" panose="020B0606030504020204" pitchFamily="34" charset="0"/>
              </a:rPr>
              <a:t>Interval (I)</a:t>
            </a:r>
            <a:endParaRPr lang="en-US" sz="2100" dirty="0">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9"/>
          <p:cNvSpPr/>
          <p:nvPr/>
        </p:nvSpPr>
        <p:spPr>
          <a:xfrm>
            <a:off x="3717207" y="4275645"/>
            <a:ext cx="3610886" cy="735586"/>
          </a:xfrm>
          <a:prstGeom prst="rect">
            <a:avLst/>
          </a:prstGeom>
          <a:noFill/>
          <a:ln/>
        </p:spPr>
        <p:txBody>
          <a:bodyPr wrap="square" lIns="85090" tIns="204216" rIns="85090" bIns="204216" rtlCol="0" anchor="ctr">
            <a:spAutoFit/>
          </a:bodyPr>
          <a:lstStyle/>
          <a:p>
            <a:r>
              <a:rPr lang="en-US" sz="2100" dirty="0">
                <a:solidFill>
                  <a:srgbClr val="000000"/>
                </a:solidFill>
                <a:latin typeface="Open Sans" panose="020B0606030504020204" pitchFamily="34" charset="0"/>
                <a:ea typeface="Open Sans" panose="020B0606030504020204" pitchFamily="34" charset="0"/>
                <a:cs typeface="Open Sans" panose="020B0606030504020204" pitchFamily="34" charset="0"/>
              </a:rPr>
              <a:t>Số ngày chờ đến lần ôn tiếp</a:t>
            </a:r>
            <a:endParaRPr lang="en-US" sz="2100" dirty="0">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0"/>
          <p:cNvSpPr/>
          <p:nvPr/>
        </p:nvSpPr>
        <p:spPr>
          <a:xfrm>
            <a:off x="7328093" y="4275645"/>
            <a:ext cx="325730" cy="735586"/>
          </a:xfrm>
          <a:prstGeom prst="rect">
            <a:avLst/>
          </a:prstGeom>
          <a:noFill/>
          <a:ln/>
        </p:spPr>
        <p:txBody>
          <a:bodyPr wrap="none" lIns="85090" tIns="204216" rIns="85090" bIns="204216" rtlCol="0" anchor="ctr">
            <a:spAutoFit/>
          </a:bodyPr>
          <a:lstStyle/>
          <a:p>
            <a:r>
              <a:rPr lang="en-US" sz="2100" dirty="0">
                <a:solidFill>
                  <a:srgbClr val="000000"/>
                </a:solidFill>
                <a:latin typeface="Open Sans" panose="020B0606030504020204" pitchFamily="34" charset="0"/>
                <a:ea typeface="Open Sans" panose="020B0606030504020204" pitchFamily="34" charset="0"/>
                <a:cs typeface="Open Sans" panose="020B0606030504020204" pitchFamily="34" charset="0"/>
              </a:rPr>
              <a:t>1</a:t>
            </a:r>
            <a:endParaRPr lang="en-US" sz="2100" dirty="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1"/>
          <p:cNvSpPr/>
          <p:nvPr/>
        </p:nvSpPr>
        <p:spPr>
          <a:xfrm>
            <a:off x="1585913" y="5129213"/>
            <a:ext cx="1808187" cy="323165"/>
          </a:xfrm>
          <a:prstGeom prst="rect">
            <a:avLst/>
          </a:prstGeom>
          <a:noFill/>
          <a:ln/>
        </p:spPr>
        <p:txBody>
          <a:bodyPr wrap="none" lIns="0" tIns="0" rIns="0" bIns="0" rtlCol="0" anchor="t">
            <a:spAutoFit/>
          </a:bodyPr>
          <a:lstStyle/>
          <a:p>
            <a:r>
              <a:rPr lang="en-US" sz="2100" dirty="0">
                <a:solidFill>
                  <a:srgbClr val="000000"/>
                </a:solidFill>
                <a:latin typeface="Open Sans" panose="020B0606030504020204" pitchFamily="34" charset="0"/>
                <a:ea typeface="Open Sans" panose="020B0606030504020204" pitchFamily="34" charset="0"/>
                <a:cs typeface="Open Sans" panose="020B0606030504020204" pitchFamily="34" charset="0"/>
              </a:rPr>
              <a:t>Repetitions (n)</a:t>
            </a:r>
            <a:endParaRPr lang="en-US" sz="2100" dirty="0">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12"/>
          <p:cNvSpPr/>
          <p:nvPr/>
        </p:nvSpPr>
        <p:spPr>
          <a:xfrm>
            <a:off x="3717207" y="4890007"/>
            <a:ext cx="3610886" cy="735586"/>
          </a:xfrm>
          <a:prstGeom prst="rect">
            <a:avLst/>
          </a:prstGeom>
          <a:noFill/>
          <a:ln/>
        </p:spPr>
        <p:txBody>
          <a:bodyPr wrap="square" lIns="85090" tIns="204216" rIns="85090" bIns="204216" rtlCol="0" anchor="ctr">
            <a:spAutoFit/>
          </a:bodyPr>
          <a:lstStyle/>
          <a:p>
            <a:r>
              <a:rPr lang="en-US" sz="2100" dirty="0">
                <a:solidFill>
                  <a:srgbClr val="000000"/>
                </a:solidFill>
                <a:latin typeface="Open Sans" panose="020B0606030504020204" pitchFamily="34" charset="0"/>
                <a:ea typeface="Open Sans" panose="020B0606030504020204" pitchFamily="34" charset="0"/>
                <a:cs typeface="Open Sans" panose="020B0606030504020204" pitchFamily="34" charset="0"/>
              </a:rPr>
              <a:t>Số lần trả lời đúng liên tiếp</a:t>
            </a:r>
            <a:endParaRPr lang="en-US" sz="2100" dirty="0">
              <a:latin typeface="Open Sans" panose="020B0606030504020204" pitchFamily="34" charset="0"/>
              <a:ea typeface="Open Sans" panose="020B0606030504020204" pitchFamily="34" charset="0"/>
              <a:cs typeface="Open Sans" panose="020B0606030504020204" pitchFamily="34" charset="0"/>
            </a:endParaRPr>
          </a:p>
        </p:txBody>
      </p:sp>
      <p:sp>
        <p:nvSpPr>
          <p:cNvPr id="17" name="Text 13"/>
          <p:cNvSpPr/>
          <p:nvPr/>
        </p:nvSpPr>
        <p:spPr>
          <a:xfrm>
            <a:off x="7328093" y="4890007"/>
            <a:ext cx="325730" cy="735586"/>
          </a:xfrm>
          <a:prstGeom prst="rect">
            <a:avLst/>
          </a:prstGeom>
          <a:noFill/>
          <a:ln/>
        </p:spPr>
        <p:txBody>
          <a:bodyPr wrap="none" lIns="85090" tIns="204216" rIns="85090" bIns="204216" rtlCol="0" anchor="ctr">
            <a:spAutoFit/>
          </a:bodyPr>
          <a:lstStyle/>
          <a:p>
            <a:r>
              <a:rPr lang="en-US" sz="2100" dirty="0">
                <a:solidFill>
                  <a:srgbClr val="000000"/>
                </a:solidFill>
                <a:latin typeface="Open Sans" panose="020B0606030504020204" pitchFamily="34" charset="0"/>
                <a:ea typeface="Open Sans" panose="020B0606030504020204" pitchFamily="34" charset="0"/>
                <a:cs typeface="Open Sans" panose="020B0606030504020204" pitchFamily="34" charset="0"/>
              </a:rPr>
              <a:t>0</a:t>
            </a:r>
            <a:endParaRPr lang="en-US" sz="2100" dirty="0">
              <a:latin typeface="Open Sans" panose="020B0606030504020204" pitchFamily="34" charset="0"/>
              <a:ea typeface="Open Sans" panose="020B0606030504020204" pitchFamily="34" charset="0"/>
              <a:cs typeface="Open Sans" panose="020B0606030504020204" pitchFamily="34" charset="0"/>
            </a:endParaRPr>
          </a:p>
        </p:txBody>
      </p:sp>
      <p:sp>
        <p:nvSpPr>
          <p:cNvPr id="18" name="Text 14"/>
          <p:cNvSpPr/>
          <p:nvPr/>
        </p:nvSpPr>
        <p:spPr>
          <a:xfrm>
            <a:off x="1585912" y="5743577"/>
            <a:ext cx="1524328" cy="323165"/>
          </a:xfrm>
          <a:prstGeom prst="rect">
            <a:avLst/>
          </a:prstGeom>
          <a:noFill/>
          <a:ln/>
        </p:spPr>
        <p:txBody>
          <a:bodyPr wrap="none" lIns="0" tIns="0" rIns="0" bIns="0" rtlCol="0" anchor="t">
            <a:spAutoFit/>
          </a:bodyPr>
          <a:lstStyle/>
          <a:p>
            <a:r>
              <a:rPr lang="en-US" sz="2100" dirty="0">
                <a:solidFill>
                  <a:srgbClr val="000000"/>
                </a:solidFill>
                <a:latin typeface="Open Sans" panose="020B0606030504020204" pitchFamily="34" charset="0"/>
                <a:ea typeface="Open Sans" panose="020B0606030504020204" pitchFamily="34" charset="0"/>
                <a:cs typeface="Open Sans" panose="020B0606030504020204" pitchFamily="34" charset="0"/>
              </a:rPr>
              <a:t>Next Review</a:t>
            </a:r>
            <a:endParaRPr lang="en-US" sz="2100" dirty="0">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5"/>
          <p:cNvSpPr/>
          <p:nvPr/>
        </p:nvSpPr>
        <p:spPr>
          <a:xfrm>
            <a:off x="3717207" y="5504371"/>
            <a:ext cx="3610886" cy="735586"/>
          </a:xfrm>
          <a:prstGeom prst="rect">
            <a:avLst/>
          </a:prstGeom>
          <a:noFill/>
          <a:ln/>
        </p:spPr>
        <p:txBody>
          <a:bodyPr wrap="square" lIns="85090" tIns="204216" rIns="85090" bIns="204216" rtlCol="0" anchor="ctr">
            <a:spAutoFit/>
          </a:bodyPr>
          <a:lstStyle/>
          <a:p>
            <a:r>
              <a:rPr lang="en-US" sz="2100" dirty="0">
                <a:solidFill>
                  <a:srgbClr val="000000"/>
                </a:solidFill>
                <a:latin typeface="Open Sans" panose="020B0606030504020204" pitchFamily="34" charset="0"/>
                <a:ea typeface="Open Sans" panose="020B0606030504020204" pitchFamily="34" charset="0"/>
                <a:cs typeface="Open Sans" panose="020B0606030504020204" pitchFamily="34" charset="0"/>
              </a:rPr>
              <a:t>Thời điểm ôn tập tiếp theo</a:t>
            </a:r>
            <a:endParaRPr lang="en-US" sz="2100" dirty="0">
              <a:latin typeface="Open Sans" panose="020B0606030504020204" pitchFamily="34" charset="0"/>
              <a:ea typeface="Open Sans" panose="020B0606030504020204" pitchFamily="34" charset="0"/>
              <a:cs typeface="Open Sans" panose="020B0606030504020204" pitchFamily="34" charset="0"/>
            </a:endParaRPr>
          </a:p>
        </p:txBody>
      </p:sp>
      <p:sp>
        <p:nvSpPr>
          <p:cNvPr id="20" name="Text 16"/>
          <p:cNvSpPr/>
          <p:nvPr/>
        </p:nvSpPr>
        <p:spPr>
          <a:xfrm>
            <a:off x="7328093" y="5504371"/>
            <a:ext cx="747320" cy="735586"/>
          </a:xfrm>
          <a:prstGeom prst="rect">
            <a:avLst/>
          </a:prstGeom>
          <a:noFill/>
          <a:ln/>
        </p:spPr>
        <p:txBody>
          <a:bodyPr wrap="none" lIns="85090" tIns="204216" rIns="85090" bIns="204216" rtlCol="0" anchor="ctr">
            <a:spAutoFit/>
          </a:bodyPr>
          <a:lstStyle/>
          <a:p>
            <a:r>
              <a:rPr lang="en-US" sz="2100" dirty="0">
                <a:solidFill>
                  <a:srgbClr val="000000"/>
                </a:solidFill>
                <a:latin typeface="Open Sans" panose="020B0606030504020204" pitchFamily="34" charset="0"/>
                <a:ea typeface="Open Sans" panose="020B0606030504020204" pitchFamily="34" charset="0"/>
                <a:cs typeface="Open Sans" panose="020B0606030504020204" pitchFamily="34" charset="0"/>
              </a:rPr>
              <a:t>Now</a:t>
            </a:r>
            <a:endParaRPr lang="en-US" sz="2100" dirty="0">
              <a:latin typeface="Open Sans" panose="020B0606030504020204" pitchFamily="34" charset="0"/>
              <a:ea typeface="Open Sans" panose="020B0606030504020204" pitchFamily="34" charset="0"/>
              <a:cs typeface="Open Sans" panose="020B0606030504020204" pitchFamily="34" charset="0"/>
            </a:endParaRPr>
          </a:p>
        </p:txBody>
      </p:sp>
      <p:sp>
        <p:nvSpPr>
          <p:cNvPr id="21" name="Text 17"/>
          <p:cNvSpPr/>
          <p:nvPr/>
        </p:nvSpPr>
        <p:spPr>
          <a:xfrm>
            <a:off x="1514477" y="6543676"/>
            <a:ext cx="7751582" cy="323165"/>
          </a:xfrm>
          <a:prstGeom prst="rect">
            <a:avLst/>
          </a:prstGeom>
          <a:noFill/>
          <a:ln/>
        </p:spPr>
        <p:txBody>
          <a:bodyPr wrap="square" lIns="0" tIns="0" rIns="0" bIns="0" rtlCol="0" anchor="t">
            <a:spAutoFit/>
          </a:bodyPr>
          <a:lstStyle/>
          <a:p>
            <a:r>
              <a:rPr lang="en-US" sz="2100" b="1" dirty="0">
                <a:solidFill>
                  <a:srgbClr val="C1121F"/>
                </a:solidFill>
                <a:latin typeface="Open Sans" panose="020B0606030504020204" pitchFamily="34" charset="0"/>
                <a:ea typeface="Open Sans" panose="020B0606030504020204" pitchFamily="34" charset="0"/>
                <a:cs typeface="Open Sans" panose="020B0606030504020204" pitchFamily="34" charset="0"/>
              </a:rPr>
              <a:t>CÔNG THỨC: nextReview = now + max(1, interval) × 1 ngày</a:t>
            </a:r>
            <a:endParaRPr lang="en-US" sz="2100" dirty="0">
              <a:latin typeface="Open Sans" panose="020B0606030504020204" pitchFamily="34" charset="0"/>
              <a:ea typeface="Open Sans" panose="020B0606030504020204" pitchFamily="34" charset="0"/>
              <a:cs typeface="Open Sans" panose="020B0606030504020204" pitchFamily="34" charset="0"/>
            </a:endParaRPr>
          </a:p>
        </p:txBody>
      </p:sp>
      <p:sp>
        <p:nvSpPr>
          <p:cNvPr id="22" name="Text 18"/>
          <p:cNvSpPr/>
          <p:nvPr/>
        </p:nvSpPr>
        <p:spPr>
          <a:xfrm>
            <a:off x="10437632" y="2539604"/>
            <a:ext cx="6335892" cy="492443"/>
          </a:xfrm>
          <a:prstGeom prst="rect">
            <a:avLst/>
          </a:prstGeom>
          <a:noFill/>
          <a:ln/>
        </p:spPr>
        <p:txBody>
          <a:bodyPr wrap="square" lIns="0" tIns="0" rIns="0" bIns="0" rtlCol="0" anchor="t">
            <a:spAutoFit/>
          </a:bodyPr>
          <a:lstStyle/>
          <a:p>
            <a:r>
              <a:rPr lang="en-US" sz="3200" b="1" dirty="0">
                <a:solidFill>
                  <a:srgbClr val="C1121F"/>
                </a:solidFill>
                <a:latin typeface="Montserrat Bold" panose="00000800000000000000" pitchFamily="2" charset="-93"/>
                <a:ea typeface="Open Sans" panose="020B0606030504020204" pitchFamily="34" charset="0"/>
                <a:cs typeface="Open Sans" panose="020B0606030504020204" pitchFamily="34" charset="0"/>
              </a:rPr>
              <a:t>NGUYÊN LÝ HOẠT ĐỘNG</a:t>
            </a:r>
            <a:endParaRPr lang="en-US" sz="3200" dirty="0">
              <a:latin typeface="Montserrat Bold" panose="00000800000000000000" pitchFamily="2" charset="-93"/>
              <a:ea typeface="Open Sans" panose="020B0606030504020204" pitchFamily="34" charset="0"/>
              <a:cs typeface="Open Sans" panose="020B0606030504020204" pitchFamily="34" charset="0"/>
            </a:endParaRPr>
          </a:p>
        </p:txBody>
      </p:sp>
      <p:sp>
        <p:nvSpPr>
          <p:cNvPr id="23" name="Text 19"/>
          <p:cNvSpPr/>
          <p:nvPr/>
        </p:nvSpPr>
        <p:spPr>
          <a:xfrm>
            <a:off x="10437632" y="3171826"/>
            <a:ext cx="6494008" cy="793422"/>
          </a:xfrm>
          <a:prstGeom prst="rect">
            <a:avLst/>
          </a:prstGeom>
          <a:noFill/>
          <a:ln/>
        </p:spPr>
        <p:txBody>
          <a:bodyPr wrap="square" lIns="255016" tIns="0" rIns="0" bIns="0" rtlCol="0" anchor="t">
            <a:spAutoFit/>
          </a:bodyPr>
          <a:lstStyle/>
          <a:p>
            <a:pPr marL="342900" indent="-342900">
              <a:lnSpc>
                <a:spcPct val="128000"/>
              </a:lnSpc>
              <a:buFont typeface="Arial" panose="020B0604020202020204" pitchFamily="34" charset="0"/>
              <a:buChar char="•"/>
            </a:pPr>
            <a:r>
              <a:rPr lang="en-US" sz="2100" dirty="0">
                <a:solidFill>
                  <a:srgbClr val="000000"/>
                </a:solidFill>
                <a:latin typeface="Open Sans" panose="020B0606030504020204" pitchFamily="34" charset="0"/>
                <a:ea typeface="Open Sans" panose="020B0606030504020204" pitchFamily="34" charset="0"/>
                <a:cs typeface="Open Sans" panose="020B0606030504020204" pitchFamily="34" charset="0"/>
              </a:rPr>
              <a:t>Tối ưu ghi nhớ: Chuyển kiến thức từ trí nhớ ngắn hạn sang dài hạn.</a:t>
            </a:r>
            <a:endParaRPr lang="en-US" sz="2100" dirty="0">
              <a:latin typeface="Open Sans" panose="020B0606030504020204" pitchFamily="34" charset="0"/>
              <a:ea typeface="Open Sans" panose="020B0606030504020204" pitchFamily="34" charset="0"/>
              <a:cs typeface="Open Sans" panose="020B0606030504020204" pitchFamily="34" charset="0"/>
            </a:endParaRPr>
          </a:p>
        </p:txBody>
      </p:sp>
      <p:sp>
        <p:nvSpPr>
          <p:cNvPr id="24" name="Text 20"/>
          <p:cNvSpPr/>
          <p:nvPr/>
        </p:nvSpPr>
        <p:spPr>
          <a:xfrm>
            <a:off x="10437632" y="4117590"/>
            <a:ext cx="6264456" cy="793422"/>
          </a:xfrm>
          <a:prstGeom prst="rect">
            <a:avLst/>
          </a:prstGeom>
          <a:noFill/>
          <a:ln/>
        </p:spPr>
        <p:txBody>
          <a:bodyPr wrap="square" lIns="255016" tIns="0" rIns="0" bIns="0" rtlCol="0" anchor="t">
            <a:spAutoFit/>
          </a:bodyPr>
          <a:lstStyle/>
          <a:p>
            <a:pPr marL="342900" indent="-342900">
              <a:lnSpc>
                <a:spcPct val="128000"/>
              </a:lnSpc>
              <a:buFont typeface="Arial" panose="020B0604020202020204" pitchFamily="34" charset="0"/>
              <a:buChar char="•"/>
            </a:pPr>
            <a:r>
              <a:rPr lang="en-US" sz="2100" dirty="0">
                <a:solidFill>
                  <a:srgbClr val="000000"/>
                </a:solidFill>
                <a:latin typeface="Open Sans" panose="020B0606030504020204" pitchFamily="34" charset="0"/>
                <a:ea typeface="Open Sans" panose="020B0606030504020204" pitchFamily="34" charset="0"/>
                <a:cs typeface="Open Sans" panose="020B0606030504020204" pitchFamily="34" charset="0"/>
              </a:rPr>
              <a:t>Cá nhân hóa: Từ khó xuất hiện thường xuyên, từ dễ giãn cách lịch ôn.</a:t>
            </a:r>
            <a:endParaRPr lang="en-US" sz="2100" dirty="0">
              <a:latin typeface="Open Sans" panose="020B0606030504020204" pitchFamily="34" charset="0"/>
              <a:ea typeface="Open Sans" panose="020B0606030504020204" pitchFamily="34" charset="0"/>
              <a:cs typeface="Open Sans" panose="020B0606030504020204" pitchFamily="34" charset="0"/>
            </a:endParaRPr>
          </a:p>
        </p:txBody>
      </p:sp>
      <p:sp>
        <p:nvSpPr>
          <p:cNvPr id="25" name="Text 21"/>
          <p:cNvSpPr/>
          <p:nvPr/>
        </p:nvSpPr>
        <p:spPr>
          <a:xfrm>
            <a:off x="10437632" y="5063356"/>
            <a:ext cx="6335892" cy="492443"/>
          </a:xfrm>
          <a:prstGeom prst="rect">
            <a:avLst/>
          </a:prstGeom>
          <a:noFill/>
          <a:ln/>
        </p:spPr>
        <p:txBody>
          <a:bodyPr wrap="square" lIns="0" tIns="0" rIns="0" bIns="0" rtlCol="0" anchor="t">
            <a:spAutoFit/>
          </a:bodyPr>
          <a:lstStyle/>
          <a:p>
            <a:r>
              <a:rPr lang="en-US" sz="3200" b="1" dirty="0">
                <a:solidFill>
                  <a:srgbClr val="C1121F"/>
                </a:solidFill>
                <a:latin typeface="Montserrat Bold" panose="00000800000000000000" pitchFamily="2" charset="-93"/>
                <a:ea typeface="Open Sans" panose="020B0606030504020204" pitchFamily="34" charset="0"/>
                <a:cs typeface="Open Sans" panose="020B0606030504020204" pitchFamily="34" charset="0"/>
              </a:rPr>
              <a:t>MỨC ĐỘ ĐÁNH GIÁ</a:t>
            </a:r>
            <a:endParaRPr lang="en-US" sz="3200" dirty="0">
              <a:latin typeface="Montserrat Bold" panose="00000800000000000000" pitchFamily="2" charset="-93"/>
              <a:ea typeface="Open Sans" panose="020B0606030504020204" pitchFamily="34" charset="0"/>
              <a:cs typeface="Open Sans" panose="020B0606030504020204" pitchFamily="34" charset="0"/>
            </a:endParaRPr>
          </a:p>
        </p:txBody>
      </p:sp>
      <p:sp>
        <p:nvSpPr>
          <p:cNvPr id="26" name="Shape 22"/>
          <p:cNvSpPr/>
          <p:nvPr/>
        </p:nvSpPr>
        <p:spPr>
          <a:xfrm>
            <a:off x="10437632" y="5624140"/>
            <a:ext cx="3096480" cy="557212"/>
          </a:xfrm>
          <a:prstGeom prst="rect">
            <a:avLst/>
          </a:prstGeom>
          <a:solidFill>
            <a:srgbClr val="C1121F"/>
          </a:solidFill>
          <a:ln w="9144">
            <a:solidFill>
              <a:srgbClr val="C1121F"/>
            </a:solidFill>
            <a:prstDash val="solid"/>
          </a:ln>
        </p:spPr>
      </p:sp>
      <p:sp>
        <p:nvSpPr>
          <p:cNvPr id="27" name="Text 23"/>
          <p:cNvSpPr/>
          <p:nvPr/>
        </p:nvSpPr>
        <p:spPr>
          <a:xfrm>
            <a:off x="10437632" y="5624141"/>
            <a:ext cx="3096480" cy="666849"/>
          </a:xfrm>
          <a:prstGeom prst="rect">
            <a:avLst/>
          </a:prstGeom>
          <a:noFill/>
          <a:ln/>
        </p:spPr>
        <p:txBody>
          <a:bodyPr wrap="square" lIns="170180" tIns="170180" rIns="170180" bIns="170180" rtlCol="0" anchor="t">
            <a:spAutoFit/>
          </a:bodyPr>
          <a:lstStyle/>
          <a:p>
            <a:pPr algn="ctr"/>
            <a:r>
              <a:rPr lang="en-US" sz="21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AGAIN</a:t>
            </a:r>
            <a:endParaRPr lang="en-US" sz="2100" dirty="0">
              <a:latin typeface="Open Sans" panose="020B0606030504020204" pitchFamily="34" charset="0"/>
              <a:ea typeface="Open Sans" panose="020B0606030504020204" pitchFamily="34" charset="0"/>
              <a:cs typeface="Open Sans" panose="020B0606030504020204" pitchFamily="34" charset="0"/>
            </a:endParaRPr>
          </a:p>
        </p:txBody>
      </p:sp>
      <p:sp>
        <p:nvSpPr>
          <p:cNvPr id="28" name="Text 24"/>
          <p:cNvSpPr/>
          <p:nvPr/>
        </p:nvSpPr>
        <p:spPr>
          <a:xfrm>
            <a:off x="13676988" y="5624141"/>
            <a:ext cx="3096536" cy="666849"/>
          </a:xfrm>
          <a:prstGeom prst="rect">
            <a:avLst/>
          </a:prstGeom>
          <a:noFill/>
          <a:ln/>
        </p:spPr>
        <p:txBody>
          <a:bodyPr wrap="square" lIns="170180" tIns="170180" rIns="170180" bIns="170180" rtlCol="0" anchor="t">
            <a:spAutoFit/>
          </a:bodyPr>
          <a:lstStyle/>
          <a:p>
            <a:pPr algn="ctr"/>
            <a:r>
              <a:rPr lang="en-US" sz="21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HARD</a:t>
            </a:r>
            <a:endParaRPr lang="en-US" sz="2100" dirty="0">
              <a:latin typeface="Open Sans" panose="020B0606030504020204" pitchFamily="34" charset="0"/>
              <a:ea typeface="Open Sans" panose="020B0606030504020204" pitchFamily="34" charset="0"/>
              <a:cs typeface="Open Sans" panose="020B0606030504020204" pitchFamily="34" charset="0"/>
            </a:endParaRPr>
          </a:p>
        </p:txBody>
      </p:sp>
      <p:sp>
        <p:nvSpPr>
          <p:cNvPr id="29" name="Text 25"/>
          <p:cNvSpPr/>
          <p:nvPr/>
        </p:nvSpPr>
        <p:spPr>
          <a:xfrm>
            <a:off x="10437632" y="6324229"/>
            <a:ext cx="3096480" cy="666849"/>
          </a:xfrm>
          <a:prstGeom prst="rect">
            <a:avLst/>
          </a:prstGeom>
          <a:noFill/>
          <a:ln/>
        </p:spPr>
        <p:txBody>
          <a:bodyPr wrap="square" lIns="170180" tIns="170180" rIns="170180" bIns="170180" rtlCol="0" anchor="t">
            <a:spAutoFit/>
          </a:bodyPr>
          <a:lstStyle/>
          <a:p>
            <a:pPr algn="ctr"/>
            <a:r>
              <a:rPr lang="en-US" sz="21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GOOD</a:t>
            </a:r>
            <a:endParaRPr lang="en-US" sz="2100" dirty="0">
              <a:latin typeface="Open Sans" panose="020B0606030504020204" pitchFamily="34" charset="0"/>
              <a:ea typeface="Open Sans" panose="020B0606030504020204" pitchFamily="34" charset="0"/>
              <a:cs typeface="Open Sans" panose="020B0606030504020204" pitchFamily="34" charset="0"/>
            </a:endParaRPr>
          </a:p>
        </p:txBody>
      </p:sp>
      <p:sp>
        <p:nvSpPr>
          <p:cNvPr id="30" name="Text 26"/>
          <p:cNvSpPr/>
          <p:nvPr/>
        </p:nvSpPr>
        <p:spPr>
          <a:xfrm>
            <a:off x="13676988" y="6324229"/>
            <a:ext cx="3096536" cy="666849"/>
          </a:xfrm>
          <a:prstGeom prst="rect">
            <a:avLst/>
          </a:prstGeom>
          <a:noFill/>
          <a:ln/>
        </p:spPr>
        <p:txBody>
          <a:bodyPr wrap="square" lIns="170180" tIns="170180" rIns="170180" bIns="170180" rtlCol="0" anchor="t">
            <a:spAutoFit/>
          </a:bodyPr>
          <a:lstStyle/>
          <a:p>
            <a:pPr algn="ctr"/>
            <a:r>
              <a:rPr lang="en-US" sz="21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EASY</a:t>
            </a:r>
            <a:endParaRPr lang="en-US" sz="2100" dirty="0">
              <a:latin typeface="Open Sans" panose="020B0606030504020204" pitchFamily="34" charset="0"/>
              <a:ea typeface="Open Sans" panose="020B0606030504020204" pitchFamily="34" charset="0"/>
              <a:cs typeface="Open Sans" panose="020B0606030504020204" pitchFamily="34" charset="0"/>
            </a:endParaRPr>
          </a:p>
        </p:txBody>
      </p:sp>
      <p:sp>
        <p:nvSpPr>
          <p:cNvPr id="31" name="Text 27"/>
          <p:cNvSpPr/>
          <p:nvPr/>
        </p:nvSpPr>
        <p:spPr>
          <a:xfrm>
            <a:off x="10437632" y="7167190"/>
            <a:ext cx="6335892" cy="646331"/>
          </a:xfrm>
          <a:prstGeom prst="rect">
            <a:avLst/>
          </a:prstGeom>
          <a:noFill/>
          <a:ln/>
        </p:spPr>
        <p:txBody>
          <a:bodyPr wrap="square" lIns="0" tIns="0" rIns="0" bIns="0" rtlCol="0" anchor="t">
            <a:spAutoFit/>
          </a:bodyPr>
          <a:lstStyle/>
          <a:p>
            <a:r>
              <a:rPr lang="en-US" sz="2100" i="1" dirty="0">
                <a:solidFill>
                  <a:srgbClr val="000000"/>
                </a:solidFill>
                <a:latin typeface="Open Sans" panose="020B0606030504020204" pitchFamily="34" charset="0"/>
                <a:ea typeface="Open Sans" panose="020B0606030504020204" pitchFamily="34" charset="0"/>
                <a:cs typeface="Open Sans" panose="020B0606030504020204" pitchFamily="34" charset="0"/>
              </a:rPr>
              <a:t>* Hệ thống tự động tính toán lại EF và Interval dựa trên phản hồi của người dùng.</a:t>
            </a:r>
            <a:endParaRPr lang="en-US" sz="2100" dirty="0">
              <a:latin typeface="Open Sans" panose="020B0606030504020204" pitchFamily="34" charset="0"/>
              <a:ea typeface="Open Sans" panose="020B0606030504020204" pitchFamily="34" charset="0"/>
              <a:cs typeface="Open Sans" panose="020B0606030504020204" pitchFamily="34" charset="0"/>
            </a:endParaRPr>
          </a:p>
        </p:txBody>
      </p:sp>
      <p:sp>
        <p:nvSpPr>
          <p:cNvPr id="2" name="TextBox 1">
            <a:extLst>
              <a:ext uri="{FF2B5EF4-FFF2-40B4-BE49-F238E27FC236}">
                <a16:creationId xmlns:a16="http://schemas.microsoft.com/office/drawing/2014/main" id="{D2EEB9D1-AF16-AA3D-CDFB-995059FD13F0}"/>
              </a:ext>
            </a:extLst>
          </p:cNvPr>
          <p:cNvSpPr txBox="1"/>
          <p:nvPr/>
        </p:nvSpPr>
        <p:spPr>
          <a:xfrm>
            <a:off x="17831821" y="9831884"/>
            <a:ext cx="415498"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14</a:t>
            </a:r>
            <a:endParaRPr lang="vi-V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114300" y="1200150"/>
            <a:ext cx="18059400" cy="10287000"/>
          </a:xfrm>
          <a:prstGeom prst="rect">
            <a:avLst/>
          </a:prstGeom>
        </p:spPr>
      </p:pic>
      <p:sp>
        <p:nvSpPr>
          <p:cNvPr id="4" name="Text 0"/>
          <p:cNvSpPr/>
          <p:nvPr/>
        </p:nvSpPr>
        <p:spPr>
          <a:xfrm>
            <a:off x="1257300" y="1358004"/>
            <a:ext cx="17145000" cy="615553"/>
          </a:xfrm>
          <a:prstGeom prst="rect">
            <a:avLst/>
          </a:prstGeom>
          <a:noFill/>
          <a:ln/>
        </p:spPr>
        <p:txBody>
          <a:bodyPr wrap="square" lIns="0" tIns="0" rIns="0" bIns="0" rtlCol="0" anchor="t">
            <a:spAutoFit/>
          </a:bodyPr>
          <a:lstStyle/>
          <a:p>
            <a:r>
              <a:rPr lang="en-US" sz="4000" b="1" dirty="0">
                <a:solidFill>
                  <a:srgbClr val="000000"/>
                </a:solidFill>
                <a:latin typeface="Montserrat Bold" panose="00000800000000000000" pitchFamily="2" charset="-93"/>
                <a:ea typeface="Open Sans" panose="020B0606030504020204" pitchFamily="34" charset="0"/>
                <a:cs typeface="Open Sans" panose="020B0606030504020204" pitchFamily="34" charset="0"/>
              </a:rPr>
              <a:t>QUẢN LÝ HÀNG ĐỢI (LEARNING QUEUE)</a:t>
            </a:r>
            <a:endParaRPr lang="en-US" sz="4000" dirty="0">
              <a:latin typeface="Montserrat Bold" panose="00000800000000000000" pitchFamily="2" charset="-93"/>
              <a:ea typeface="Open Sans" panose="020B0606030504020204" pitchFamily="34" charset="0"/>
              <a:cs typeface="Open Sans" panose="020B0606030504020204" pitchFamily="34" charset="0"/>
            </a:endParaRPr>
          </a:p>
        </p:txBody>
      </p:sp>
      <p:sp>
        <p:nvSpPr>
          <p:cNvPr id="5" name="Text 1"/>
          <p:cNvSpPr/>
          <p:nvPr/>
        </p:nvSpPr>
        <p:spPr>
          <a:xfrm>
            <a:off x="1092610" y="3320172"/>
            <a:ext cx="7686676" cy="492443"/>
          </a:xfrm>
          <a:prstGeom prst="rect">
            <a:avLst/>
          </a:prstGeom>
          <a:noFill/>
          <a:ln/>
        </p:spPr>
        <p:txBody>
          <a:bodyPr wrap="square" lIns="0" tIns="0" rIns="0" bIns="0" rtlCol="0" anchor="t">
            <a:spAutoFit/>
          </a:bodyPr>
          <a:lstStyle/>
          <a:p>
            <a:r>
              <a:rPr lang="en-US" sz="3200" b="1" dirty="0">
                <a:solidFill>
                  <a:srgbClr val="C1121F"/>
                </a:solidFill>
                <a:latin typeface="Montserrat Bold" panose="00000800000000000000" pitchFamily="2" charset="-93"/>
                <a:ea typeface="Open Sans" panose="020B0606030504020204" pitchFamily="34" charset="0"/>
                <a:cs typeface="Open Sans" panose="020B0606030504020204" pitchFamily="34" charset="0"/>
              </a:rPr>
              <a:t>NGUYÊN LÝ HOẠT ĐỘNG</a:t>
            </a:r>
            <a:endParaRPr lang="en-US" sz="3200" dirty="0">
              <a:latin typeface="Montserrat Bold" panose="00000800000000000000" pitchFamily="2" charset="-93"/>
              <a:ea typeface="Open Sans" panose="020B0606030504020204" pitchFamily="34" charset="0"/>
              <a:cs typeface="Open Sans" panose="020B0606030504020204" pitchFamily="34" charset="0"/>
            </a:endParaRPr>
          </a:p>
        </p:txBody>
      </p:sp>
      <p:sp>
        <p:nvSpPr>
          <p:cNvPr id="6" name="Text 2"/>
          <p:cNvSpPr/>
          <p:nvPr/>
        </p:nvSpPr>
        <p:spPr>
          <a:xfrm>
            <a:off x="1107666" y="4127092"/>
            <a:ext cx="7686676" cy="725520"/>
          </a:xfrm>
          <a:prstGeom prst="rect">
            <a:avLst/>
          </a:prstGeom>
          <a:noFill/>
          <a:ln/>
        </p:spPr>
        <p:txBody>
          <a:bodyPr wrap="square" lIns="170180" tIns="0" rIns="0" bIns="0" rtlCol="0" anchor="t">
            <a:spAutoFit/>
          </a:bodyPr>
          <a:lstStyle/>
          <a:p>
            <a:pPr>
              <a:lnSpc>
                <a:spcPct val="116000"/>
              </a:lnSpc>
            </a:pPr>
            <a:r>
              <a:rPr lang="en-US" sz="21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Cấu trúc:</a:t>
            </a:r>
            <a:r>
              <a:rPr lang="en-US" sz="2100" dirty="0">
                <a:solidFill>
                  <a:srgbClr val="000000"/>
                </a:solidFill>
                <a:latin typeface="Open Sans" panose="020B0606030504020204" pitchFamily="34" charset="0"/>
                <a:ea typeface="Open Sans" panose="020B0606030504020204" pitchFamily="34" charset="0"/>
                <a:cs typeface="Open Sans" panose="020B0606030504020204" pitchFamily="34" charset="0"/>
              </a:rPr>
              <a:t> Sử dụng hàng đợi (Queue) linh hoạt để quản lý các thẻ trong một phiên học.</a:t>
            </a:r>
            <a:endParaRPr lang="en-US" sz="2100" dirty="0">
              <a:latin typeface="Open Sans" panose="020B0606030504020204" pitchFamily="34" charset="0"/>
              <a:ea typeface="Open Sans" panose="020B0606030504020204" pitchFamily="34" charset="0"/>
              <a:cs typeface="Open Sans" panose="020B0606030504020204" pitchFamily="34" charset="0"/>
            </a:endParaRPr>
          </a:p>
        </p:txBody>
      </p:sp>
      <p:sp>
        <p:nvSpPr>
          <p:cNvPr id="7" name="Text 3"/>
          <p:cNvSpPr/>
          <p:nvPr/>
        </p:nvSpPr>
        <p:spPr>
          <a:xfrm>
            <a:off x="1107666" y="5015708"/>
            <a:ext cx="7686676" cy="725520"/>
          </a:xfrm>
          <a:prstGeom prst="rect">
            <a:avLst/>
          </a:prstGeom>
          <a:noFill/>
          <a:ln/>
        </p:spPr>
        <p:txBody>
          <a:bodyPr wrap="square" lIns="170180" tIns="0" rIns="0" bIns="0" rtlCol="0" anchor="t">
            <a:spAutoFit/>
          </a:bodyPr>
          <a:lstStyle/>
          <a:p>
            <a:pPr>
              <a:lnSpc>
                <a:spcPct val="116000"/>
              </a:lnSpc>
            </a:pPr>
            <a:r>
              <a:rPr lang="en-US" sz="21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Cơ chế "Again":</a:t>
            </a:r>
            <a:r>
              <a:rPr lang="en-US" sz="2100" dirty="0">
                <a:solidFill>
                  <a:srgbClr val="000000"/>
                </a:solidFill>
                <a:latin typeface="Open Sans" panose="020B0606030504020204" pitchFamily="34" charset="0"/>
                <a:ea typeface="Open Sans" panose="020B0606030504020204" pitchFamily="34" charset="0"/>
                <a:cs typeface="Open Sans" panose="020B0606030504020204" pitchFamily="34" charset="0"/>
              </a:rPr>
              <a:t> Nếu người dùng chọn "Again", thẻ hiện tại sẽ được đẩy xuống </a:t>
            </a:r>
            <a:r>
              <a:rPr lang="en-US" sz="21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cuối hàng đợi</a:t>
            </a:r>
            <a:r>
              <a:rPr lang="en-US" sz="2100" dirty="0">
                <a:solidFill>
                  <a:srgbClr val="000000"/>
                </a:solidFill>
                <a:latin typeface="Open Sans" panose="020B0606030504020204" pitchFamily="34" charset="0"/>
                <a:ea typeface="Open Sans" panose="020B0606030504020204" pitchFamily="34" charset="0"/>
                <a:cs typeface="Open Sans" panose="020B0606030504020204" pitchFamily="34" charset="0"/>
              </a:rPr>
              <a:t>.</a:t>
            </a:r>
            <a:endParaRPr lang="en-US" sz="21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Text 4"/>
          <p:cNvSpPr/>
          <p:nvPr/>
        </p:nvSpPr>
        <p:spPr>
          <a:xfrm>
            <a:off x="1107666" y="5904324"/>
            <a:ext cx="7686676" cy="725520"/>
          </a:xfrm>
          <a:prstGeom prst="rect">
            <a:avLst/>
          </a:prstGeom>
          <a:noFill/>
          <a:ln/>
        </p:spPr>
        <p:txBody>
          <a:bodyPr wrap="square" lIns="170180" tIns="0" rIns="0" bIns="0" rtlCol="0" anchor="t">
            <a:spAutoFit/>
          </a:bodyPr>
          <a:lstStyle/>
          <a:p>
            <a:pPr>
              <a:lnSpc>
                <a:spcPct val="116000"/>
              </a:lnSpc>
            </a:pPr>
            <a:r>
              <a:rPr lang="en-US" sz="21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Điều kiện kết thúc:</a:t>
            </a:r>
            <a:r>
              <a:rPr lang="en-US" sz="2100" dirty="0">
                <a:solidFill>
                  <a:srgbClr val="000000"/>
                </a:solidFill>
                <a:latin typeface="Open Sans" panose="020B0606030504020204" pitchFamily="34" charset="0"/>
                <a:ea typeface="Open Sans" panose="020B0606030504020204" pitchFamily="34" charset="0"/>
                <a:cs typeface="Open Sans" panose="020B0606030504020204" pitchFamily="34" charset="0"/>
              </a:rPr>
              <a:t> Phiên học chỉ hoàn thành khi tất cả các thẻ trong hàng đợi đã được ghi nhớ (đánh giá khác "Again").</a:t>
            </a:r>
            <a:endParaRPr lang="en-US" sz="2100" dirty="0">
              <a:latin typeface="Open Sans" panose="020B0606030504020204" pitchFamily="34" charset="0"/>
              <a:ea typeface="Open Sans" panose="020B0606030504020204" pitchFamily="34" charset="0"/>
              <a:cs typeface="Open Sans" panose="020B0606030504020204" pitchFamily="34" charset="0"/>
            </a:endParaRPr>
          </a:p>
        </p:txBody>
      </p:sp>
      <p:sp>
        <p:nvSpPr>
          <p:cNvPr id="9" name="Text 5"/>
          <p:cNvSpPr/>
          <p:nvPr/>
        </p:nvSpPr>
        <p:spPr>
          <a:xfrm>
            <a:off x="9493660" y="3320172"/>
            <a:ext cx="7686676" cy="492443"/>
          </a:xfrm>
          <a:prstGeom prst="rect">
            <a:avLst/>
          </a:prstGeom>
          <a:noFill/>
          <a:ln/>
        </p:spPr>
        <p:txBody>
          <a:bodyPr wrap="square" lIns="0" tIns="0" rIns="0" bIns="0" rtlCol="0" anchor="t">
            <a:spAutoFit/>
          </a:bodyPr>
          <a:lstStyle/>
          <a:p>
            <a:r>
              <a:rPr lang="en-US" sz="3200" b="1" dirty="0">
                <a:solidFill>
                  <a:srgbClr val="C1121F"/>
                </a:solidFill>
                <a:latin typeface="Montserrat Bold" panose="00000800000000000000" pitchFamily="2" charset="-93"/>
                <a:ea typeface="Open Sans" panose="020B0606030504020204" pitchFamily="34" charset="0"/>
                <a:cs typeface="Open Sans" panose="020B0606030504020204" pitchFamily="34" charset="0"/>
              </a:rPr>
              <a:t>VÍ DỤ MINH HỌA (A, B, C)</a:t>
            </a:r>
            <a:endParaRPr lang="en-US" sz="3200" dirty="0">
              <a:latin typeface="Montserrat Bold" panose="00000800000000000000" pitchFamily="2" charset="-93"/>
              <a:ea typeface="Open Sans" panose="020B0606030504020204" pitchFamily="34" charset="0"/>
              <a:cs typeface="Open Sans" panose="020B0606030504020204" pitchFamily="34" charset="0"/>
            </a:endParaRPr>
          </a:p>
        </p:txBody>
      </p:sp>
      <p:sp>
        <p:nvSpPr>
          <p:cNvPr id="10" name="Text 6"/>
          <p:cNvSpPr/>
          <p:nvPr/>
        </p:nvSpPr>
        <p:spPr>
          <a:xfrm>
            <a:off x="9493660" y="3895245"/>
            <a:ext cx="7686676" cy="529376"/>
          </a:xfrm>
          <a:prstGeom prst="rect">
            <a:avLst/>
          </a:prstGeom>
          <a:noFill/>
          <a:ln/>
        </p:spPr>
        <p:txBody>
          <a:bodyPr wrap="square" lIns="204216" tIns="102108" rIns="204216" bIns="102108" rtlCol="0" anchor="t">
            <a:spAutoFit/>
          </a:bodyPr>
          <a:lstStyle/>
          <a:p>
            <a:r>
              <a:rPr lang="en-US" sz="21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Thẻ A: Good ➔ Xong</a:t>
            </a:r>
            <a:endParaRPr lang="en-US" sz="2100" dirty="0">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7"/>
          <p:cNvSpPr/>
          <p:nvPr/>
        </p:nvSpPr>
        <p:spPr>
          <a:xfrm>
            <a:off x="13269674" y="4456029"/>
            <a:ext cx="134652" cy="261675"/>
          </a:xfrm>
          <a:prstGeom prst="rect">
            <a:avLst/>
          </a:prstGeom>
          <a:noFill/>
          <a:ln/>
        </p:spPr>
        <p:txBody>
          <a:bodyPr wrap="none" lIns="0" tIns="0" rIns="0" bIns="0" rtlCol="0" anchor="t">
            <a:spAutoFit/>
          </a:bodyPr>
          <a:lstStyle/>
          <a:p>
            <a:pPr algn="ctr">
              <a:lnSpc>
                <a:spcPct val="80000"/>
              </a:lnSpc>
            </a:pPr>
            <a:r>
              <a:rPr lang="en-US" sz="2100" dirty="0">
                <a:solidFill>
                  <a:srgbClr val="C1121F"/>
                </a:solidFill>
                <a:latin typeface="Open Sans" panose="020B0606030504020204" pitchFamily="34" charset="0"/>
                <a:ea typeface="Open Sans" panose="020B0606030504020204" pitchFamily="34" charset="0"/>
                <a:cs typeface="Open Sans" panose="020B0606030504020204" pitchFamily="34" charset="0"/>
              </a:rPr>
              <a:t>↓</a:t>
            </a:r>
            <a:endParaRPr lang="en-US" sz="2100" dirty="0">
              <a:latin typeface="Open Sans" panose="020B0606030504020204" pitchFamily="34" charset="0"/>
              <a:ea typeface="Open Sans" panose="020B0606030504020204" pitchFamily="34" charset="0"/>
              <a:cs typeface="Open Sans" panose="020B0606030504020204" pitchFamily="34" charset="0"/>
            </a:endParaRPr>
          </a:p>
        </p:txBody>
      </p:sp>
      <p:sp>
        <p:nvSpPr>
          <p:cNvPr id="12" name="Shape 8"/>
          <p:cNvSpPr/>
          <p:nvPr/>
        </p:nvSpPr>
        <p:spPr>
          <a:xfrm>
            <a:off x="9493660" y="4827504"/>
            <a:ext cx="7686676" cy="475060"/>
          </a:xfrm>
          <a:prstGeom prst="rect">
            <a:avLst/>
          </a:prstGeom>
          <a:solidFill>
            <a:srgbClr val="C1121F"/>
          </a:solidFill>
          <a:ln w="9144">
            <a:solidFill>
              <a:srgbClr val="C1121F"/>
            </a:solidFill>
            <a:prstDash val="solid"/>
          </a:ln>
        </p:spPr>
      </p:sp>
      <p:sp>
        <p:nvSpPr>
          <p:cNvPr id="13" name="Text 9"/>
          <p:cNvSpPr/>
          <p:nvPr/>
        </p:nvSpPr>
        <p:spPr>
          <a:xfrm>
            <a:off x="9493660" y="4827504"/>
            <a:ext cx="7686676" cy="529376"/>
          </a:xfrm>
          <a:prstGeom prst="rect">
            <a:avLst/>
          </a:prstGeom>
          <a:noFill/>
          <a:ln/>
        </p:spPr>
        <p:txBody>
          <a:bodyPr wrap="square" lIns="204216" tIns="102108" rIns="204216" bIns="102108" rtlCol="0" anchor="t">
            <a:spAutoFit/>
          </a:bodyPr>
          <a:lstStyle/>
          <a:p>
            <a:r>
              <a:rPr lang="en-US" sz="21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Thẻ B: Again ➔ Đẩy xuống cuối</a:t>
            </a:r>
            <a:endParaRPr lang="en-US" sz="2100" dirty="0">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0"/>
          <p:cNvSpPr/>
          <p:nvPr/>
        </p:nvSpPr>
        <p:spPr>
          <a:xfrm>
            <a:off x="13269674" y="5359713"/>
            <a:ext cx="134652" cy="261675"/>
          </a:xfrm>
          <a:prstGeom prst="rect">
            <a:avLst/>
          </a:prstGeom>
          <a:noFill/>
          <a:ln/>
        </p:spPr>
        <p:txBody>
          <a:bodyPr wrap="none" lIns="0" tIns="0" rIns="0" bIns="0" rtlCol="0" anchor="t">
            <a:spAutoFit/>
          </a:bodyPr>
          <a:lstStyle/>
          <a:p>
            <a:pPr algn="ctr">
              <a:lnSpc>
                <a:spcPct val="80000"/>
              </a:lnSpc>
            </a:pPr>
            <a:r>
              <a:rPr lang="en-US" sz="2100" dirty="0">
                <a:solidFill>
                  <a:srgbClr val="C1121F"/>
                </a:solidFill>
                <a:latin typeface="Open Sans" panose="020B0606030504020204" pitchFamily="34" charset="0"/>
                <a:ea typeface="Open Sans" panose="020B0606030504020204" pitchFamily="34" charset="0"/>
                <a:cs typeface="Open Sans" panose="020B0606030504020204" pitchFamily="34" charset="0"/>
              </a:rPr>
              <a:t>↓</a:t>
            </a:r>
            <a:endParaRPr lang="en-US" sz="2100" dirty="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1"/>
          <p:cNvSpPr/>
          <p:nvPr/>
        </p:nvSpPr>
        <p:spPr>
          <a:xfrm>
            <a:off x="9493660" y="5731189"/>
            <a:ext cx="7686676" cy="529376"/>
          </a:xfrm>
          <a:prstGeom prst="rect">
            <a:avLst/>
          </a:prstGeom>
          <a:noFill/>
          <a:ln/>
        </p:spPr>
        <p:txBody>
          <a:bodyPr wrap="square" lIns="204216" tIns="102108" rIns="204216" bIns="102108" rtlCol="0" anchor="t">
            <a:spAutoFit/>
          </a:bodyPr>
          <a:lstStyle/>
          <a:p>
            <a:r>
              <a:rPr lang="en-US" sz="21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Thẻ C: Good ➔ Xong</a:t>
            </a:r>
            <a:endParaRPr lang="en-US" sz="2100" dirty="0">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12"/>
          <p:cNvSpPr/>
          <p:nvPr/>
        </p:nvSpPr>
        <p:spPr>
          <a:xfrm>
            <a:off x="13269674" y="6291973"/>
            <a:ext cx="134652" cy="261675"/>
          </a:xfrm>
          <a:prstGeom prst="rect">
            <a:avLst/>
          </a:prstGeom>
          <a:noFill/>
          <a:ln/>
        </p:spPr>
        <p:txBody>
          <a:bodyPr wrap="none" lIns="0" tIns="0" rIns="0" bIns="0" rtlCol="0" anchor="t">
            <a:spAutoFit/>
          </a:bodyPr>
          <a:lstStyle/>
          <a:p>
            <a:pPr algn="ctr">
              <a:lnSpc>
                <a:spcPct val="80000"/>
              </a:lnSpc>
            </a:pPr>
            <a:r>
              <a:rPr lang="en-US" sz="2100" dirty="0">
                <a:solidFill>
                  <a:srgbClr val="C1121F"/>
                </a:solidFill>
                <a:latin typeface="Open Sans" panose="020B0606030504020204" pitchFamily="34" charset="0"/>
                <a:ea typeface="Open Sans" panose="020B0606030504020204" pitchFamily="34" charset="0"/>
                <a:cs typeface="Open Sans" panose="020B0606030504020204" pitchFamily="34" charset="0"/>
              </a:rPr>
              <a:t>↓</a:t>
            </a:r>
            <a:endParaRPr lang="en-US" sz="2100" dirty="0">
              <a:latin typeface="Open Sans" panose="020B0606030504020204" pitchFamily="34" charset="0"/>
              <a:ea typeface="Open Sans" panose="020B0606030504020204" pitchFamily="34" charset="0"/>
              <a:cs typeface="Open Sans" panose="020B0606030504020204" pitchFamily="34" charset="0"/>
            </a:endParaRPr>
          </a:p>
        </p:txBody>
      </p:sp>
      <p:sp>
        <p:nvSpPr>
          <p:cNvPr id="17" name="Text 13"/>
          <p:cNvSpPr/>
          <p:nvPr/>
        </p:nvSpPr>
        <p:spPr>
          <a:xfrm>
            <a:off x="9493660" y="6663448"/>
            <a:ext cx="7686676" cy="529376"/>
          </a:xfrm>
          <a:prstGeom prst="rect">
            <a:avLst/>
          </a:prstGeom>
          <a:noFill/>
          <a:ln/>
        </p:spPr>
        <p:txBody>
          <a:bodyPr wrap="square" lIns="204216" tIns="102108" rIns="204216" bIns="102108" rtlCol="0" anchor="t">
            <a:spAutoFit/>
          </a:bodyPr>
          <a:lstStyle/>
          <a:p>
            <a:r>
              <a:rPr lang="en-US" sz="2100" b="1" dirty="0">
                <a:solidFill>
                  <a:srgbClr val="C1121F"/>
                </a:solidFill>
                <a:latin typeface="Open Sans" panose="020B0606030504020204" pitchFamily="34" charset="0"/>
                <a:ea typeface="Open Sans" panose="020B0606030504020204" pitchFamily="34" charset="0"/>
                <a:cs typeface="Open Sans" panose="020B0606030504020204" pitchFamily="34" charset="0"/>
              </a:rPr>
              <a:t>Thẻ B: Học lại ➔ Hoàn thành</a:t>
            </a:r>
            <a:endParaRPr lang="en-US" sz="2100" dirty="0">
              <a:latin typeface="Open Sans" panose="020B0606030504020204" pitchFamily="34" charset="0"/>
              <a:ea typeface="Open Sans" panose="020B0606030504020204" pitchFamily="34" charset="0"/>
              <a:cs typeface="Open Sans" panose="020B0606030504020204" pitchFamily="34" charset="0"/>
            </a:endParaRPr>
          </a:p>
        </p:txBody>
      </p:sp>
      <p:sp>
        <p:nvSpPr>
          <p:cNvPr id="2" name="TextBox 1">
            <a:extLst>
              <a:ext uri="{FF2B5EF4-FFF2-40B4-BE49-F238E27FC236}">
                <a16:creationId xmlns:a16="http://schemas.microsoft.com/office/drawing/2014/main" id="{C240DF4B-C38B-4AC3-0839-3385A871944B}"/>
              </a:ext>
            </a:extLst>
          </p:cNvPr>
          <p:cNvSpPr txBox="1"/>
          <p:nvPr/>
        </p:nvSpPr>
        <p:spPr>
          <a:xfrm>
            <a:off x="17831821" y="9831884"/>
            <a:ext cx="415498"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15</a:t>
            </a:r>
            <a:endParaRPr lang="vi-V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18288000" cy="10287000"/>
          </a:xfrm>
          <a:prstGeom prst="rect">
            <a:avLst/>
          </a:prstGeom>
        </p:spPr>
      </p:pic>
      <p:sp>
        <p:nvSpPr>
          <p:cNvPr id="4" name="Text 0"/>
          <p:cNvSpPr/>
          <p:nvPr/>
        </p:nvSpPr>
        <p:spPr>
          <a:xfrm>
            <a:off x="1143000" y="1114426"/>
            <a:ext cx="17145000" cy="615553"/>
          </a:xfrm>
          <a:prstGeom prst="rect">
            <a:avLst/>
          </a:prstGeom>
          <a:noFill/>
          <a:ln/>
        </p:spPr>
        <p:txBody>
          <a:bodyPr wrap="square" lIns="0" tIns="0" rIns="0" bIns="0" rtlCol="0" anchor="t">
            <a:spAutoFit/>
          </a:bodyPr>
          <a:lstStyle/>
          <a:p>
            <a:r>
              <a:rPr lang="en-US" sz="4000" b="1" dirty="0">
                <a:solidFill>
                  <a:srgbClr val="000000"/>
                </a:solidFill>
                <a:latin typeface="Montserrat Bold" panose="00000800000000000000" pitchFamily="2" charset="-93"/>
                <a:ea typeface="Open Sans" panose="020B0606030504020204" pitchFamily="34" charset="0"/>
                <a:cs typeface="Open Sans" panose="020B0606030504020204" pitchFamily="34" charset="0"/>
              </a:rPr>
              <a:t>ĐỒNG BỘ DELTA SYNC &amp; XỬ LÝ CSV</a:t>
            </a:r>
            <a:endParaRPr lang="en-US" sz="4000" dirty="0">
              <a:latin typeface="Montserrat Bold" panose="00000800000000000000" pitchFamily="2" charset="-93"/>
              <a:ea typeface="Open Sans" panose="020B0606030504020204" pitchFamily="34" charset="0"/>
              <a:cs typeface="Open Sans" panose="020B0606030504020204" pitchFamily="34" charset="0"/>
            </a:endParaRPr>
          </a:p>
        </p:txBody>
      </p:sp>
      <p:sp>
        <p:nvSpPr>
          <p:cNvPr id="5" name="Text 1"/>
          <p:cNvSpPr/>
          <p:nvPr/>
        </p:nvSpPr>
        <p:spPr>
          <a:xfrm>
            <a:off x="1585913" y="2825354"/>
            <a:ext cx="6829426" cy="492443"/>
          </a:xfrm>
          <a:prstGeom prst="rect">
            <a:avLst/>
          </a:prstGeom>
          <a:noFill/>
          <a:ln/>
        </p:spPr>
        <p:txBody>
          <a:bodyPr wrap="square" lIns="0" tIns="0" rIns="0" bIns="0" rtlCol="0" anchor="t">
            <a:spAutoFit/>
          </a:bodyPr>
          <a:lstStyle/>
          <a:p>
            <a:r>
              <a:rPr lang="en-US" sz="3200" b="1" dirty="0">
                <a:solidFill>
                  <a:srgbClr val="C1121F"/>
                </a:solidFill>
                <a:latin typeface="Montserrat Bold" panose="00000800000000000000" pitchFamily="2" charset="-93"/>
                <a:ea typeface="Open Sans" panose="020B0606030504020204" pitchFamily="34" charset="0"/>
                <a:cs typeface="Open Sans" panose="020B0606030504020204" pitchFamily="34" charset="0"/>
              </a:rPr>
              <a:t>ĐỒNG BỘ DELTA SYNC</a:t>
            </a:r>
            <a:endParaRPr lang="en-US" sz="3200" dirty="0">
              <a:latin typeface="Montserrat Bold" panose="00000800000000000000" pitchFamily="2" charset="-93"/>
              <a:ea typeface="Open Sans" panose="020B0606030504020204" pitchFamily="34" charset="0"/>
              <a:cs typeface="Open Sans" panose="020B0606030504020204" pitchFamily="34" charset="0"/>
            </a:endParaRPr>
          </a:p>
        </p:txBody>
      </p:sp>
      <p:sp>
        <p:nvSpPr>
          <p:cNvPr id="6" name="Text 2"/>
          <p:cNvSpPr/>
          <p:nvPr/>
        </p:nvSpPr>
        <p:spPr>
          <a:xfrm>
            <a:off x="2057401" y="3561160"/>
            <a:ext cx="1578210" cy="755656"/>
          </a:xfrm>
          <a:prstGeom prst="rect">
            <a:avLst/>
          </a:prstGeom>
          <a:noFill/>
          <a:ln/>
        </p:spPr>
        <p:txBody>
          <a:bodyPr wrap="square" lIns="0" tIns="0" rIns="0" bIns="0" rtlCol="0" anchor="t">
            <a:spAutoFit/>
          </a:bodyPr>
          <a:lstStyle/>
          <a:p>
            <a:pPr>
              <a:lnSpc>
                <a:spcPct val="128000"/>
              </a:lnSpc>
            </a:pPr>
            <a:r>
              <a:rPr lang="en-US" sz="2000" dirty="0">
                <a:solidFill>
                  <a:srgbClr val="000000"/>
                </a:solidFill>
                <a:latin typeface="Open Sans" panose="020B0606030504020204" pitchFamily="34" charset="0"/>
                <a:ea typeface="Open Sans" panose="020B0606030504020204" pitchFamily="34" charset="0"/>
                <a:cs typeface="Open Sans" panose="020B0606030504020204" pitchFamily="34" charset="0"/>
              </a:rPr>
              <a:t>Cơ chế Timestamp</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
        <p:nvSpPr>
          <p:cNvPr id="7" name="Text 3"/>
          <p:cNvSpPr/>
          <p:nvPr/>
        </p:nvSpPr>
        <p:spPr>
          <a:xfrm>
            <a:off x="3635611" y="3561160"/>
            <a:ext cx="4779726" cy="755656"/>
          </a:xfrm>
          <a:prstGeom prst="rect">
            <a:avLst/>
          </a:prstGeom>
          <a:noFill/>
          <a:ln/>
        </p:spPr>
        <p:txBody>
          <a:bodyPr wrap="square" lIns="0" tIns="0" rIns="0" bIns="0" rtlCol="0" anchor="t">
            <a:spAutoFit/>
          </a:bodyPr>
          <a:lstStyle/>
          <a:p>
            <a:pPr>
              <a:lnSpc>
                <a:spcPct val="128000"/>
              </a:lnSpc>
            </a:pPr>
            <a:r>
              <a:rPr lang="en-US" sz="2000" dirty="0">
                <a:solidFill>
                  <a:srgbClr val="000000"/>
                </a:solidFill>
                <a:latin typeface="Open Sans" panose="020B0606030504020204" pitchFamily="34" charset="0"/>
                <a:ea typeface="Open Sans" panose="020B0606030504020204" pitchFamily="34" charset="0"/>
                <a:cs typeface="Open Sans" panose="020B0606030504020204" pitchFamily="34" charset="0"/>
              </a:rPr>
              <a:t>: Chỉ tải/gửi các bản ghi có thay đổi sau lần đồng bộ cuối.</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Text 4"/>
          <p:cNvSpPr/>
          <p:nvPr/>
        </p:nvSpPr>
        <p:spPr>
          <a:xfrm>
            <a:off x="2057402" y="4598342"/>
            <a:ext cx="1495832" cy="755656"/>
          </a:xfrm>
          <a:prstGeom prst="rect">
            <a:avLst/>
          </a:prstGeom>
          <a:noFill/>
          <a:ln/>
        </p:spPr>
        <p:txBody>
          <a:bodyPr wrap="square" lIns="0" tIns="0" rIns="0" bIns="0" rtlCol="0" anchor="t">
            <a:spAutoFit/>
          </a:bodyPr>
          <a:lstStyle/>
          <a:p>
            <a:pPr>
              <a:lnSpc>
                <a:spcPct val="128000"/>
              </a:lnSpc>
            </a:pPr>
            <a:r>
              <a:rPr lang="en-US" sz="2000" dirty="0">
                <a:solidFill>
                  <a:srgbClr val="000000"/>
                </a:solidFill>
                <a:latin typeface="Open Sans" panose="020B0606030504020204" pitchFamily="34" charset="0"/>
                <a:ea typeface="Open Sans" panose="020B0606030504020204" pitchFamily="34" charset="0"/>
                <a:cs typeface="Open Sans" panose="020B0606030504020204" pitchFamily="34" charset="0"/>
              </a:rPr>
              <a:t>Tối ưu băng thông</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
        <p:nvSpPr>
          <p:cNvPr id="9" name="Text 5"/>
          <p:cNvSpPr/>
          <p:nvPr/>
        </p:nvSpPr>
        <p:spPr>
          <a:xfrm>
            <a:off x="3553234" y="4598342"/>
            <a:ext cx="4862104" cy="755656"/>
          </a:xfrm>
          <a:prstGeom prst="rect">
            <a:avLst/>
          </a:prstGeom>
          <a:noFill/>
          <a:ln/>
        </p:spPr>
        <p:txBody>
          <a:bodyPr wrap="square" lIns="0" tIns="0" rIns="0" bIns="0" rtlCol="0" anchor="t">
            <a:spAutoFit/>
          </a:bodyPr>
          <a:lstStyle/>
          <a:p>
            <a:pPr>
              <a:lnSpc>
                <a:spcPct val="128000"/>
              </a:lnSpc>
            </a:pPr>
            <a:r>
              <a:rPr lang="en-US" sz="2000" dirty="0">
                <a:solidFill>
                  <a:srgbClr val="000000"/>
                </a:solidFill>
                <a:latin typeface="Open Sans" panose="020B0606030504020204" pitchFamily="34" charset="0"/>
                <a:ea typeface="Open Sans" panose="020B0606030504020204" pitchFamily="34" charset="0"/>
                <a:cs typeface="Open Sans" panose="020B0606030504020204" pitchFamily="34" charset="0"/>
              </a:rPr>
              <a:t>: Giảm thiểu lượng dữ liệu truyền tải giữa Client và Firebase.</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6"/>
          <p:cNvSpPr/>
          <p:nvPr/>
        </p:nvSpPr>
        <p:spPr>
          <a:xfrm>
            <a:off x="2057400" y="5635526"/>
            <a:ext cx="1180840" cy="755656"/>
          </a:xfrm>
          <a:prstGeom prst="rect">
            <a:avLst/>
          </a:prstGeom>
          <a:noFill/>
          <a:ln/>
        </p:spPr>
        <p:txBody>
          <a:bodyPr wrap="square" lIns="0" tIns="0" rIns="0" bIns="0" rtlCol="0" anchor="t">
            <a:spAutoFit/>
          </a:bodyPr>
          <a:lstStyle/>
          <a:p>
            <a:pPr>
              <a:lnSpc>
                <a:spcPct val="128000"/>
              </a:lnSpc>
            </a:pPr>
            <a:r>
              <a:rPr lang="en-US" sz="2000" dirty="0">
                <a:solidFill>
                  <a:srgbClr val="000000"/>
                </a:solidFill>
                <a:latin typeface="Open Sans" panose="020B0606030504020204" pitchFamily="34" charset="0"/>
                <a:ea typeface="Open Sans" panose="020B0606030504020204" pitchFamily="34" charset="0"/>
                <a:cs typeface="Open Sans" panose="020B0606030504020204" pitchFamily="34" charset="0"/>
              </a:rPr>
              <a:t>Hiệu suất cao</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7"/>
          <p:cNvSpPr/>
          <p:nvPr/>
        </p:nvSpPr>
        <p:spPr>
          <a:xfrm>
            <a:off x="3238241" y="5635526"/>
            <a:ext cx="5177098" cy="755656"/>
          </a:xfrm>
          <a:prstGeom prst="rect">
            <a:avLst/>
          </a:prstGeom>
          <a:noFill/>
          <a:ln/>
        </p:spPr>
        <p:txBody>
          <a:bodyPr wrap="square" lIns="0" tIns="0" rIns="0" bIns="0" rtlCol="0" anchor="t">
            <a:spAutoFit/>
          </a:bodyPr>
          <a:lstStyle/>
          <a:p>
            <a:pPr>
              <a:lnSpc>
                <a:spcPct val="128000"/>
              </a:lnSpc>
            </a:pPr>
            <a:r>
              <a:rPr lang="en-US" sz="2000" dirty="0">
                <a:solidFill>
                  <a:srgbClr val="000000"/>
                </a:solidFill>
                <a:latin typeface="Open Sans" panose="020B0606030504020204" pitchFamily="34" charset="0"/>
                <a:ea typeface="Open Sans" panose="020B0606030504020204" pitchFamily="34" charset="0"/>
                <a:cs typeface="Open Sans" panose="020B0606030504020204" pitchFamily="34" charset="0"/>
              </a:rPr>
              <a:t>: Tăng tốc độ phản hồi của hệ thống khi đồng bộ dữ liệu lớn.</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
        <p:nvSpPr>
          <p:cNvPr id="12" name="Shape 8"/>
          <p:cNvSpPr/>
          <p:nvPr/>
        </p:nvSpPr>
        <p:spPr>
          <a:xfrm>
            <a:off x="1585913" y="7043833"/>
            <a:ext cx="6829426" cy="489346"/>
          </a:xfrm>
          <a:prstGeom prst="rect">
            <a:avLst/>
          </a:prstGeom>
          <a:solidFill>
            <a:srgbClr val="000000"/>
          </a:solidFill>
          <a:ln/>
        </p:spPr>
      </p:sp>
      <p:sp>
        <p:nvSpPr>
          <p:cNvPr id="13" name="Text 9"/>
          <p:cNvSpPr/>
          <p:nvPr/>
        </p:nvSpPr>
        <p:spPr>
          <a:xfrm>
            <a:off x="1585913" y="6887022"/>
            <a:ext cx="6829426" cy="565283"/>
          </a:xfrm>
          <a:prstGeom prst="rect">
            <a:avLst/>
          </a:prstGeom>
          <a:noFill/>
          <a:ln/>
        </p:spPr>
        <p:txBody>
          <a:bodyPr wrap="square" lIns="340106" tIns="255016" rIns="340106" bIns="0" rtlCol="0" anchor="t">
            <a:spAutoFit/>
          </a:bodyPr>
          <a:lstStyle/>
          <a:p>
            <a:pPr algn="ctr"/>
            <a:r>
              <a:rPr lang="en-US" sz="20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GIẢM TẢI CHO FIREBASE FIRESTORE</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0"/>
          <p:cNvSpPr/>
          <p:nvPr/>
        </p:nvSpPr>
        <p:spPr>
          <a:xfrm>
            <a:off x="9872663" y="2825354"/>
            <a:ext cx="6829426" cy="492443"/>
          </a:xfrm>
          <a:prstGeom prst="rect">
            <a:avLst/>
          </a:prstGeom>
          <a:noFill/>
          <a:ln/>
        </p:spPr>
        <p:txBody>
          <a:bodyPr wrap="square" lIns="0" tIns="0" rIns="0" bIns="0" rtlCol="0" anchor="t">
            <a:spAutoFit/>
          </a:bodyPr>
          <a:lstStyle/>
          <a:p>
            <a:r>
              <a:rPr lang="en-US" sz="3200" b="1" dirty="0">
                <a:solidFill>
                  <a:srgbClr val="C1121F"/>
                </a:solidFill>
                <a:latin typeface="Montserrat Bold" panose="00000800000000000000" pitchFamily="2" charset="-93"/>
                <a:ea typeface="Open Sans" panose="020B0606030504020204" pitchFamily="34" charset="0"/>
                <a:cs typeface="Open Sans" panose="020B0606030504020204" pitchFamily="34" charset="0"/>
              </a:rPr>
              <a:t>XỬ LÝ TỆP CSV</a:t>
            </a:r>
            <a:endParaRPr lang="en-US" sz="3200" dirty="0">
              <a:latin typeface="Montserrat Bold" panose="00000800000000000000" pitchFamily="2" charset="-93"/>
              <a:ea typeface="Open Sans" panose="020B0606030504020204" pitchFamily="34" charset="0"/>
              <a:cs typeface="Open Sans" panose="020B0606030504020204" pitchFamily="34" charset="0"/>
            </a:endParaRPr>
          </a:p>
        </p:txBody>
      </p:sp>
      <p:sp>
        <p:nvSpPr>
          <p:cNvPr id="15" name="Text 11"/>
          <p:cNvSpPr/>
          <p:nvPr/>
        </p:nvSpPr>
        <p:spPr>
          <a:xfrm>
            <a:off x="10320090" y="3561160"/>
            <a:ext cx="1780808" cy="361702"/>
          </a:xfrm>
          <a:prstGeom prst="rect">
            <a:avLst/>
          </a:prstGeom>
          <a:noFill/>
          <a:ln/>
        </p:spPr>
        <p:txBody>
          <a:bodyPr wrap="square" lIns="0" tIns="0" rIns="0" bIns="0" rtlCol="0" anchor="t">
            <a:spAutoFit/>
          </a:bodyPr>
          <a:lstStyle/>
          <a:p>
            <a:pPr>
              <a:lnSpc>
                <a:spcPct val="128000"/>
              </a:lnSpc>
            </a:pPr>
            <a:r>
              <a:rPr lang="en-US" sz="2000" dirty="0">
                <a:solidFill>
                  <a:srgbClr val="000000"/>
                </a:solidFill>
                <a:latin typeface="Open Sans" panose="020B0606030504020204" pitchFamily="34" charset="0"/>
                <a:ea typeface="Open Sans" panose="020B0606030504020204" pitchFamily="34" charset="0"/>
                <a:cs typeface="Open Sans" panose="020B0606030504020204" pitchFamily="34" charset="0"/>
              </a:rPr>
              <a:t>Import/Export</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12"/>
          <p:cNvSpPr/>
          <p:nvPr/>
        </p:nvSpPr>
        <p:spPr>
          <a:xfrm>
            <a:off x="12037221" y="3545002"/>
            <a:ext cx="4729162" cy="755656"/>
          </a:xfrm>
          <a:prstGeom prst="rect">
            <a:avLst/>
          </a:prstGeom>
          <a:noFill/>
          <a:ln/>
        </p:spPr>
        <p:txBody>
          <a:bodyPr wrap="square" lIns="0" tIns="0" rIns="0" bIns="0" rtlCol="0" anchor="t">
            <a:spAutoFit/>
          </a:bodyPr>
          <a:lstStyle/>
          <a:p>
            <a:pPr>
              <a:lnSpc>
                <a:spcPct val="128000"/>
              </a:lnSpc>
            </a:pPr>
            <a:r>
              <a:rPr lang="en-US" sz="2000" dirty="0">
                <a:solidFill>
                  <a:srgbClr val="000000"/>
                </a:solidFill>
                <a:latin typeface="Open Sans" panose="020B0606030504020204" pitchFamily="34" charset="0"/>
                <a:ea typeface="Open Sans" panose="020B0606030504020204" pitchFamily="34" charset="0"/>
                <a:cs typeface="Open Sans" panose="020B0606030504020204" pitchFamily="34" charset="0"/>
              </a:rPr>
              <a:t>: Cho phép người dùng nhập liệu hàng loạt từ tệp bên ngoài.</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
        <p:nvSpPr>
          <p:cNvPr id="17" name="Text 13"/>
          <p:cNvSpPr/>
          <p:nvPr/>
        </p:nvSpPr>
        <p:spPr>
          <a:xfrm>
            <a:off x="10344150" y="4598342"/>
            <a:ext cx="1756748" cy="755656"/>
          </a:xfrm>
          <a:prstGeom prst="rect">
            <a:avLst/>
          </a:prstGeom>
          <a:noFill/>
          <a:ln/>
        </p:spPr>
        <p:txBody>
          <a:bodyPr wrap="square" lIns="0" tIns="0" rIns="0" bIns="0" rtlCol="0" anchor="t">
            <a:spAutoFit/>
          </a:bodyPr>
          <a:lstStyle/>
          <a:p>
            <a:pPr>
              <a:lnSpc>
                <a:spcPct val="128000"/>
              </a:lnSpc>
            </a:pPr>
            <a:r>
              <a:rPr lang="en-US" sz="2000" dirty="0">
                <a:solidFill>
                  <a:srgbClr val="000000"/>
                </a:solidFill>
                <a:latin typeface="Open Sans" panose="020B0606030504020204" pitchFamily="34" charset="0"/>
                <a:ea typeface="Open Sans" panose="020B0606030504020204" pitchFamily="34" charset="0"/>
                <a:cs typeface="Open Sans" panose="020B0606030504020204" pitchFamily="34" charset="0"/>
              </a:rPr>
              <a:t>Xử lý ký tự đặc biệt</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
        <p:nvSpPr>
          <p:cNvPr id="18" name="Text 14"/>
          <p:cNvSpPr/>
          <p:nvPr/>
        </p:nvSpPr>
        <p:spPr>
          <a:xfrm>
            <a:off x="12100898" y="4598342"/>
            <a:ext cx="4601188" cy="755656"/>
          </a:xfrm>
          <a:prstGeom prst="rect">
            <a:avLst/>
          </a:prstGeom>
          <a:noFill/>
          <a:ln/>
        </p:spPr>
        <p:txBody>
          <a:bodyPr wrap="square" lIns="0" tIns="0" rIns="0" bIns="0" rtlCol="0" anchor="t">
            <a:spAutoFit/>
          </a:bodyPr>
          <a:lstStyle/>
          <a:p>
            <a:pPr>
              <a:lnSpc>
                <a:spcPct val="128000"/>
              </a:lnSpc>
            </a:pPr>
            <a:r>
              <a:rPr lang="en-US" sz="2000" dirty="0">
                <a:solidFill>
                  <a:srgbClr val="000000"/>
                </a:solidFill>
                <a:latin typeface="Open Sans" panose="020B0606030504020204" pitchFamily="34" charset="0"/>
                <a:ea typeface="Open Sans" panose="020B0606030504020204" pitchFamily="34" charset="0"/>
                <a:cs typeface="Open Sans" panose="020B0606030504020204" pitchFamily="34" charset="0"/>
              </a:rPr>
              <a:t>: Phân tách chính xác các trường dữ liệu phức tạp.</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5"/>
          <p:cNvSpPr/>
          <p:nvPr/>
        </p:nvSpPr>
        <p:spPr>
          <a:xfrm>
            <a:off x="10344151" y="5635526"/>
            <a:ext cx="1030262" cy="755656"/>
          </a:xfrm>
          <a:prstGeom prst="rect">
            <a:avLst/>
          </a:prstGeom>
          <a:noFill/>
          <a:ln/>
        </p:spPr>
        <p:txBody>
          <a:bodyPr wrap="square" lIns="0" tIns="0" rIns="0" bIns="0" rtlCol="0" anchor="t">
            <a:spAutoFit/>
          </a:bodyPr>
          <a:lstStyle/>
          <a:p>
            <a:pPr>
              <a:lnSpc>
                <a:spcPct val="128000"/>
              </a:lnSpc>
            </a:pPr>
            <a:r>
              <a:rPr lang="en-US" sz="2000" dirty="0">
                <a:solidFill>
                  <a:srgbClr val="000000"/>
                </a:solidFill>
                <a:latin typeface="Open Sans" panose="020B0606030504020204" pitchFamily="34" charset="0"/>
                <a:ea typeface="Open Sans" panose="020B0606030504020204" pitchFamily="34" charset="0"/>
                <a:cs typeface="Open Sans" panose="020B0606030504020204" pitchFamily="34" charset="0"/>
              </a:rPr>
              <a:t>Offline-first</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
        <p:nvSpPr>
          <p:cNvPr id="20" name="Text 16"/>
          <p:cNvSpPr/>
          <p:nvPr/>
        </p:nvSpPr>
        <p:spPr>
          <a:xfrm>
            <a:off x="11374413" y="5635526"/>
            <a:ext cx="5327674" cy="755656"/>
          </a:xfrm>
          <a:prstGeom prst="rect">
            <a:avLst/>
          </a:prstGeom>
          <a:noFill/>
          <a:ln/>
        </p:spPr>
        <p:txBody>
          <a:bodyPr wrap="square" lIns="0" tIns="0" rIns="0" bIns="0" rtlCol="0" anchor="t">
            <a:spAutoFit/>
          </a:bodyPr>
          <a:lstStyle/>
          <a:p>
            <a:pPr>
              <a:lnSpc>
                <a:spcPct val="128000"/>
              </a:lnSpc>
            </a:pPr>
            <a:r>
              <a:rPr lang="en-US" sz="2000" dirty="0">
                <a:solidFill>
                  <a:srgbClr val="000000"/>
                </a:solidFill>
                <a:latin typeface="Open Sans" panose="020B0606030504020204" pitchFamily="34" charset="0"/>
                <a:ea typeface="Open Sans" panose="020B0606030504020204" pitchFamily="34" charset="0"/>
                <a:cs typeface="Open Sans" panose="020B0606030504020204" pitchFamily="34" charset="0"/>
              </a:rPr>
              <a:t>: Dữ liệu được xử lý cục bộ trước khi đồng bộ lên đám mây.</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
        <p:nvSpPr>
          <p:cNvPr id="21" name="Shape 17"/>
          <p:cNvSpPr/>
          <p:nvPr/>
        </p:nvSpPr>
        <p:spPr>
          <a:xfrm>
            <a:off x="9936957" y="7022427"/>
            <a:ext cx="6829426" cy="489346"/>
          </a:xfrm>
          <a:prstGeom prst="rect">
            <a:avLst/>
          </a:prstGeom>
          <a:solidFill>
            <a:srgbClr val="000000"/>
          </a:solidFill>
          <a:ln/>
        </p:spPr>
      </p:sp>
      <p:sp>
        <p:nvSpPr>
          <p:cNvPr id="22" name="Text 18"/>
          <p:cNvSpPr/>
          <p:nvPr/>
        </p:nvSpPr>
        <p:spPr>
          <a:xfrm>
            <a:off x="9872663" y="6887022"/>
            <a:ext cx="6829426" cy="565283"/>
          </a:xfrm>
          <a:prstGeom prst="rect">
            <a:avLst/>
          </a:prstGeom>
          <a:noFill/>
          <a:ln/>
        </p:spPr>
        <p:txBody>
          <a:bodyPr wrap="square" lIns="340106" tIns="255016" rIns="340106" bIns="0" rtlCol="0" anchor="t">
            <a:spAutoFit/>
          </a:bodyPr>
          <a:lstStyle/>
          <a:p>
            <a:pPr algn="ctr"/>
            <a:r>
              <a:rPr lang="en-US" sz="20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ĐẢM BẢO CHÍNH XÁC DỮ LIỆU</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
        <p:nvSpPr>
          <p:cNvPr id="2" name="TextBox 1">
            <a:extLst>
              <a:ext uri="{FF2B5EF4-FFF2-40B4-BE49-F238E27FC236}">
                <a16:creationId xmlns:a16="http://schemas.microsoft.com/office/drawing/2014/main" id="{6A6BB312-205F-4F60-321B-3297CD33252F}"/>
              </a:ext>
            </a:extLst>
          </p:cNvPr>
          <p:cNvSpPr txBox="1"/>
          <p:nvPr/>
        </p:nvSpPr>
        <p:spPr>
          <a:xfrm>
            <a:off x="17831821" y="9831884"/>
            <a:ext cx="415498"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16</a:t>
            </a:r>
            <a:endParaRPr lang="vi-V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8288000" cy="10287000"/>
          </a:xfrm>
          <a:prstGeom prst="rect">
            <a:avLst/>
          </a:prstGeom>
        </p:spPr>
      </p:pic>
      <p:sp>
        <p:nvSpPr>
          <p:cNvPr id="3" name="Text 0"/>
          <p:cNvSpPr/>
          <p:nvPr/>
        </p:nvSpPr>
        <p:spPr>
          <a:xfrm>
            <a:off x="1714500" y="3899429"/>
            <a:ext cx="16573500" cy="2031325"/>
          </a:xfrm>
          <a:prstGeom prst="rect">
            <a:avLst/>
          </a:prstGeom>
          <a:noFill/>
          <a:ln/>
        </p:spPr>
        <p:txBody>
          <a:bodyPr wrap="square" lIns="0" tIns="0" rIns="0" bIns="0" rtlCol="0" anchor="t">
            <a:spAutoFit/>
          </a:bodyPr>
          <a:lstStyle/>
          <a:p>
            <a:pPr>
              <a:lnSpc>
                <a:spcPct val="88000"/>
              </a:lnSpc>
            </a:pPr>
            <a:r>
              <a:rPr lang="en-US" sz="7500" b="1" kern="0" spc="-2" dirty="0">
                <a:solidFill>
                  <a:srgbClr val="0A0A0A"/>
                </a:solidFill>
                <a:latin typeface="Montserrat Black" pitchFamily="34" charset="0"/>
                <a:ea typeface="Montserrat Black" pitchFamily="34" charset="-122"/>
                <a:cs typeface="Montserrat Black" pitchFamily="34" charset="-120"/>
              </a:rPr>
              <a:t>PHẦN 3: SẢN PHẨM
ENGLISHAPP (MINLISH)</a:t>
            </a:r>
            <a:endParaRPr lang="en-US" sz="7500" dirty="0"/>
          </a:p>
        </p:txBody>
      </p:sp>
      <p:sp>
        <p:nvSpPr>
          <p:cNvPr id="4" name="TextBox 3">
            <a:extLst>
              <a:ext uri="{FF2B5EF4-FFF2-40B4-BE49-F238E27FC236}">
                <a16:creationId xmlns:a16="http://schemas.microsoft.com/office/drawing/2014/main" id="{A01863B7-9709-2EA0-19F5-B73A1AA2508A}"/>
              </a:ext>
            </a:extLst>
          </p:cNvPr>
          <p:cNvSpPr txBox="1"/>
          <p:nvPr/>
        </p:nvSpPr>
        <p:spPr>
          <a:xfrm>
            <a:off x="17831821" y="9831884"/>
            <a:ext cx="415498"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17</a:t>
            </a:r>
            <a:endParaRPr lang="vi-V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8288000" cy="10287000"/>
          </a:xfrm>
          <a:prstGeom prst="rect">
            <a:avLst/>
          </a:prstGeom>
        </p:spPr>
      </p:pic>
      <p:sp>
        <p:nvSpPr>
          <p:cNvPr id="3" name="Text 0"/>
          <p:cNvSpPr/>
          <p:nvPr/>
        </p:nvSpPr>
        <p:spPr>
          <a:xfrm>
            <a:off x="1143000" y="1163539"/>
            <a:ext cx="17145000" cy="615553"/>
          </a:xfrm>
          <a:prstGeom prst="rect">
            <a:avLst/>
          </a:prstGeom>
          <a:noFill/>
          <a:ln/>
        </p:spPr>
        <p:txBody>
          <a:bodyPr wrap="square" lIns="0" tIns="0" rIns="0" bIns="0" rtlCol="0" anchor="t">
            <a:spAutoFit/>
          </a:bodyPr>
          <a:lstStyle/>
          <a:p>
            <a:r>
              <a:rPr lang="en-US" sz="4000" b="1" dirty="0">
                <a:solidFill>
                  <a:srgbClr val="0A0A0A"/>
                </a:solidFill>
                <a:latin typeface="Montserrat Bold" pitchFamily="34" charset="0"/>
                <a:ea typeface="Montserrat Bold" pitchFamily="34" charset="-122"/>
                <a:cs typeface="Montserrat Bold" pitchFamily="34" charset="-120"/>
              </a:rPr>
              <a:t>HỆ THỐNG ĐIỀU HƯỚNG THÔNG MINH DỰA TRÊN TRẠNG THÁI</a:t>
            </a:r>
            <a:endParaRPr lang="en-US" sz="4000" dirty="0"/>
          </a:p>
        </p:txBody>
      </p:sp>
      <p:pic>
        <p:nvPicPr>
          <p:cNvPr id="4" name="Image 1" descr="preencoded.png"/>
          <p:cNvPicPr>
            <a:picLocks noChangeAspect="1"/>
          </p:cNvPicPr>
          <p:nvPr/>
        </p:nvPicPr>
        <p:blipFill>
          <a:blip r:embed="rId4"/>
          <a:stretch>
            <a:fillRect/>
          </a:stretch>
        </p:blipFill>
        <p:spPr>
          <a:xfrm>
            <a:off x="7803891" y="2775614"/>
            <a:ext cx="171450" cy="228600"/>
          </a:xfrm>
          <a:prstGeom prst="rect">
            <a:avLst/>
          </a:prstGeom>
        </p:spPr>
      </p:pic>
      <p:sp>
        <p:nvSpPr>
          <p:cNvPr id="5" name="Text 1"/>
          <p:cNvSpPr/>
          <p:nvPr/>
        </p:nvSpPr>
        <p:spPr>
          <a:xfrm>
            <a:off x="8084344" y="2712094"/>
            <a:ext cx="2462213" cy="369332"/>
          </a:xfrm>
          <a:prstGeom prst="rect">
            <a:avLst/>
          </a:prstGeom>
          <a:noFill/>
          <a:ln/>
        </p:spPr>
        <p:txBody>
          <a:bodyPr wrap="none" lIns="0" tIns="0" rIns="0" bIns="0" rtlCol="0" anchor="t">
            <a:spAutoFit/>
          </a:bodyPr>
          <a:lstStyle/>
          <a:p>
            <a:pPr algn="ctr"/>
            <a:r>
              <a:rPr lang="en-US" sz="2400" dirty="0">
                <a:solidFill>
                  <a:srgbClr val="0A0A0A"/>
                </a:solidFill>
                <a:latin typeface="Open Sans SemiBold" pitchFamily="34" charset="0"/>
                <a:ea typeface="Open Sans SemiBold" pitchFamily="34" charset="-122"/>
                <a:cs typeface="Open Sans SemiBold" pitchFamily="34" charset="-120"/>
              </a:rPr>
              <a:t>Màn hình Splash</a:t>
            </a:r>
            <a:endParaRPr lang="en-US" sz="2400" dirty="0"/>
          </a:p>
        </p:txBody>
      </p:sp>
      <p:sp>
        <p:nvSpPr>
          <p:cNvPr id="6" name="Text 2"/>
          <p:cNvSpPr/>
          <p:nvPr/>
        </p:nvSpPr>
        <p:spPr>
          <a:xfrm>
            <a:off x="6848200" y="3171794"/>
            <a:ext cx="4591600" cy="615553"/>
          </a:xfrm>
          <a:prstGeom prst="rect">
            <a:avLst/>
          </a:prstGeom>
          <a:noFill/>
          <a:ln/>
        </p:spPr>
        <p:txBody>
          <a:bodyPr wrap="square" lIns="0" tIns="0" rIns="0" bIns="0" rtlCol="0" anchor="t">
            <a:spAutoFit/>
          </a:bodyPr>
          <a:lstStyle/>
          <a:p>
            <a:pPr algn="ctr"/>
            <a:r>
              <a:rPr lang="en-US" sz="2000" dirty="0">
                <a:solidFill>
                  <a:srgbClr val="0A0A0A"/>
                </a:solidFill>
                <a:latin typeface="Open Sans" panose="020B0606030504020204" pitchFamily="34" charset="0"/>
                <a:ea typeface="Open Sans" panose="020B0606030504020204" pitchFamily="34" charset="0"/>
                <a:cs typeface="Open Sans" panose="020B0606030504020204" pitchFamily="34" charset="0"/>
              </a:rPr>
              <a:t>Kiểm tra Auth, Profile, Setup &amp; Services</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pic>
        <p:nvPicPr>
          <p:cNvPr id="7" name="Image 2" descr="preencoded.png"/>
          <p:cNvPicPr>
            <a:picLocks noChangeAspect="1"/>
          </p:cNvPicPr>
          <p:nvPr/>
        </p:nvPicPr>
        <p:blipFill>
          <a:blip r:embed="rId5"/>
          <a:stretch>
            <a:fillRect/>
          </a:stretch>
        </p:blipFill>
        <p:spPr>
          <a:xfrm>
            <a:off x="4086227" y="5131892"/>
            <a:ext cx="428626" cy="342900"/>
          </a:xfrm>
          <a:prstGeom prst="rect">
            <a:avLst/>
          </a:prstGeom>
        </p:spPr>
      </p:pic>
      <p:sp>
        <p:nvSpPr>
          <p:cNvPr id="8" name="Text 3"/>
          <p:cNvSpPr/>
          <p:nvPr/>
        </p:nvSpPr>
        <p:spPr>
          <a:xfrm>
            <a:off x="2300288" y="5746254"/>
            <a:ext cx="4000500" cy="369332"/>
          </a:xfrm>
          <a:prstGeom prst="rect">
            <a:avLst/>
          </a:prstGeom>
          <a:noFill/>
          <a:ln/>
        </p:spPr>
        <p:txBody>
          <a:bodyPr wrap="square" lIns="0" tIns="0" rIns="0" bIns="0" rtlCol="0" anchor="t">
            <a:spAutoFit/>
          </a:bodyPr>
          <a:lstStyle/>
          <a:p>
            <a:pPr algn="ctr"/>
            <a:r>
              <a:rPr lang="en-US" sz="2400" dirty="0">
                <a:solidFill>
                  <a:srgbClr val="0A0A0A"/>
                </a:solidFill>
                <a:latin typeface="Open Sans SemiBold" pitchFamily="34" charset="0"/>
                <a:ea typeface="Open Sans SemiBold" pitchFamily="34" charset="-122"/>
                <a:cs typeface="Open Sans SemiBold" pitchFamily="34" charset="-120"/>
              </a:rPr>
              <a:t>Chưa đăng nhập</a:t>
            </a:r>
            <a:endParaRPr lang="en-US" sz="2400" dirty="0"/>
          </a:p>
        </p:txBody>
      </p:sp>
      <p:sp>
        <p:nvSpPr>
          <p:cNvPr id="9" name="Text 4"/>
          <p:cNvSpPr/>
          <p:nvPr/>
        </p:nvSpPr>
        <p:spPr>
          <a:xfrm>
            <a:off x="2300288" y="6296322"/>
            <a:ext cx="4000500" cy="1014188"/>
          </a:xfrm>
          <a:prstGeom prst="rect">
            <a:avLst/>
          </a:prstGeom>
          <a:noFill/>
          <a:ln/>
        </p:spPr>
        <p:txBody>
          <a:bodyPr wrap="square" lIns="0" tIns="0" rIns="0" bIns="0" rtlCol="0" anchor="t">
            <a:spAutoFit/>
          </a:bodyPr>
          <a:lstStyle/>
          <a:p>
            <a:pPr algn="ctr">
              <a:lnSpc>
                <a:spcPct val="112000"/>
              </a:lnSpc>
            </a:pPr>
            <a:r>
              <a:rPr lang="en-US" sz="2000" dirty="0">
                <a:solidFill>
                  <a:srgbClr val="404040"/>
                </a:solidFill>
                <a:latin typeface="Open Sans" panose="020B0606030504020204" pitchFamily="34" charset="0"/>
                <a:ea typeface="Open Sans" panose="020B0606030504020204" pitchFamily="34" charset="0"/>
                <a:cs typeface="Open Sans" panose="020B0606030504020204" pitchFamily="34" charset="0"/>
              </a:rPr>
              <a:t>Chuyển đến </a:t>
            </a:r>
            <a:r>
              <a:rPr lang="en-US" sz="2000" b="1" dirty="0">
                <a:solidFill>
                  <a:srgbClr val="404040"/>
                </a:solidFill>
                <a:latin typeface="Open Sans" panose="020B0606030504020204" pitchFamily="34" charset="0"/>
                <a:ea typeface="Open Sans" panose="020B0606030504020204" pitchFamily="34" charset="0"/>
                <a:cs typeface="Open Sans" panose="020B0606030504020204" pitchFamily="34" charset="0"/>
              </a:rPr>
              <a:t>Onboarding</a:t>
            </a:r>
            <a:r>
              <a:rPr lang="en-US" sz="2000" dirty="0">
                <a:solidFill>
                  <a:srgbClr val="404040"/>
                </a:solidFill>
                <a:latin typeface="Open Sans" panose="020B0606030504020204" pitchFamily="34" charset="0"/>
                <a:ea typeface="Open Sans" panose="020B0606030504020204" pitchFamily="34" charset="0"/>
                <a:cs typeface="Open Sans" panose="020B0606030504020204" pitchFamily="34" charset="0"/>
              </a:rPr>
              <a:t>: Giới thiệu giá trị cốt lõi, Flashcard và cơ chế SRS.</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pic>
        <p:nvPicPr>
          <p:cNvPr id="10" name="Image 3" descr="preencoded.png"/>
          <p:cNvPicPr>
            <a:picLocks noChangeAspect="1"/>
          </p:cNvPicPr>
          <p:nvPr/>
        </p:nvPicPr>
        <p:blipFill>
          <a:blip r:embed="rId6"/>
          <a:stretch>
            <a:fillRect/>
          </a:stretch>
        </p:blipFill>
        <p:spPr>
          <a:xfrm>
            <a:off x="8972550" y="5131892"/>
            <a:ext cx="342900" cy="342900"/>
          </a:xfrm>
          <a:prstGeom prst="rect">
            <a:avLst/>
          </a:prstGeom>
        </p:spPr>
      </p:pic>
      <p:sp>
        <p:nvSpPr>
          <p:cNvPr id="11" name="Text 5"/>
          <p:cNvSpPr/>
          <p:nvPr/>
        </p:nvSpPr>
        <p:spPr>
          <a:xfrm>
            <a:off x="7143750" y="5746254"/>
            <a:ext cx="4000500" cy="369332"/>
          </a:xfrm>
          <a:prstGeom prst="rect">
            <a:avLst/>
          </a:prstGeom>
          <a:noFill/>
          <a:ln/>
        </p:spPr>
        <p:txBody>
          <a:bodyPr wrap="square" lIns="0" tIns="0" rIns="0" bIns="0" rtlCol="0" anchor="t">
            <a:spAutoFit/>
          </a:bodyPr>
          <a:lstStyle/>
          <a:p>
            <a:pPr algn="ctr"/>
            <a:r>
              <a:rPr lang="en-US" sz="2400" dirty="0">
                <a:solidFill>
                  <a:srgbClr val="0A0A0A"/>
                </a:solidFill>
                <a:latin typeface="Open Sans SemiBold" pitchFamily="34" charset="0"/>
                <a:ea typeface="Open Sans SemiBold" pitchFamily="34" charset="-122"/>
                <a:cs typeface="Open Sans SemiBold" pitchFamily="34" charset="-120"/>
              </a:rPr>
              <a:t>Chưa thiết lập</a:t>
            </a:r>
            <a:endParaRPr lang="en-US" sz="2400" dirty="0"/>
          </a:p>
        </p:txBody>
      </p:sp>
      <p:sp>
        <p:nvSpPr>
          <p:cNvPr id="12" name="Text 6"/>
          <p:cNvSpPr/>
          <p:nvPr/>
        </p:nvSpPr>
        <p:spPr>
          <a:xfrm>
            <a:off x="7143750" y="6296322"/>
            <a:ext cx="4000500" cy="1014188"/>
          </a:xfrm>
          <a:prstGeom prst="rect">
            <a:avLst/>
          </a:prstGeom>
          <a:noFill/>
          <a:ln/>
        </p:spPr>
        <p:txBody>
          <a:bodyPr wrap="square" lIns="0" tIns="0" rIns="0" bIns="0" rtlCol="0" anchor="t">
            <a:spAutoFit/>
          </a:bodyPr>
          <a:lstStyle/>
          <a:p>
            <a:pPr algn="ctr">
              <a:lnSpc>
                <a:spcPct val="112000"/>
              </a:lnSpc>
            </a:pPr>
            <a:r>
              <a:rPr lang="en-US" sz="2000" dirty="0">
                <a:solidFill>
                  <a:srgbClr val="404040"/>
                </a:solidFill>
                <a:latin typeface="Open Sans" panose="020B0606030504020204" pitchFamily="34" charset="0"/>
                <a:ea typeface="Open Sans" panose="020B0606030504020204" pitchFamily="34" charset="0"/>
                <a:cs typeface="Open Sans" panose="020B0606030504020204" pitchFamily="34" charset="0"/>
              </a:rPr>
              <a:t>Chuyển đến </a:t>
            </a:r>
            <a:r>
              <a:rPr lang="en-US" sz="2000" b="1" dirty="0">
                <a:solidFill>
                  <a:srgbClr val="404040"/>
                </a:solidFill>
                <a:latin typeface="Open Sans" panose="020B0606030504020204" pitchFamily="34" charset="0"/>
                <a:ea typeface="Open Sans" panose="020B0606030504020204" pitchFamily="34" charset="0"/>
                <a:cs typeface="Open Sans" panose="020B0606030504020204" pitchFamily="34" charset="0"/>
              </a:rPr>
              <a:t>Setup</a:t>
            </a:r>
            <a:r>
              <a:rPr lang="en-US" sz="2000" dirty="0">
                <a:solidFill>
                  <a:srgbClr val="404040"/>
                </a:solidFill>
                <a:latin typeface="Open Sans" panose="020B0606030504020204" pitchFamily="34" charset="0"/>
                <a:ea typeface="Open Sans" panose="020B0606030504020204" pitchFamily="34" charset="0"/>
                <a:cs typeface="Open Sans" panose="020B0606030504020204" pitchFamily="34" charset="0"/>
              </a:rPr>
              <a:t>: Thiết lập mục tiêu (IELTS, TOEIC...) và trình độ CEFR.</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pic>
        <p:nvPicPr>
          <p:cNvPr id="13" name="Image 4" descr="preencoded.png"/>
          <p:cNvPicPr>
            <a:picLocks noChangeAspect="1"/>
          </p:cNvPicPr>
          <p:nvPr/>
        </p:nvPicPr>
        <p:blipFill>
          <a:blip r:embed="rId7"/>
          <a:stretch>
            <a:fillRect/>
          </a:stretch>
        </p:blipFill>
        <p:spPr>
          <a:xfrm>
            <a:off x="13816012" y="5131892"/>
            <a:ext cx="342900" cy="342900"/>
          </a:xfrm>
          <a:prstGeom prst="rect">
            <a:avLst/>
          </a:prstGeom>
        </p:spPr>
      </p:pic>
      <p:sp>
        <p:nvSpPr>
          <p:cNvPr id="14" name="Text 7"/>
          <p:cNvSpPr/>
          <p:nvPr/>
        </p:nvSpPr>
        <p:spPr>
          <a:xfrm>
            <a:off x="11987212" y="5746254"/>
            <a:ext cx="4000500" cy="369332"/>
          </a:xfrm>
          <a:prstGeom prst="rect">
            <a:avLst/>
          </a:prstGeom>
          <a:noFill/>
          <a:ln/>
        </p:spPr>
        <p:txBody>
          <a:bodyPr wrap="square" lIns="0" tIns="0" rIns="0" bIns="0" rtlCol="0" anchor="t">
            <a:spAutoFit/>
          </a:bodyPr>
          <a:lstStyle/>
          <a:p>
            <a:pPr algn="ctr"/>
            <a:r>
              <a:rPr lang="en-US" sz="2400" dirty="0">
                <a:solidFill>
                  <a:srgbClr val="0A0A0A"/>
                </a:solidFill>
                <a:latin typeface="Open Sans SemiBold" pitchFamily="34" charset="0"/>
                <a:ea typeface="Open Sans SemiBold" pitchFamily="34" charset="-122"/>
                <a:cs typeface="Open Sans SemiBold" pitchFamily="34" charset="-120"/>
              </a:rPr>
              <a:t>Đã hoàn tất</a:t>
            </a:r>
            <a:endParaRPr lang="en-US" sz="2400" dirty="0"/>
          </a:p>
        </p:txBody>
      </p:sp>
      <p:sp>
        <p:nvSpPr>
          <p:cNvPr id="15" name="Text 8"/>
          <p:cNvSpPr/>
          <p:nvPr/>
        </p:nvSpPr>
        <p:spPr>
          <a:xfrm>
            <a:off x="11987212" y="6296322"/>
            <a:ext cx="4000500" cy="1014188"/>
          </a:xfrm>
          <a:prstGeom prst="rect">
            <a:avLst/>
          </a:prstGeom>
          <a:noFill/>
          <a:ln/>
        </p:spPr>
        <p:txBody>
          <a:bodyPr wrap="square" lIns="0" tIns="0" rIns="0" bIns="0" rtlCol="0" anchor="t">
            <a:spAutoFit/>
          </a:bodyPr>
          <a:lstStyle/>
          <a:p>
            <a:pPr algn="ctr">
              <a:lnSpc>
                <a:spcPct val="112000"/>
              </a:lnSpc>
            </a:pPr>
            <a:r>
              <a:rPr lang="en-US" sz="2000" dirty="0">
                <a:solidFill>
                  <a:srgbClr val="404040"/>
                </a:solidFill>
                <a:latin typeface="Open Sans" panose="020B0606030504020204" pitchFamily="34" charset="0"/>
                <a:ea typeface="Open Sans" panose="020B0606030504020204" pitchFamily="34" charset="0"/>
                <a:cs typeface="Open Sans" panose="020B0606030504020204" pitchFamily="34" charset="0"/>
              </a:rPr>
              <a:t>Chuyển trực tiếp đến </a:t>
            </a:r>
            <a:r>
              <a:rPr lang="en-US" sz="2000" b="1" dirty="0">
                <a:solidFill>
                  <a:srgbClr val="404040"/>
                </a:solidFill>
                <a:latin typeface="Open Sans" panose="020B0606030504020204" pitchFamily="34" charset="0"/>
                <a:ea typeface="Open Sans" panose="020B0606030504020204" pitchFamily="34" charset="0"/>
                <a:cs typeface="Open Sans" panose="020B0606030504020204" pitchFamily="34" charset="0"/>
              </a:rPr>
              <a:t>Trang chủ</a:t>
            </a:r>
            <a:r>
              <a:rPr lang="en-US" sz="2000" dirty="0">
                <a:solidFill>
                  <a:srgbClr val="404040"/>
                </a:solidFill>
                <a:latin typeface="Open Sans" panose="020B0606030504020204" pitchFamily="34" charset="0"/>
                <a:ea typeface="Open Sans" panose="020B0606030504020204" pitchFamily="34" charset="0"/>
                <a:cs typeface="Open Sans" panose="020B0606030504020204" pitchFamily="34" charset="0"/>
              </a:rPr>
              <a:t>: Bắt đầu lộ trình học tập hằng ngày.</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9"/>
          <p:cNvSpPr/>
          <p:nvPr/>
        </p:nvSpPr>
        <p:spPr>
          <a:xfrm>
            <a:off x="2000250" y="8364439"/>
            <a:ext cx="14287500" cy="1270925"/>
          </a:xfrm>
          <a:prstGeom prst="rect">
            <a:avLst/>
          </a:prstGeom>
          <a:noFill/>
          <a:ln/>
        </p:spPr>
        <p:txBody>
          <a:bodyPr wrap="square" lIns="0" tIns="510286" rIns="0" bIns="0" rtlCol="0" anchor="t">
            <a:spAutoFit/>
          </a:bodyPr>
          <a:lstStyle/>
          <a:p>
            <a:pPr>
              <a:lnSpc>
                <a:spcPct val="128000"/>
              </a:lnSpc>
            </a:pPr>
            <a:r>
              <a:rPr lang="en-US" sz="2000" b="1" dirty="0">
                <a:solidFill>
                  <a:srgbClr val="404040"/>
                </a:solidFill>
                <a:latin typeface="Open Sans" panose="020B0606030504020204" pitchFamily="34" charset="0"/>
                <a:ea typeface="Open Sans" panose="020B0606030504020204" pitchFamily="34" charset="0"/>
                <a:cs typeface="Open Sans" panose="020B0606030504020204" pitchFamily="34" charset="0"/>
              </a:rPr>
              <a:t>Giá trị cốt lõi:</a:t>
            </a:r>
            <a:r>
              <a:rPr lang="en-US" sz="2000" dirty="0">
                <a:solidFill>
                  <a:srgbClr val="404040"/>
                </a:solidFill>
                <a:latin typeface="Open Sans" panose="020B0606030504020204" pitchFamily="34" charset="0"/>
                <a:ea typeface="Open Sans" panose="020B0606030504020204" pitchFamily="34" charset="0"/>
                <a:cs typeface="Open Sans" panose="020B0606030504020204" pitchFamily="34" charset="0"/>
              </a:rPr>
              <a:t> Chức năng này giúp người dùng mới nhanh chóng hiểu được giá trị của sản phẩm và cá nhân hóa trải nghiệm học tập ngay từ lần đầu sử dụng, đảm bảo tính liền mạch trong luồng vận hành.</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
        <p:nvSpPr>
          <p:cNvPr id="17" name="TextBox 16">
            <a:extLst>
              <a:ext uri="{FF2B5EF4-FFF2-40B4-BE49-F238E27FC236}">
                <a16:creationId xmlns:a16="http://schemas.microsoft.com/office/drawing/2014/main" id="{99188C94-F1F0-508B-3109-0CAF623DC2CE}"/>
              </a:ext>
            </a:extLst>
          </p:cNvPr>
          <p:cNvSpPr txBox="1"/>
          <p:nvPr/>
        </p:nvSpPr>
        <p:spPr>
          <a:xfrm>
            <a:off x="17831821" y="9831884"/>
            <a:ext cx="415498"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18</a:t>
            </a:r>
            <a:endParaRPr lang="vi-V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8288000" cy="10287000"/>
          </a:xfrm>
          <a:prstGeom prst="rect">
            <a:avLst/>
          </a:prstGeom>
        </p:spPr>
      </p:pic>
      <p:sp>
        <p:nvSpPr>
          <p:cNvPr id="3" name="Text 0"/>
          <p:cNvSpPr/>
          <p:nvPr/>
        </p:nvSpPr>
        <p:spPr>
          <a:xfrm>
            <a:off x="1143000" y="1163538"/>
            <a:ext cx="17145000" cy="615553"/>
          </a:xfrm>
          <a:prstGeom prst="rect">
            <a:avLst/>
          </a:prstGeom>
          <a:noFill/>
          <a:ln/>
        </p:spPr>
        <p:txBody>
          <a:bodyPr wrap="square" lIns="0" tIns="0" rIns="0" bIns="0" rtlCol="0" anchor="t">
            <a:spAutoFit/>
          </a:bodyPr>
          <a:lstStyle/>
          <a:p>
            <a:r>
              <a:rPr lang="en-US" sz="4000" b="1" dirty="0">
                <a:solidFill>
                  <a:srgbClr val="0A0A0A"/>
                </a:solidFill>
                <a:latin typeface="Montserrat Bold" pitchFamily="34" charset="0"/>
                <a:ea typeface="Montserrat Bold" pitchFamily="34" charset="-122"/>
                <a:cs typeface="Montserrat Bold" pitchFamily="34" charset="-120"/>
              </a:rPr>
              <a:t>BẢO MẬT DỮ LIỆU VÀ CÁ NHÂN HÓA LỘ TRÌNH HỌC TẬP</a:t>
            </a:r>
            <a:endParaRPr lang="en-US" sz="4000" dirty="0"/>
          </a:p>
        </p:txBody>
      </p:sp>
      <p:pic>
        <p:nvPicPr>
          <p:cNvPr id="4" name="Image 1" descr="preencoded.png"/>
          <p:cNvPicPr>
            <a:picLocks noChangeAspect="1"/>
          </p:cNvPicPr>
          <p:nvPr/>
        </p:nvPicPr>
        <p:blipFill>
          <a:blip r:embed="rId4"/>
          <a:stretch>
            <a:fillRect/>
          </a:stretch>
        </p:blipFill>
        <p:spPr>
          <a:xfrm>
            <a:off x="1600201" y="3083423"/>
            <a:ext cx="392906" cy="314326"/>
          </a:xfrm>
          <a:prstGeom prst="rect">
            <a:avLst/>
          </a:prstGeom>
        </p:spPr>
      </p:pic>
      <p:sp>
        <p:nvSpPr>
          <p:cNvPr id="5" name="Text 1"/>
          <p:cNvSpPr/>
          <p:nvPr/>
        </p:nvSpPr>
        <p:spPr>
          <a:xfrm>
            <a:off x="2207418" y="3049489"/>
            <a:ext cx="4802982" cy="492443"/>
          </a:xfrm>
          <a:prstGeom prst="rect">
            <a:avLst/>
          </a:prstGeom>
          <a:noFill/>
          <a:ln/>
        </p:spPr>
        <p:txBody>
          <a:bodyPr wrap="square" lIns="0" tIns="0" rIns="0" bIns="0" rtlCol="0" anchor="t">
            <a:spAutoFit/>
          </a:bodyPr>
          <a:lstStyle/>
          <a:p>
            <a:r>
              <a:rPr lang="en-US" sz="3200" b="1" dirty="0">
                <a:solidFill>
                  <a:srgbClr val="C1121F"/>
                </a:solidFill>
                <a:latin typeface="Montserrat Bold" pitchFamily="34" charset="0"/>
                <a:ea typeface="Montserrat Bold" pitchFamily="34" charset="-122"/>
                <a:cs typeface="Montserrat Bold" pitchFamily="34" charset="-120"/>
              </a:rPr>
              <a:t>XÁC THỰC TÀI KHOẢN</a:t>
            </a:r>
            <a:endParaRPr lang="en-US" sz="3200" dirty="0"/>
          </a:p>
        </p:txBody>
      </p:sp>
      <p:pic>
        <p:nvPicPr>
          <p:cNvPr id="6" name="Image 2" descr="preencoded.png"/>
          <p:cNvPicPr>
            <a:picLocks noChangeAspect="1"/>
          </p:cNvPicPr>
          <p:nvPr/>
        </p:nvPicPr>
        <p:blipFill>
          <a:blip r:embed="rId5"/>
          <a:stretch>
            <a:fillRect/>
          </a:stretch>
        </p:blipFill>
        <p:spPr>
          <a:xfrm>
            <a:off x="1628777" y="3917455"/>
            <a:ext cx="295498" cy="285750"/>
          </a:xfrm>
          <a:prstGeom prst="rect">
            <a:avLst/>
          </a:prstGeom>
        </p:spPr>
      </p:pic>
      <p:sp>
        <p:nvSpPr>
          <p:cNvPr id="7" name="Text 2"/>
          <p:cNvSpPr/>
          <p:nvPr/>
        </p:nvSpPr>
        <p:spPr>
          <a:xfrm>
            <a:off x="2228850" y="3860304"/>
            <a:ext cx="3693332" cy="310213"/>
          </a:xfrm>
          <a:prstGeom prst="rect">
            <a:avLst/>
          </a:prstGeom>
          <a:noFill/>
          <a:ln/>
        </p:spPr>
        <p:txBody>
          <a:bodyPr wrap="square" lIns="0" tIns="0" rIns="0" bIns="0" rtlCol="0" anchor="t">
            <a:spAutoFit/>
          </a:bodyPr>
          <a:lstStyle/>
          <a:p>
            <a:pPr>
              <a:lnSpc>
                <a:spcPct val="96000"/>
              </a:lnSpc>
            </a:pPr>
            <a:r>
              <a:rPr lang="en-US" sz="2100" dirty="0">
                <a:solidFill>
                  <a:srgbClr val="0A0A0A"/>
                </a:solidFill>
                <a:latin typeface="Open Sans SemiBold" pitchFamily="34" charset="0"/>
                <a:ea typeface="Open Sans SemiBold" pitchFamily="34" charset="-122"/>
                <a:cs typeface="Open Sans SemiBold" pitchFamily="34" charset="-120"/>
              </a:rPr>
              <a:t>Đăng nhập đa phương thức</a:t>
            </a:r>
            <a:endParaRPr lang="en-US" sz="2100" dirty="0"/>
          </a:p>
        </p:txBody>
      </p:sp>
      <p:sp>
        <p:nvSpPr>
          <p:cNvPr id="8" name="Text 3"/>
          <p:cNvSpPr/>
          <p:nvPr/>
        </p:nvSpPr>
        <p:spPr>
          <a:xfrm>
            <a:off x="2228851" y="4283181"/>
            <a:ext cx="6235018" cy="713722"/>
          </a:xfrm>
          <a:prstGeom prst="rect">
            <a:avLst/>
          </a:prstGeom>
          <a:noFill/>
          <a:ln/>
        </p:spPr>
        <p:txBody>
          <a:bodyPr wrap="square" lIns="0" tIns="0" rIns="0" bIns="0" rtlCol="0" anchor="t">
            <a:spAutoFit/>
          </a:bodyPr>
          <a:lstStyle/>
          <a:p>
            <a:pPr>
              <a:lnSpc>
                <a:spcPct val="120000"/>
              </a:lnSpc>
            </a:pPr>
            <a:r>
              <a:rPr lang="en-US" sz="2000" dirty="0">
                <a:solidFill>
                  <a:srgbClr val="404040"/>
                </a:solidFill>
                <a:latin typeface="Open Sans" pitchFamily="34" charset="0"/>
                <a:ea typeface="Open Sans" pitchFamily="34" charset="-122"/>
                <a:cs typeface="Open Sans" pitchFamily="34" charset="-120"/>
              </a:rPr>
              <a:t>Hỗ trợ đăng nhập qua Email/Password hoặc Google Account tích hợp Firebase Authentication.</a:t>
            </a:r>
            <a:endParaRPr lang="en-US" sz="2000" dirty="0"/>
          </a:p>
        </p:txBody>
      </p:sp>
      <p:pic>
        <p:nvPicPr>
          <p:cNvPr id="9" name="Image 3" descr="preencoded.png"/>
          <p:cNvPicPr>
            <a:picLocks noChangeAspect="1"/>
          </p:cNvPicPr>
          <p:nvPr/>
        </p:nvPicPr>
        <p:blipFill>
          <a:blip r:embed="rId6"/>
          <a:stretch>
            <a:fillRect/>
          </a:stretch>
        </p:blipFill>
        <p:spPr>
          <a:xfrm>
            <a:off x="1628777" y="5340457"/>
            <a:ext cx="295498" cy="285750"/>
          </a:xfrm>
          <a:prstGeom prst="rect">
            <a:avLst/>
          </a:prstGeom>
        </p:spPr>
      </p:pic>
      <p:sp>
        <p:nvSpPr>
          <p:cNvPr id="10" name="Text 4"/>
          <p:cNvSpPr/>
          <p:nvPr/>
        </p:nvSpPr>
        <p:spPr>
          <a:xfrm>
            <a:off x="2228849" y="5283306"/>
            <a:ext cx="3278910" cy="310213"/>
          </a:xfrm>
          <a:prstGeom prst="rect">
            <a:avLst/>
          </a:prstGeom>
          <a:noFill/>
          <a:ln/>
        </p:spPr>
        <p:txBody>
          <a:bodyPr wrap="square" lIns="0" tIns="0" rIns="0" bIns="0" rtlCol="0" anchor="t">
            <a:spAutoFit/>
          </a:bodyPr>
          <a:lstStyle/>
          <a:p>
            <a:pPr>
              <a:lnSpc>
                <a:spcPct val="96000"/>
              </a:lnSpc>
            </a:pPr>
            <a:r>
              <a:rPr lang="en-US" sz="2100" dirty="0">
                <a:solidFill>
                  <a:srgbClr val="0A0A0A"/>
                </a:solidFill>
                <a:latin typeface="Open Sans SemiBold" pitchFamily="34" charset="0"/>
                <a:ea typeface="Open Sans SemiBold" pitchFamily="34" charset="-122"/>
                <a:cs typeface="Open Sans SemiBold" pitchFamily="34" charset="-120"/>
              </a:rPr>
              <a:t>Kiểm tra dữ liệu tự động</a:t>
            </a:r>
            <a:endParaRPr lang="en-US" sz="2100" dirty="0"/>
          </a:p>
        </p:txBody>
      </p:sp>
      <p:sp>
        <p:nvSpPr>
          <p:cNvPr id="11" name="Text 5"/>
          <p:cNvSpPr/>
          <p:nvPr/>
        </p:nvSpPr>
        <p:spPr>
          <a:xfrm>
            <a:off x="2228851" y="5706183"/>
            <a:ext cx="6235018" cy="713722"/>
          </a:xfrm>
          <a:prstGeom prst="rect">
            <a:avLst/>
          </a:prstGeom>
          <a:noFill/>
          <a:ln/>
        </p:spPr>
        <p:txBody>
          <a:bodyPr wrap="square" lIns="0" tIns="0" rIns="0" bIns="0" rtlCol="0" anchor="t">
            <a:spAutoFit/>
          </a:bodyPr>
          <a:lstStyle/>
          <a:p>
            <a:pPr>
              <a:lnSpc>
                <a:spcPct val="120000"/>
              </a:lnSpc>
            </a:pPr>
            <a:r>
              <a:rPr lang="en-US" sz="2000" dirty="0">
                <a:solidFill>
                  <a:srgbClr val="404040"/>
                </a:solidFill>
                <a:latin typeface="Open Sans" pitchFamily="34" charset="0"/>
                <a:ea typeface="Open Sans" pitchFamily="34" charset="-122"/>
                <a:cs typeface="Open Sans" pitchFamily="34" charset="-120"/>
              </a:rPr>
              <a:t>Hệ thống tự động kiểm tra định dạng email, độ dài mật khẩu và sự trùng khớp khi đăng ký.</a:t>
            </a:r>
            <a:endParaRPr lang="en-US" sz="2000" dirty="0"/>
          </a:p>
        </p:txBody>
      </p:sp>
      <p:pic>
        <p:nvPicPr>
          <p:cNvPr id="12" name="Image 4" descr="preencoded.png"/>
          <p:cNvPicPr>
            <a:picLocks noChangeAspect="1"/>
          </p:cNvPicPr>
          <p:nvPr/>
        </p:nvPicPr>
        <p:blipFill>
          <a:blip r:embed="rId7"/>
          <a:stretch>
            <a:fillRect/>
          </a:stretch>
        </p:blipFill>
        <p:spPr>
          <a:xfrm>
            <a:off x="1628777" y="6763457"/>
            <a:ext cx="295498" cy="285750"/>
          </a:xfrm>
          <a:prstGeom prst="rect">
            <a:avLst/>
          </a:prstGeom>
        </p:spPr>
      </p:pic>
      <p:sp>
        <p:nvSpPr>
          <p:cNvPr id="13" name="Text 6"/>
          <p:cNvSpPr/>
          <p:nvPr/>
        </p:nvSpPr>
        <p:spPr>
          <a:xfrm>
            <a:off x="2228850" y="6706306"/>
            <a:ext cx="2692088" cy="310213"/>
          </a:xfrm>
          <a:prstGeom prst="rect">
            <a:avLst/>
          </a:prstGeom>
          <a:noFill/>
          <a:ln/>
        </p:spPr>
        <p:txBody>
          <a:bodyPr wrap="square" lIns="0" tIns="0" rIns="0" bIns="0" rtlCol="0" anchor="t">
            <a:spAutoFit/>
          </a:bodyPr>
          <a:lstStyle/>
          <a:p>
            <a:pPr>
              <a:lnSpc>
                <a:spcPct val="96000"/>
              </a:lnSpc>
            </a:pPr>
            <a:r>
              <a:rPr lang="en-US" sz="2100" dirty="0">
                <a:solidFill>
                  <a:srgbClr val="0A0A0A"/>
                </a:solidFill>
                <a:latin typeface="Open Sans SemiBold" pitchFamily="34" charset="0"/>
                <a:ea typeface="Open Sans SemiBold" pitchFamily="34" charset="-122"/>
                <a:cs typeface="Open Sans SemiBold" pitchFamily="34" charset="-120"/>
              </a:rPr>
              <a:t>Khôi phục mật khẩu</a:t>
            </a:r>
            <a:endParaRPr lang="en-US" sz="2100" dirty="0"/>
          </a:p>
        </p:txBody>
      </p:sp>
      <p:sp>
        <p:nvSpPr>
          <p:cNvPr id="14" name="Text 7"/>
          <p:cNvSpPr/>
          <p:nvPr/>
        </p:nvSpPr>
        <p:spPr>
          <a:xfrm>
            <a:off x="2228851" y="7129185"/>
            <a:ext cx="6235018" cy="713722"/>
          </a:xfrm>
          <a:prstGeom prst="rect">
            <a:avLst/>
          </a:prstGeom>
          <a:noFill/>
          <a:ln/>
        </p:spPr>
        <p:txBody>
          <a:bodyPr wrap="square" lIns="0" tIns="0" rIns="0" bIns="0" rtlCol="0" anchor="t">
            <a:spAutoFit/>
          </a:bodyPr>
          <a:lstStyle/>
          <a:p>
            <a:pPr>
              <a:lnSpc>
                <a:spcPct val="120000"/>
              </a:lnSpc>
            </a:pPr>
            <a:r>
              <a:rPr lang="en-US" sz="2000" dirty="0">
                <a:solidFill>
                  <a:srgbClr val="404040"/>
                </a:solidFill>
                <a:latin typeface="Open Sans" pitchFamily="34" charset="0"/>
                <a:ea typeface="Open Sans" pitchFamily="34" charset="-122"/>
                <a:cs typeface="Open Sans" pitchFamily="34" charset="-120"/>
              </a:rPr>
              <a:t>Quy trình gửi liên kết khôi phục qua email đăng ký, đảm bảo an toàn tài khoản.</a:t>
            </a:r>
            <a:endParaRPr lang="en-US" sz="2000" dirty="0"/>
          </a:p>
        </p:txBody>
      </p:sp>
      <p:pic>
        <p:nvPicPr>
          <p:cNvPr id="15" name="Image 5" descr="preencoded.png"/>
          <p:cNvPicPr>
            <a:picLocks noChangeAspect="1"/>
          </p:cNvPicPr>
          <p:nvPr/>
        </p:nvPicPr>
        <p:blipFill>
          <a:blip r:embed="rId8"/>
          <a:stretch>
            <a:fillRect/>
          </a:stretch>
        </p:blipFill>
        <p:spPr>
          <a:xfrm>
            <a:off x="10029827" y="3083423"/>
            <a:ext cx="392906" cy="314326"/>
          </a:xfrm>
          <a:prstGeom prst="rect">
            <a:avLst/>
          </a:prstGeom>
        </p:spPr>
      </p:pic>
      <p:sp>
        <p:nvSpPr>
          <p:cNvPr id="16" name="Text 8"/>
          <p:cNvSpPr/>
          <p:nvPr/>
        </p:nvSpPr>
        <p:spPr>
          <a:xfrm>
            <a:off x="10637043" y="3049489"/>
            <a:ext cx="4434973" cy="492443"/>
          </a:xfrm>
          <a:prstGeom prst="rect">
            <a:avLst/>
          </a:prstGeom>
          <a:noFill/>
          <a:ln/>
        </p:spPr>
        <p:txBody>
          <a:bodyPr wrap="square" lIns="0" tIns="0" rIns="0" bIns="0" rtlCol="0" anchor="t">
            <a:spAutoFit/>
          </a:bodyPr>
          <a:lstStyle/>
          <a:p>
            <a:r>
              <a:rPr lang="en-US" sz="3200" b="1" dirty="0">
                <a:solidFill>
                  <a:srgbClr val="C1121F"/>
                </a:solidFill>
                <a:latin typeface="Montserrat Bold" pitchFamily="34" charset="0"/>
                <a:ea typeface="Montserrat Bold" pitchFamily="34" charset="-122"/>
                <a:cs typeface="Montserrat Bold" pitchFamily="34" charset="-120"/>
              </a:rPr>
              <a:t>THIẾT LẬP BAN ĐẦU</a:t>
            </a:r>
            <a:endParaRPr lang="en-US" sz="3200" dirty="0"/>
          </a:p>
        </p:txBody>
      </p:sp>
      <p:pic>
        <p:nvPicPr>
          <p:cNvPr id="17" name="Image 6" descr="preencoded.png"/>
          <p:cNvPicPr>
            <a:picLocks noChangeAspect="1"/>
          </p:cNvPicPr>
          <p:nvPr/>
        </p:nvPicPr>
        <p:blipFill>
          <a:blip r:embed="rId9"/>
          <a:stretch>
            <a:fillRect/>
          </a:stretch>
        </p:blipFill>
        <p:spPr>
          <a:xfrm>
            <a:off x="10058401" y="3917455"/>
            <a:ext cx="295498" cy="285750"/>
          </a:xfrm>
          <a:prstGeom prst="rect">
            <a:avLst/>
          </a:prstGeom>
        </p:spPr>
      </p:pic>
      <p:sp>
        <p:nvSpPr>
          <p:cNvPr id="18" name="Text 9"/>
          <p:cNvSpPr/>
          <p:nvPr/>
        </p:nvSpPr>
        <p:spPr>
          <a:xfrm>
            <a:off x="10658476" y="3860305"/>
            <a:ext cx="2241196" cy="310213"/>
          </a:xfrm>
          <a:prstGeom prst="rect">
            <a:avLst/>
          </a:prstGeom>
          <a:noFill/>
          <a:ln/>
        </p:spPr>
        <p:txBody>
          <a:bodyPr wrap="square" lIns="0" tIns="0" rIns="0" bIns="0" rtlCol="0" anchor="t">
            <a:spAutoFit/>
          </a:bodyPr>
          <a:lstStyle/>
          <a:p>
            <a:pPr>
              <a:lnSpc>
                <a:spcPct val="96000"/>
              </a:lnSpc>
            </a:pPr>
            <a:r>
              <a:rPr lang="en-US" sz="2100" dirty="0">
                <a:solidFill>
                  <a:srgbClr val="0A0A0A"/>
                </a:solidFill>
                <a:latin typeface="Open Sans SemiBold" pitchFamily="34" charset="0"/>
                <a:ea typeface="Open Sans SemiBold" pitchFamily="34" charset="-122"/>
                <a:cs typeface="Open Sans SemiBold" pitchFamily="34" charset="-120"/>
              </a:rPr>
              <a:t>Mục tiêu học tập</a:t>
            </a:r>
            <a:endParaRPr lang="en-US" sz="2100" dirty="0"/>
          </a:p>
        </p:txBody>
      </p:sp>
      <p:sp>
        <p:nvSpPr>
          <p:cNvPr id="19" name="Text 10"/>
          <p:cNvSpPr/>
          <p:nvPr/>
        </p:nvSpPr>
        <p:spPr>
          <a:xfrm>
            <a:off x="10658477" y="4283181"/>
            <a:ext cx="6235018" cy="713722"/>
          </a:xfrm>
          <a:prstGeom prst="rect">
            <a:avLst/>
          </a:prstGeom>
          <a:noFill/>
          <a:ln/>
        </p:spPr>
        <p:txBody>
          <a:bodyPr wrap="square" lIns="0" tIns="0" rIns="0" bIns="0" rtlCol="0" anchor="t">
            <a:spAutoFit/>
          </a:bodyPr>
          <a:lstStyle/>
          <a:p>
            <a:pPr>
              <a:lnSpc>
                <a:spcPct val="120000"/>
              </a:lnSpc>
            </a:pPr>
            <a:r>
              <a:rPr lang="en-US" sz="2000" dirty="0">
                <a:solidFill>
                  <a:srgbClr val="404040"/>
                </a:solidFill>
                <a:latin typeface="Open Sans" pitchFamily="34" charset="0"/>
                <a:ea typeface="Open Sans" pitchFamily="34" charset="-122"/>
                <a:cs typeface="Open Sans" pitchFamily="34" charset="-120"/>
              </a:rPr>
              <a:t>Lựa chọn lĩnh vực trọng tâm để cá nhân hóa kho từ vựng và ví dụ.</a:t>
            </a:r>
            <a:endParaRPr lang="en-US" sz="2000" dirty="0"/>
          </a:p>
        </p:txBody>
      </p:sp>
      <p:sp>
        <p:nvSpPr>
          <p:cNvPr id="20" name="Shape 11"/>
          <p:cNvSpPr/>
          <p:nvPr/>
        </p:nvSpPr>
        <p:spPr>
          <a:xfrm>
            <a:off x="10658477" y="5140431"/>
            <a:ext cx="868026" cy="425054"/>
          </a:xfrm>
          <a:prstGeom prst="rect">
            <a:avLst/>
          </a:prstGeom>
          <a:solidFill>
            <a:srgbClr val="F8F8F8"/>
          </a:solidFill>
          <a:ln w="9144">
            <a:solidFill>
              <a:srgbClr val="E0E0E0"/>
            </a:solidFill>
            <a:prstDash val="solid"/>
          </a:ln>
        </p:spPr>
      </p:sp>
      <p:sp>
        <p:nvSpPr>
          <p:cNvPr id="21" name="Text 12"/>
          <p:cNvSpPr/>
          <p:nvPr/>
        </p:nvSpPr>
        <p:spPr>
          <a:xfrm>
            <a:off x="10550459" y="5126970"/>
            <a:ext cx="1132666" cy="479618"/>
          </a:xfrm>
          <a:prstGeom prst="rect">
            <a:avLst/>
          </a:prstGeom>
          <a:noFill/>
          <a:ln/>
        </p:spPr>
        <p:txBody>
          <a:bodyPr wrap="square" lIns="204216" tIns="85090" rIns="204216" bIns="85090" rtlCol="0" anchor="t">
            <a:spAutoFit/>
          </a:bodyPr>
          <a:lstStyle/>
          <a:p>
            <a:r>
              <a:rPr lang="en-US" sz="2000" dirty="0">
                <a:solidFill>
                  <a:srgbClr val="0A0A0A"/>
                </a:solidFill>
                <a:latin typeface="Open Sans SemiBold" pitchFamily="34" charset="0"/>
                <a:ea typeface="Open Sans SemiBold" pitchFamily="34" charset="-122"/>
                <a:cs typeface="Open Sans SemiBold" pitchFamily="34" charset="-120"/>
              </a:rPr>
              <a:t>IELTS</a:t>
            </a:r>
            <a:endParaRPr lang="en-US" sz="2000" dirty="0"/>
          </a:p>
        </p:txBody>
      </p:sp>
      <p:sp>
        <p:nvSpPr>
          <p:cNvPr id="22" name="Shape 13"/>
          <p:cNvSpPr/>
          <p:nvPr/>
        </p:nvSpPr>
        <p:spPr>
          <a:xfrm>
            <a:off x="11612166" y="5140431"/>
            <a:ext cx="930820" cy="425054"/>
          </a:xfrm>
          <a:prstGeom prst="rect">
            <a:avLst/>
          </a:prstGeom>
          <a:solidFill>
            <a:srgbClr val="F8F8F8"/>
          </a:solidFill>
          <a:ln w="9144">
            <a:solidFill>
              <a:srgbClr val="E0E0E0"/>
            </a:solidFill>
            <a:prstDash val="solid"/>
          </a:ln>
        </p:spPr>
      </p:sp>
      <p:sp>
        <p:nvSpPr>
          <p:cNvPr id="23" name="Text 14"/>
          <p:cNvSpPr/>
          <p:nvPr/>
        </p:nvSpPr>
        <p:spPr>
          <a:xfrm>
            <a:off x="11501965" y="5126970"/>
            <a:ext cx="1222182" cy="479618"/>
          </a:xfrm>
          <a:prstGeom prst="rect">
            <a:avLst/>
          </a:prstGeom>
          <a:noFill/>
          <a:ln/>
        </p:spPr>
        <p:txBody>
          <a:bodyPr wrap="square" lIns="204216" tIns="85090" rIns="204216" bIns="85090" rtlCol="0" anchor="t">
            <a:spAutoFit/>
          </a:bodyPr>
          <a:lstStyle/>
          <a:p>
            <a:r>
              <a:rPr lang="en-US" sz="2000" dirty="0">
                <a:solidFill>
                  <a:srgbClr val="0A0A0A"/>
                </a:solidFill>
                <a:latin typeface="Open Sans SemiBold" pitchFamily="34" charset="0"/>
                <a:ea typeface="Open Sans SemiBold" pitchFamily="34" charset="-122"/>
                <a:cs typeface="Open Sans SemiBold" pitchFamily="34" charset="-120"/>
              </a:rPr>
              <a:t>TOEIC</a:t>
            </a:r>
            <a:endParaRPr lang="en-US" sz="2000" dirty="0"/>
          </a:p>
        </p:txBody>
      </p:sp>
      <p:sp>
        <p:nvSpPr>
          <p:cNvPr id="24" name="Shape 15"/>
          <p:cNvSpPr/>
          <p:nvPr/>
        </p:nvSpPr>
        <p:spPr>
          <a:xfrm>
            <a:off x="12626578" y="5140431"/>
            <a:ext cx="1222624" cy="425054"/>
          </a:xfrm>
          <a:prstGeom prst="rect">
            <a:avLst/>
          </a:prstGeom>
          <a:solidFill>
            <a:srgbClr val="F8F8F8"/>
          </a:solidFill>
          <a:ln w="9144">
            <a:solidFill>
              <a:srgbClr val="E0E0E0"/>
            </a:solidFill>
            <a:prstDash val="solid"/>
          </a:ln>
        </p:spPr>
      </p:sp>
      <p:sp>
        <p:nvSpPr>
          <p:cNvPr id="25" name="Text 16"/>
          <p:cNvSpPr/>
          <p:nvPr/>
        </p:nvSpPr>
        <p:spPr>
          <a:xfrm>
            <a:off x="12471215" y="5126970"/>
            <a:ext cx="1626658" cy="479618"/>
          </a:xfrm>
          <a:prstGeom prst="rect">
            <a:avLst/>
          </a:prstGeom>
          <a:noFill/>
          <a:ln/>
        </p:spPr>
        <p:txBody>
          <a:bodyPr wrap="square" lIns="204216" tIns="85090" rIns="204216" bIns="85090" rtlCol="0" anchor="t">
            <a:spAutoFit/>
          </a:bodyPr>
          <a:lstStyle/>
          <a:p>
            <a:r>
              <a:rPr lang="en-US" sz="2000" dirty="0">
                <a:solidFill>
                  <a:srgbClr val="0A0A0A"/>
                </a:solidFill>
                <a:latin typeface="Open Sans SemiBold" pitchFamily="34" charset="0"/>
                <a:ea typeface="Open Sans SemiBold" pitchFamily="34" charset="-122"/>
                <a:cs typeface="Open Sans SemiBold" pitchFamily="34" charset="-120"/>
              </a:rPr>
              <a:t>Giao tiếp</a:t>
            </a:r>
            <a:endParaRPr lang="en-US" sz="2000" dirty="0"/>
          </a:p>
        </p:txBody>
      </p:sp>
      <p:sp>
        <p:nvSpPr>
          <p:cNvPr id="26" name="Shape 17"/>
          <p:cNvSpPr/>
          <p:nvPr/>
        </p:nvSpPr>
        <p:spPr>
          <a:xfrm>
            <a:off x="13923167" y="5140431"/>
            <a:ext cx="1196770" cy="425054"/>
          </a:xfrm>
          <a:prstGeom prst="rect">
            <a:avLst/>
          </a:prstGeom>
          <a:solidFill>
            <a:srgbClr val="F8F8F8"/>
          </a:solidFill>
          <a:ln w="9144">
            <a:solidFill>
              <a:srgbClr val="E0E0E0"/>
            </a:solidFill>
            <a:prstDash val="solid"/>
          </a:ln>
        </p:spPr>
      </p:sp>
      <p:sp>
        <p:nvSpPr>
          <p:cNvPr id="27" name="Text 18"/>
          <p:cNvSpPr/>
          <p:nvPr/>
        </p:nvSpPr>
        <p:spPr>
          <a:xfrm>
            <a:off x="13749290" y="5126970"/>
            <a:ext cx="1603452" cy="479618"/>
          </a:xfrm>
          <a:prstGeom prst="rect">
            <a:avLst/>
          </a:prstGeom>
          <a:noFill/>
          <a:ln/>
        </p:spPr>
        <p:txBody>
          <a:bodyPr wrap="square" lIns="204216" tIns="85090" rIns="204216" bIns="85090" rtlCol="0" anchor="t">
            <a:spAutoFit/>
          </a:bodyPr>
          <a:lstStyle/>
          <a:p>
            <a:r>
              <a:rPr lang="en-US" sz="2000" dirty="0">
                <a:solidFill>
                  <a:srgbClr val="0A0A0A"/>
                </a:solidFill>
                <a:latin typeface="Open Sans SemiBold" pitchFamily="34" charset="0"/>
                <a:ea typeface="Open Sans SemiBold" pitchFamily="34" charset="-122"/>
                <a:cs typeface="Open Sans SemiBold" pitchFamily="34" charset="-120"/>
              </a:rPr>
              <a:t>Business</a:t>
            </a:r>
            <a:endParaRPr lang="en-US" sz="2000" dirty="0"/>
          </a:p>
        </p:txBody>
      </p:sp>
      <p:pic>
        <p:nvPicPr>
          <p:cNvPr id="28" name="Image 7" descr="preencoded.png"/>
          <p:cNvPicPr>
            <a:picLocks noChangeAspect="1"/>
          </p:cNvPicPr>
          <p:nvPr/>
        </p:nvPicPr>
        <p:blipFill>
          <a:blip r:embed="rId10"/>
          <a:stretch>
            <a:fillRect/>
          </a:stretch>
        </p:blipFill>
        <p:spPr>
          <a:xfrm>
            <a:off x="10058401" y="5951247"/>
            <a:ext cx="295498" cy="285750"/>
          </a:xfrm>
          <a:prstGeom prst="rect">
            <a:avLst/>
          </a:prstGeom>
        </p:spPr>
      </p:pic>
      <p:sp>
        <p:nvSpPr>
          <p:cNvPr id="29" name="Text 19"/>
          <p:cNvSpPr/>
          <p:nvPr/>
        </p:nvSpPr>
        <p:spPr>
          <a:xfrm>
            <a:off x="10658476" y="5894096"/>
            <a:ext cx="2483220" cy="310213"/>
          </a:xfrm>
          <a:prstGeom prst="rect">
            <a:avLst/>
          </a:prstGeom>
          <a:noFill/>
          <a:ln/>
        </p:spPr>
        <p:txBody>
          <a:bodyPr wrap="square" lIns="0" tIns="0" rIns="0" bIns="0" rtlCol="0" anchor="t">
            <a:spAutoFit/>
          </a:bodyPr>
          <a:lstStyle/>
          <a:p>
            <a:pPr>
              <a:lnSpc>
                <a:spcPct val="96000"/>
              </a:lnSpc>
            </a:pPr>
            <a:r>
              <a:rPr lang="en-US" sz="2100" dirty="0">
                <a:solidFill>
                  <a:srgbClr val="0A0A0A"/>
                </a:solidFill>
                <a:latin typeface="Open Sans SemiBold" pitchFamily="34" charset="0"/>
                <a:ea typeface="Open Sans SemiBold" pitchFamily="34" charset="-122"/>
                <a:cs typeface="Open Sans SemiBold" pitchFamily="34" charset="-120"/>
              </a:rPr>
              <a:t>Trình độ tiếng Anh</a:t>
            </a:r>
            <a:endParaRPr lang="en-US" sz="2100" dirty="0"/>
          </a:p>
        </p:txBody>
      </p:sp>
      <p:sp>
        <p:nvSpPr>
          <p:cNvPr id="30" name="Text 20"/>
          <p:cNvSpPr/>
          <p:nvPr/>
        </p:nvSpPr>
        <p:spPr>
          <a:xfrm>
            <a:off x="10658477" y="6316973"/>
            <a:ext cx="6235018" cy="713722"/>
          </a:xfrm>
          <a:prstGeom prst="rect">
            <a:avLst/>
          </a:prstGeom>
          <a:noFill/>
          <a:ln/>
        </p:spPr>
        <p:txBody>
          <a:bodyPr wrap="square" lIns="0" tIns="0" rIns="0" bIns="0" rtlCol="0" anchor="t">
            <a:spAutoFit/>
          </a:bodyPr>
          <a:lstStyle/>
          <a:p>
            <a:pPr>
              <a:lnSpc>
                <a:spcPct val="120000"/>
              </a:lnSpc>
            </a:pPr>
            <a:r>
              <a:rPr lang="en-US" sz="2000" dirty="0">
                <a:solidFill>
                  <a:srgbClr val="404040"/>
                </a:solidFill>
                <a:latin typeface="Open Sans" pitchFamily="34" charset="0"/>
                <a:ea typeface="Open Sans" pitchFamily="34" charset="-122"/>
                <a:cs typeface="Open Sans" pitchFamily="34" charset="-120"/>
              </a:rPr>
              <a:t>Phân loại theo khung tham chiếu CEFR từ A1 đến C2 để điều chỉnh độ khó thuật toán.</a:t>
            </a:r>
            <a:endParaRPr lang="en-US" sz="2000" dirty="0"/>
          </a:p>
        </p:txBody>
      </p:sp>
      <p:sp>
        <p:nvSpPr>
          <p:cNvPr id="31" name="Shape 21"/>
          <p:cNvSpPr/>
          <p:nvPr/>
        </p:nvSpPr>
        <p:spPr>
          <a:xfrm>
            <a:off x="10658476" y="7174223"/>
            <a:ext cx="620548" cy="425054"/>
          </a:xfrm>
          <a:prstGeom prst="rect">
            <a:avLst/>
          </a:prstGeom>
          <a:solidFill>
            <a:srgbClr val="F8F8F8"/>
          </a:solidFill>
          <a:ln w="9144">
            <a:solidFill>
              <a:srgbClr val="E0E0E0"/>
            </a:solidFill>
            <a:prstDash val="solid"/>
          </a:ln>
        </p:spPr>
      </p:sp>
      <p:sp>
        <p:nvSpPr>
          <p:cNvPr id="32" name="Text 22"/>
          <p:cNvSpPr/>
          <p:nvPr/>
        </p:nvSpPr>
        <p:spPr>
          <a:xfrm>
            <a:off x="10637045" y="7174222"/>
            <a:ext cx="771290" cy="479618"/>
          </a:xfrm>
          <a:prstGeom prst="rect">
            <a:avLst/>
          </a:prstGeom>
          <a:noFill/>
          <a:ln/>
        </p:spPr>
        <p:txBody>
          <a:bodyPr wrap="square" lIns="204216" tIns="85090" rIns="204216" bIns="85090" rtlCol="0" anchor="t">
            <a:spAutoFit/>
          </a:bodyPr>
          <a:lstStyle/>
          <a:p>
            <a:r>
              <a:rPr lang="en-US" sz="2000" dirty="0">
                <a:solidFill>
                  <a:srgbClr val="0A0A0A"/>
                </a:solidFill>
                <a:latin typeface="Open Sans SemiBold" pitchFamily="34" charset="0"/>
                <a:ea typeface="Open Sans SemiBold" pitchFamily="34" charset="-122"/>
                <a:cs typeface="Open Sans SemiBold" pitchFamily="34" charset="-120"/>
              </a:rPr>
              <a:t>A1</a:t>
            </a:r>
            <a:endParaRPr lang="en-US" sz="2000" dirty="0"/>
          </a:p>
        </p:txBody>
      </p:sp>
      <p:sp>
        <p:nvSpPr>
          <p:cNvPr id="33" name="Shape 23"/>
          <p:cNvSpPr/>
          <p:nvPr/>
        </p:nvSpPr>
        <p:spPr>
          <a:xfrm>
            <a:off x="11372850" y="7174223"/>
            <a:ext cx="620548" cy="425054"/>
          </a:xfrm>
          <a:prstGeom prst="rect">
            <a:avLst/>
          </a:prstGeom>
          <a:solidFill>
            <a:srgbClr val="F8F8F8"/>
          </a:solidFill>
          <a:ln w="9144">
            <a:solidFill>
              <a:srgbClr val="E0E0E0"/>
            </a:solidFill>
            <a:prstDash val="solid"/>
          </a:ln>
        </p:spPr>
      </p:sp>
      <p:sp>
        <p:nvSpPr>
          <p:cNvPr id="34" name="Text 24"/>
          <p:cNvSpPr/>
          <p:nvPr/>
        </p:nvSpPr>
        <p:spPr>
          <a:xfrm>
            <a:off x="11351419" y="7174222"/>
            <a:ext cx="771290" cy="479618"/>
          </a:xfrm>
          <a:prstGeom prst="rect">
            <a:avLst/>
          </a:prstGeom>
          <a:noFill/>
          <a:ln/>
        </p:spPr>
        <p:txBody>
          <a:bodyPr wrap="square" lIns="204216" tIns="85090" rIns="204216" bIns="85090" rtlCol="0" anchor="t">
            <a:spAutoFit/>
          </a:bodyPr>
          <a:lstStyle/>
          <a:p>
            <a:r>
              <a:rPr lang="en-US" sz="2000" dirty="0">
                <a:solidFill>
                  <a:srgbClr val="0A0A0A"/>
                </a:solidFill>
                <a:latin typeface="Open Sans SemiBold" pitchFamily="34" charset="0"/>
                <a:ea typeface="Open Sans SemiBold" pitchFamily="34" charset="-122"/>
                <a:cs typeface="Open Sans SemiBold" pitchFamily="34" charset="-120"/>
              </a:rPr>
              <a:t>A2</a:t>
            </a:r>
            <a:endParaRPr lang="en-US" sz="2000" dirty="0"/>
          </a:p>
        </p:txBody>
      </p:sp>
      <p:sp>
        <p:nvSpPr>
          <p:cNvPr id="35" name="Shape 25"/>
          <p:cNvSpPr/>
          <p:nvPr/>
        </p:nvSpPr>
        <p:spPr>
          <a:xfrm>
            <a:off x="12087226" y="7174223"/>
            <a:ext cx="620548" cy="425054"/>
          </a:xfrm>
          <a:prstGeom prst="rect">
            <a:avLst/>
          </a:prstGeom>
          <a:solidFill>
            <a:srgbClr val="F8F8F8"/>
          </a:solidFill>
          <a:ln w="9144">
            <a:solidFill>
              <a:srgbClr val="E0E0E0"/>
            </a:solidFill>
            <a:prstDash val="solid"/>
          </a:ln>
        </p:spPr>
      </p:sp>
      <p:sp>
        <p:nvSpPr>
          <p:cNvPr id="36" name="Text 26"/>
          <p:cNvSpPr/>
          <p:nvPr/>
        </p:nvSpPr>
        <p:spPr>
          <a:xfrm>
            <a:off x="12065794" y="7174222"/>
            <a:ext cx="767976" cy="479618"/>
          </a:xfrm>
          <a:prstGeom prst="rect">
            <a:avLst/>
          </a:prstGeom>
          <a:noFill/>
          <a:ln/>
        </p:spPr>
        <p:txBody>
          <a:bodyPr wrap="square" lIns="204216" tIns="85090" rIns="204216" bIns="85090" rtlCol="0" anchor="t">
            <a:spAutoFit/>
          </a:bodyPr>
          <a:lstStyle/>
          <a:p>
            <a:r>
              <a:rPr lang="en-US" sz="2000" dirty="0">
                <a:solidFill>
                  <a:srgbClr val="0A0A0A"/>
                </a:solidFill>
                <a:latin typeface="Open Sans SemiBold" pitchFamily="34" charset="0"/>
                <a:ea typeface="Open Sans SemiBold" pitchFamily="34" charset="-122"/>
                <a:cs typeface="Open Sans SemiBold" pitchFamily="34" charset="-120"/>
              </a:rPr>
              <a:t>B1</a:t>
            </a:r>
            <a:endParaRPr lang="en-US" sz="2000" dirty="0"/>
          </a:p>
        </p:txBody>
      </p:sp>
      <p:sp>
        <p:nvSpPr>
          <p:cNvPr id="37" name="Shape 27"/>
          <p:cNvSpPr/>
          <p:nvPr/>
        </p:nvSpPr>
        <p:spPr>
          <a:xfrm>
            <a:off x="12801600" y="7174223"/>
            <a:ext cx="620548" cy="425054"/>
          </a:xfrm>
          <a:prstGeom prst="rect">
            <a:avLst/>
          </a:prstGeom>
          <a:solidFill>
            <a:srgbClr val="F8F8F8"/>
          </a:solidFill>
          <a:ln w="9144">
            <a:solidFill>
              <a:srgbClr val="E0E0E0"/>
            </a:solidFill>
            <a:prstDash val="solid"/>
          </a:ln>
        </p:spPr>
      </p:sp>
      <p:sp>
        <p:nvSpPr>
          <p:cNvPr id="38" name="Text 28"/>
          <p:cNvSpPr/>
          <p:nvPr/>
        </p:nvSpPr>
        <p:spPr>
          <a:xfrm>
            <a:off x="12780168" y="7174222"/>
            <a:ext cx="767976" cy="479618"/>
          </a:xfrm>
          <a:prstGeom prst="rect">
            <a:avLst/>
          </a:prstGeom>
          <a:noFill/>
          <a:ln/>
        </p:spPr>
        <p:txBody>
          <a:bodyPr wrap="square" lIns="204216" tIns="85090" rIns="204216" bIns="85090" rtlCol="0" anchor="t">
            <a:spAutoFit/>
          </a:bodyPr>
          <a:lstStyle/>
          <a:p>
            <a:r>
              <a:rPr lang="en-US" sz="2000" dirty="0">
                <a:solidFill>
                  <a:srgbClr val="0A0A0A"/>
                </a:solidFill>
                <a:latin typeface="Open Sans SemiBold" pitchFamily="34" charset="0"/>
                <a:ea typeface="Open Sans SemiBold" pitchFamily="34" charset="-122"/>
                <a:cs typeface="Open Sans SemiBold" pitchFamily="34" charset="-120"/>
              </a:rPr>
              <a:t>B2</a:t>
            </a:r>
            <a:endParaRPr lang="en-US" sz="2000" dirty="0"/>
          </a:p>
        </p:txBody>
      </p:sp>
      <p:sp>
        <p:nvSpPr>
          <p:cNvPr id="39" name="Shape 29"/>
          <p:cNvSpPr/>
          <p:nvPr/>
        </p:nvSpPr>
        <p:spPr>
          <a:xfrm>
            <a:off x="13515975" y="7174223"/>
            <a:ext cx="616854" cy="425054"/>
          </a:xfrm>
          <a:prstGeom prst="rect">
            <a:avLst/>
          </a:prstGeom>
          <a:solidFill>
            <a:srgbClr val="F8F8F8"/>
          </a:solidFill>
          <a:ln w="9144">
            <a:solidFill>
              <a:srgbClr val="E0E0E0"/>
            </a:solidFill>
            <a:prstDash val="solid"/>
          </a:ln>
        </p:spPr>
      </p:sp>
      <p:sp>
        <p:nvSpPr>
          <p:cNvPr id="40" name="Text 30"/>
          <p:cNvSpPr/>
          <p:nvPr/>
        </p:nvSpPr>
        <p:spPr>
          <a:xfrm>
            <a:off x="13494544" y="7174222"/>
            <a:ext cx="761344" cy="479618"/>
          </a:xfrm>
          <a:prstGeom prst="rect">
            <a:avLst/>
          </a:prstGeom>
          <a:noFill/>
          <a:ln/>
        </p:spPr>
        <p:txBody>
          <a:bodyPr wrap="square" lIns="204216" tIns="85090" rIns="204216" bIns="85090" rtlCol="0" anchor="t">
            <a:spAutoFit/>
          </a:bodyPr>
          <a:lstStyle/>
          <a:p>
            <a:r>
              <a:rPr lang="en-US" sz="2000" dirty="0">
                <a:solidFill>
                  <a:srgbClr val="0A0A0A"/>
                </a:solidFill>
                <a:latin typeface="Open Sans SemiBold" pitchFamily="34" charset="0"/>
                <a:ea typeface="Open Sans SemiBold" pitchFamily="34" charset="-122"/>
                <a:cs typeface="Open Sans SemiBold" pitchFamily="34" charset="-120"/>
              </a:rPr>
              <a:t>C1</a:t>
            </a:r>
            <a:endParaRPr lang="en-US" sz="2000" dirty="0"/>
          </a:p>
        </p:txBody>
      </p:sp>
      <p:sp>
        <p:nvSpPr>
          <p:cNvPr id="41" name="Shape 31"/>
          <p:cNvSpPr/>
          <p:nvPr/>
        </p:nvSpPr>
        <p:spPr>
          <a:xfrm>
            <a:off x="14205345" y="7174223"/>
            <a:ext cx="616854" cy="425054"/>
          </a:xfrm>
          <a:prstGeom prst="rect">
            <a:avLst/>
          </a:prstGeom>
          <a:solidFill>
            <a:srgbClr val="F8F8F8"/>
          </a:solidFill>
          <a:ln w="9144">
            <a:solidFill>
              <a:srgbClr val="E0E0E0"/>
            </a:solidFill>
            <a:prstDash val="solid"/>
          </a:ln>
        </p:spPr>
      </p:sp>
      <p:sp>
        <p:nvSpPr>
          <p:cNvPr id="42" name="Text 32"/>
          <p:cNvSpPr/>
          <p:nvPr/>
        </p:nvSpPr>
        <p:spPr>
          <a:xfrm>
            <a:off x="14138530" y="7174222"/>
            <a:ext cx="761344" cy="479618"/>
          </a:xfrm>
          <a:prstGeom prst="rect">
            <a:avLst/>
          </a:prstGeom>
          <a:noFill/>
          <a:ln/>
        </p:spPr>
        <p:txBody>
          <a:bodyPr wrap="square" lIns="204216" tIns="85090" rIns="204216" bIns="85090" rtlCol="0" anchor="t">
            <a:spAutoFit/>
          </a:bodyPr>
          <a:lstStyle/>
          <a:p>
            <a:r>
              <a:rPr lang="en-US" sz="2000" dirty="0">
                <a:solidFill>
                  <a:srgbClr val="0A0A0A"/>
                </a:solidFill>
                <a:latin typeface="Open Sans SemiBold" pitchFamily="34" charset="0"/>
                <a:ea typeface="Open Sans SemiBold" pitchFamily="34" charset="-122"/>
                <a:cs typeface="Open Sans SemiBold" pitchFamily="34" charset="-120"/>
              </a:rPr>
              <a:t>C2</a:t>
            </a:r>
            <a:endParaRPr lang="en-US" sz="2000" dirty="0"/>
          </a:p>
        </p:txBody>
      </p:sp>
      <p:sp>
        <p:nvSpPr>
          <p:cNvPr id="43" name="TextBox 42">
            <a:extLst>
              <a:ext uri="{FF2B5EF4-FFF2-40B4-BE49-F238E27FC236}">
                <a16:creationId xmlns:a16="http://schemas.microsoft.com/office/drawing/2014/main" id="{03AD8EED-BE49-598C-FBCC-4CB99E034EB2}"/>
              </a:ext>
            </a:extLst>
          </p:cNvPr>
          <p:cNvSpPr txBox="1"/>
          <p:nvPr/>
        </p:nvSpPr>
        <p:spPr>
          <a:xfrm>
            <a:off x="17831821" y="9831884"/>
            <a:ext cx="415498"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19</a:t>
            </a:r>
            <a:endParaRPr lang="vi-V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8288000" cy="10287000"/>
          </a:xfrm>
          <a:prstGeom prst="rect">
            <a:avLst/>
          </a:prstGeom>
        </p:spPr>
      </p:pic>
      <p:sp>
        <p:nvSpPr>
          <p:cNvPr id="3" name="Text 0"/>
          <p:cNvSpPr/>
          <p:nvPr/>
        </p:nvSpPr>
        <p:spPr>
          <a:xfrm>
            <a:off x="1143000" y="1163538"/>
            <a:ext cx="17145000" cy="615553"/>
          </a:xfrm>
          <a:prstGeom prst="rect">
            <a:avLst/>
          </a:prstGeom>
          <a:noFill/>
          <a:ln/>
        </p:spPr>
        <p:txBody>
          <a:bodyPr wrap="square" lIns="0" tIns="0" rIns="0" bIns="0" rtlCol="0" anchor="t">
            <a:spAutoFit/>
          </a:bodyPr>
          <a:lstStyle/>
          <a:p>
            <a:r>
              <a:rPr lang="en-US" sz="4000" b="1" dirty="0">
                <a:solidFill>
                  <a:srgbClr val="0A0A0A"/>
                </a:solidFill>
                <a:latin typeface="Montserrat Bold" pitchFamily="34" charset="0"/>
                <a:ea typeface="Montserrat Bold" pitchFamily="34" charset="-122"/>
                <a:cs typeface="Montserrat Bold" pitchFamily="34" charset="-120"/>
              </a:rPr>
              <a:t>QUẢN LÝ TIẾN ĐỘ VÀ NHIỆM VỤ HỌC </a:t>
            </a:r>
            <a:r>
              <a:rPr lang="en-US" sz="4000" b="1" dirty="0" err="1">
                <a:solidFill>
                  <a:srgbClr val="0A0A0A"/>
                </a:solidFill>
                <a:latin typeface="Montserrat Bold" pitchFamily="34" charset="0"/>
                <a:ea typeface="Montserrat Bold" pitchFamily="34" charset="-122"/>
                <a:cs typeface="Montserrat Bold" pitchFamily="34" charset="-120"/>
              </a:rPr>
              <a:t>TẬP</a:t>
            </a:r>
            <a:endParaRPr lang="en-US" sz="4000" dirty="0"/>
          </a:p>
        </p:txBody>
      </p:sp>
      <p:pic>
        <p:nvPicPr>
          <p:cNvPr id="4" name="Image 1" descr="preencoded.png"/>
          <p:cNvPicPr>
            <a:picLocks noChangeAspect="1"/>
          </p:cNvPicPr>
          <p:nvPr/>
        </p:nvPicPr>
        <p:blipFill>
          <a:blip r:embed="rId4"/>
          <a:stretch>
            <a:fillRect/>
          </a:stretch>
        </p:blipFill>
        <p:spPr>
          <a:xfrm>
            <a:off x="1528763" y="3138786"/>
            <a:ext cx="400050" cy="457200"/>
          </a:xfrm>
          <a:prstGeom prst="rect">
            <a:avLst/>
          </a:prstGeom>
        </p:spPr>
      </p:pic>
      <p:sp>
        <p:nvSpPr>
          <p:cNvPr id="5" name="Text 1"/>
          <p:cNvSpPr/>
          <p:nvPr/>
        </p:nvSpPr>
        <p:spPr>
          <a:xfrm>
            <a:off x="1528763" y="4246067"/>
            <a:ext cx="4276706" cy="492443"/>
          </a:xfrm>
          <a:prstGeom prst="rect">
            <a:avLst/>
          </a:prstGeom>
          <a:noFill/>
          <a:ln/>
        </p:spPr>
        <p:txBody>
          <a:bodyPr wrap="square" lIns="0" tIns="0" rIns="0" bIns="0" rtlCol="0" anchor="t">
            <a:spAutoFit/>
          </a:bodyPr>
          <a:lstStyle/>
          <a:p>
            <a:r>
              <a:rPr lang="en-US" sz="3200" b="1" dirty="0">
                <a:solidFill>
                  <a:srgbClr val="0A0A0A"/>
                </a:solidFill>
                <a:latin typeface="Montserrat Bold" pitchFamily="34" charset="0"/>
                <a:ea typeface="Montserrat Bold" pitchFamily="34" charset="-122"/>
                <a:cs typeface="Montserrat Bold" pitchFamily="34" charset="-120"/>
              </a:rPr>
              <a:t>STREAK &amp; TIẾN ĐỘ</a:t>
            </a:r>
            <a:endParaRPr lang="en-US" sz="3200" dirty="0"/>
          </a:p>
        </p:txBody>
      </p:sp>
      <p:sp>
        <p:nvSpPr>
          <p:cNvPr id="6" name="Shape 2"/>
          <p:cNvSpPr/>
          <p:nvPr/>
        </p:nvSpPr>
        <p:spPr>
          <a:xfrm>
            <a:off x="2100263" y="5135465"/>
            <a:ext cx="91438" cy="85726"/>
          </a:xfrm>
          <a:prstGeom prst="rect">
            <a:avLst/>
          </a:prstGeom>
          <a:solidFill>
            <a:srgbClr val="C1121F"/>
          </a:solidFill>
          <a:ln/>
        </p:spPr>
      </p:sp>
      <p:sp>
        <p:nvSpPr>
          <p:cNvPr id="7" name="Text 3"/>
          <p:cNvSpPr/>
          <p:nvPr/>
        </p:nvSpPr>
        <p:spPr>
          <a:xfrm>
            <a:off x="2100263" y="5021165"/>
            <a:ext cx="3884902" cy="713722"/>
          </a:xfrm>
          <a:prstGeom prst="rect">
            <a:avLst/>
          </a:prstGeom>
          <a:noFill/>
          <a:ln/>
        </p:spPr>
        <p:txBody>
          <a:bodyPr wrap="square" lIns="340106" tIns="0" rIns="0" bIns="0" rtlCol="0" anchor="t">
            <a:spAutoFit/>
          </a:bodyPr>
          <a:lstStyle/>
          <a:p>
            <a:pPr>
              <a:lnSpc>
                <a:spcPct val="120000"/>
              </a:lnSpc>
            </a:pPr>
            <a:r>
              <a:rPr lang="en-US" sz="2000" dirty="0">
                <a:solidFill>
                  <a:srgbClr val="404040"/>
                </a:solidFill>
                <a:latin typeface="Open Sans" pitchFamily="34" charset="0"/>
                <a:ea typeface="Open Sans" pitchFamily="34" charset="-122"/>
                <a:cs typeface="Open Sans" pitchFamily="34" charset="-120"/>
              </a:rPr>
              <a:t>Hiển thị số ngày học </a:t>
            </a:r>
            <a:r>
              <a:rPr lang="en-US" sz="2000" dirty="0" err="1">
                <a:solidFill>
                  <a:srgbClr val="404040"/>
                </a:solidFill>
                <a:latin typeface="Open Sans" pitchFamily="34" charset="0"/>
                <a:ea typeface="Open Sans" pitchFamily="34" charset="-122"/>
                <a:cs typeface="Open Sans" pitchFamily="34" charset="-120"/>
              </a:rPr>
              <a:t>liên</a:t>
            </a:r>
            <a:r>
              <a:rPr lang="en-US" sz="2000" dirty="0">
                <a:solidFill>
                  <a:srgbClr val="404040"/>
                </a:solidFill>
                <a:latin typeface="Open Sans" pitchFamily="34" charset="0"/>
                <a:ea typeface="Open Sans" pitchFamily="34" charset="-122"/>
                <a:cs typeface="Open Sans" pitchFamily="34" charset="-120"/>
              </a:rPr>
              <a:t> </a:t>
            </a:r>
            <a:r>
              <a:rPr lang="en-US" sz="2000" dirty="0" err="1">
                <a:solidFill>
                  <a:srgbClr val="404040"/>
                </a:solidFill>
                <a:latin typeface="Open Sans" pitchFamily="34" charset="0"/>
                <a:ea typeface="Open Sans" pitchFamily="34" charset="-122"/>
                <a:cs typeface="Open Sans" pitchFamily="34" charset="-120"/>
              </a:rPr>
              <a:t>tiếp</a:t>
            </a:r>
            <a:r>
              <a:rPr lang="en-US" sz="2000" dirty="0">
                <a:solidFill>
                  <a:srgbClr val="404040"/>
                </a:solidFill>
                <a:latin typeface="Open Sans" pitchFamily="34" charset="0"/>
                <a:ea typeface="Open Sans" pitchFamily="34" charset="-122"/>
                <a:cs typeface="Open Sans" pitchFamily="34" charset="-120"/>
              </a:rPr>
              <a:t> </a:t>
            </a:r>
            <a:r>
              <a:rPr lang="vi-VN" sz="2000" dirty="0">
                <a:solidFill>
                  <a:srgbClr val="404040"/>
                </a:solidFill>
                <a:latin typeface="Open Sans" pitchFamily="34" charset="0"/>
                <a:ea typeface="Open Sans" pitchFamily="34" charset="-122"/>
                <a:cs typeface="Open Sans" pitchFamily="34" charset="-120"/>
              </a:rPr>
              <a:t>giúp tăng động lực</a:t>
            </a:r>
            <a:r>
              <a:rPr lang="en-US" sz="2000" dirty="0">
                <a:solidFill>
                  <a:srgbClr val="404040"/>
                </a:solidFill>
                <a:latin typeface="Open Sans" pitchFamily="34" charset="0"/>
                <a:ea typeface="Open Sans" pitchFamily="34" charset="-122"/>
                <a:cs typeface="Open Sans" pitchFamily="34" charset="-120"/>
              </a:rPr>
              <a:t>.</a:t>
            </a:r>
            <a:endParaRPr lang="en-US" sz="2000" dirty="0"/>
          </a:p>
        </p:txBody>
      </p:sp>
      <p:sp>
        <p:nvSpPr>
          <p:cNvPr id="8" name="Shape 4"/>
          <p:cNvSpPr/>
          <p:nvPr/>
        </p:nvSpPr>
        <p:spPr>
          <a:xfrm>
            <a:off x="2100263" y="5949851"/>
            <a:ext cx="91438" cy="85726"/>
          </a:xfrm>
          <a:prstGeom prst="rect">
            <a:avLst/>
          </a:prstGeom>
          <a:solidFill>
            <a:srgbClr val="C1121F"/>
          </a:solidFill>
          <a:ln/>
        </p:spPr>
      </p:sp>
      <p:sp>
        <p:nvSpPr>
          <p:cNvPr id="9" name="Text 5"/>
          <p:cNvSpPr/>
          <p:nvPr/>
        </p:nvSpPr>
        <p:spPr>
          <a:xfrm>
            <a:off x="2100263" y="5835551"/>
            <a:ext cx="3884902" cy="1083053"/>
          </a:xfrm>
          <a:prstGeom prst="rect">
            <a:avLst/>
          </a:prstGeom>
          <a:noFill/>
          <a:ln/>
        </p:spPr>
        <p:txBody>
          <a:bodyPr wrap="square" lIns="340106" tIns="0" rIns="0" bIns="0" rtlCol="0" anchor="t">
            <a:spAutoFit/>
          </a:bodyPr>
          <a:lstStyle/>
          <a:p>
            <a:pPr>
              <a:lnSpc>
                <a:spcPct val="120000"/>
              </a:lnSpc>
            </a:pPr>
            <a:r>
              <a:rPr lang="en-US" sz="2000" dirty="0">
                <a:solidFill>
                  <a:srgbClr val="404040"/>
                </a:solidFill>
                <a:latin typeface="Open Sans" pitchFamily="34" charset="0"/>
                <a:ea typeface="Open Sans" pitchFamily="34" charset="-122"/>
                <a:cs typeface="Open Sans" pitchFamily="34" charset="-120"/>
              </a:rPr>
              <a:t>Thống kê số từ đã học, cần học và tỷ lệ hoàn thành mục tiêu ngay lập tức.</a:t>
            </a:r>
            <a:endParaRPr lang="en-US" sz="2000" dirty="0"/>
          </a:p>
        </p:txBody>
      </p:sp>
      <p:pic>
        <p:nvPicPr>
          <p:cNvPr id="10" name="Image 2" descr="preencoded.png"/>
          <p:cNvPicPr>
            <a:picLocks noChangeAspect="1"/>
          </p:cNvPicPr>
          <p:nvPr/>
        </p:nvPicPr>
        <p:blipFill>
          <a:blip r:embed="rId5"/>
          <a:stretch>
            <a:fillRect/>
          </a:stretch>
        </p:blipFill>
        <p:spPr>
          <a:xfrm>
            <a:off x="7005618" y="3138786"/>
            <a:ext cx="457200" cy="457200"/>
          </a:xfrm>
          <a:prstGeom prst="rect">
            <a:avLst/>
          </a:prstGeom>
        </p:spPr>
      </p:pic>
      <p:sp>
        <p:nvSpPr>
          <p:cNvPr id="11" name="Text 6"/>
          <p:cNvSpPr/>
          <p:nvPr/>
        </p:nvSpPr>
        <p:spPr>
          <a:xfrm>
            <a:off x="7005619" y="4246067"/>
            <a:ext cx="4276706" cy="492443"/>
          </a:xfrm>
          <a:prstGeom prst="rect">
            <a:avLst/>
          </a:prstGeom>
          <a:noFill/>
          <a:ln/>
        </p:spPr>
        <p:txBody>
          <a:bodyPr wrap="square" lIns="0" tIns="0" rIns="0" bIns="0" rtlCol="0" anchor="t">
            <a:spAutoFit/>
          </a:bodyPr>
          <a:lstStyle/>
          <a:p>
            <a:r>
              <a:rPr lang="en-US" sz="3200" b="1" dirty="0">
                <a:solidFill>
                  <a:srgbClr val="0A0A0A"/>
                </a:solidFill>
                <a:latin typeface="Montserrat Bold" pitchFamily="34" charset="0"/>
                <a:ea typeface="Montserrat Bold" pitchFamily="34" charset="-122"/>
                <a:cs typeface="Montserrat Bold" pitchFamily="34" charset="-120"/>
              </a:rPr>
              <a:t>PHÂN TÍCH SRS</a:t>
            </a:r>
            <a:endParaRPr lang="en-US" sz="3200" dirty="0"/>
          </a:p>
        </p:txBody>
      </p:sp>
      <p:sp>
        <p:nvSpPr>
          <p:cNvPr id="12" name="Shape 7"/>
          <p:cNvSpPr/>
          <p:nvPr/>
        </p:nvSpPr>
        <p:spPr>
          <a:xfrm>
            <a:off x="7577119" y="5135465"/>
            <a:ext cx="91438" cy="85726"/>
          </a:xfrm>
          <a:prstGeom prst="rect">
            <a:avLst/>
          </a:prstGeom>
          <a:solidFill>
            <a:srgbClr val="C1121F"/>
          </a:solidFill>
          <a:ln/>
        </p:spPr>
      </p:sp>
      <p:sp>
        <p:nvSpPr>
          <p:cNvPr id="13" name="Text 8"/>
          <p:cNvSpPr/>
          <p:nvPr/>
        </p:nvSpPr>
        <p:spPr>
          <a:xfrm>
            <a:off x="7577119" y="5021165"/>
            <a:ext cx="4276706" cy="713722"/>
          </a:xfrm>
          <a:prstGeom prst="rect">
            <a:avLst/>
          </a:prstGeom>
          <a:noFill/>
          <a:ln/>
        </p:spPr>
        <p:txBody>
          <a:bodyPr wrap="square" lIns="340106" tIns="0" rIns="0" bIns="0" rtlCol="0" anchor="t">
            <a:spAutoFit/>
          </a:bodyPr>
          <a:lstStyle/>
          <a:p>
            <a:pPr>
              <a:lnSpc>
                <a:spcPct val="120000"/>
              </a:lnSpc>
            </a:pPr>
            <a:r>
              <a:rPr lang="vi-VN" sz="2000" dirty="0">
                <a:solidFill>
                  <a:srgbClr val="404040"/>
                </a:solidFill>
                <a:latin typeface="Open Sans" pitchFamily="34" charset="0"/>
                <a:ea typeface="Open Sans" pitchFamily="34" charset="-122"/>
                <a:cs typeface="Open Sans" pitchFamily="34" charset="-120"/>
              </a:rPr>
              <a:t>Tự </a:t>
            </a:r>
            <a:r>
              <a:rPr lang="en-US" sz="2000" dirty="0" err="1">
                <a:solidFill>
                  <a:srgbClr val="404040"/>
                </a:solidFill>
                <a:latin typeface="Open Sans" pitchFamily="34" charset="0"/>
                <a:ea typeface="Open Sans" pitchFamily="34" charset="-122"/>
                <a:cs typeface="Open Sans" pitchFamily="34" charset="-120"/>
              </a:rPr>
              <a:t>động</a:t>
            </a:r>
            <a:r>
              <a:rPr lang="en-US" sz="2000" dirty="0">
                <a:solidFill>
                  <a:srgbClr val="404040"/>
                </a:solidFill>
                <a:latin typeface="Open Sans" pitchFamily="34" charset="0"/>
                <a:ea typeface="Open Sans" pitchFamily="34" charset="-122"/>
                <a:cs typeface="Open Sans" pitchFamily="34" charset="-120"/>
              </a:rPr>
              <a:t> phân tích lịch sử ôn tập của từng từ vựng.</a:t>
            </a:r>
            <a:endParaRPr lang="en-US" sz="2000" dirty="0"/>
          </a:p>
        </p:txBody>
      </p:sp>
      <p:sp>
        <p:nvSpPr>
          <p:cNvPr id="14" name="Shape 9"/>
          <p:cNvSpPr/>
          <p:nvPr/>
        </p:nvSpPr>
        <p:spPr>
          <a:xfrm>
            <a:off x="7577119" y="5949851"/>
            <a:ext cx="91438" cy="85726"/>
          </a:xfrm>
          <a:prstGeom prst="rect">
            <a:avLst/>
          </a:prstGeom>
          <a:solidFill>
            <a:srgbClr val="C1121F"/>
          </a:solidFill>
          <a:ln/>
        </p:spPr>
      </p:sp>
      <p:sp>
        <p:nvSpPr>
          <p:cNvPr id="15" name="Text 10"/>
          <p:cNvSpPr/>
          <p:nvPr/>
        </p:nvSpPr>
        <p:spPr>
          <a:xfrm>
            <a:off x="7577119" y="5835551"/>
            <a:ext cx="3884902" cy="1083053"/>
          </a:xfrm>
          <a:prstGeom prst="rect">
            <a:avLst/>
          </a:prstGeom>
          <a:noFill/>
          <a:ln/>
        </p:spPr>
        <p:txBody>
          <a:bodyPr wrap="square" lIns="340106" tIns="0" rIns="0" bIns="0" rtlCol="0" anchor="t">
            <a:spAutoFit/>
          </a:bodyPr>
          <a:lstStyle/>
          <a:p>
            <a:pPr>
              <a:lnSpc>
                <a:spcPct val="120000"/>
              </a:lnSpc>
            </a:pPr>
            <a:r>
              <a:rPr lang="en-US" sz="2000" dirty="0">
                <a:solidFill>
                  <a:srgbClr val="404040"/>
                </a:solidFill>
                <a:latin typeface="Open Sans" pitchFamily="34" charset="0"/>
                <a:ea typeface="Open Sans" pitchFamily="34" charset="-122"/>
                <a:cs typeface="Open Sans" pitchFamily="34" charset="-120"/>
              </a:rPr>
              <a:t>Ưu tiên hiển thị các bộ từ có từ đến hạn ôn tập lên đầu danh sách.</a:t>
            </a:r>
            <a:endParaRPr lang="en-US" sz="2000" dirty="0"/>
          </a:p>
        </p:txBody>
      </p:sp>
      <p:pic>
        <p:nvPicPr>
          <p:cNvPr id="16" name="Image 3" descr="preencoded.png"/>
          <p:cNvPicPr>
            <a:picLocks noChangeAspect="1"/>
          </p:cNvPicPr>
          <p:nvPr/>
        </p:nvPicPr>
        <p:blipFill>
          <a:blip r:embed="rId6"/>
          <a:stretch>
            <a:fillRect/>
          </a:stretch>
        </p:blipFill>
        <p:spPr>
          <a:xfrm>
            <a:off x="12482476" y="3138786"/>
            <a:ext cx="342900" cy="457200"/>
          </a:xfrm>
          <a:prstGeom prst="rect">
            <a:avLst/>
          </a:prstGeom>
        </p:spPr>
      </p:pic>
      <p:sp>
        <p:nvSpPr>
          <p:cNvPr id="17" name="Text 11"/>
          <p:cNvSpPr/>
          <p:nvPr/>
        </p:nvSpPr>
        <p:spPr>
          <a:xfrm>
            <a:off x="12482477" y="4246067"/>
            <a:ext cx="4276762" cy="492443"/>
          </a:xfrm>
          <a:prstGeom prst="rect">
            <a:avLst/>
          </a:prstGeom>
          <a:noFill/>
          <a:ln/>
        </p:spPr>
        <p:txBody>
          <a:bodyPr wrap="square" lIns="0" tIns="0" rIns="0" bIns="0" rtlCol="0" anchor="t">
            <a:spAutoFit/>
          </a:bodyPr>
          <a:lstStyle/>
          <a:p>
            <a:r>
              <a:rPr lang="en-US" sz="3200" b="1" dirty="0">
                <a:solidFill>
                  <a:srgbClr val="0A0A0A"/>
                </a:solidFill>
                <a:latin typeface="Montserrat Bold" pitchFamily="34" charset="0"/>
                <a:ea typeface="Montserrat Bold" pitchFamily="34" charset="-122"/>
                <a:cs typeface="Montserrat Bold" pitchFamily="34" charset="-120"/>
              </a:rPr>
              <a:t>GỢI Ý THÔNG MINH</a:t>
            </a:r>
            <a:endParaRPr lang="en-US" sz="3200" dirty="0"/>
          </a:p>
        </p:txBody>
      </p:sp>
      <p:sp>
        <p:nvSpPr>
          <p:cNvPr id="18" name="Shape 12"/>
          <p:cNvSpPr/>
          <p:nvPr/>
        </p:nvSpPr>
        <p:spPr>
          <a:xfrm>
            <a:off x="13053977" y="5135465"/>
            <a:ext cx="91438" cy="85726"/>
          </a:xfrm>
          <a:prstGeom prst="rect">
            <a:avLst/>
          </a:prstGeom>
          <a:solidFill>
            <a:srgbClr val="C1121F"/>
          </a:solidFill>
          <a:ln/>
        </p:spPr>
      </p:sp>
      <p:sp>
        <p:nvSpPr>
          <p:cNvPr id="19" name="Text 13"/>
          <p:cNvSpPr/>
          <p:nvPr/>
        </p:nvSpPr>
        <p:spPr>
          <a:xfrm>
            <a:off x="13053977" y="5021165"/>
            <a:ext cx="4070242" cy="713722"/>
          </a:xfrm>
          <a:prstGeom prst="rect">
            <a:avLst/>
          </a:prstGeom>
          <a:noFill/>
          <a:ln/>
        </p:spPr>
        <p:txBody>
          <a:bodyPr wrap="square" lIns="340106" tIns="0" rIns="0" bIns="0" rtlCol="0" anchor="t">
            <a:spAutoFit/>
          </a:bodyPr>
          <a:lstStyle/>
          <a:p>
            <a:pPr>
              <a:lnSpc>
                <a:spcPct val="120000"/>
              </a:lnSpc>
            </a:pPr>
            <a:r>
              <a:rPr lang="en-US" sz="2000" dirty="0" err="1">
                <a:solidFill>
                  <a:srgbClr val="404040"/>
                </a:solidFill>
                <a:latin typeface="Open Sans" pitchFamily="34" charset="0"/>
                <a:ea typeface="Open Sans" pitchFamily="34" charset="-122"/>
                <a:cs typeface="Open Sans" pitchFamily="34" charset="-120"/>
              </a:rPr>
              <a:t>Nhận</a:t>
            </a:r>
            <a:r>
              <a:rPr lang="en-US" sz="2000" dirty="0">
                <a:solidFill>
                  <a:srgbClr val="404040"/>
                </a:solidFill>
                <a:latin typeface="Open Sans" pitchFamily="34" charset="0"/>
                <a:ea typeface="Open Sans" pitchFamily="34" charset="-122"/>
                <a:cs typeface="Open Sans" pitchFamily="34" charset="-120"/>
              </a:rPr>
              <a:t> </a:t>
            </a:r>
            <a:r>
              <a:rPr lang="en-US" sz="2000" dirty="0" err="1">
                <a:solidFill>
                  <a:srgbClr val="404040"/>
                </a:solidFill>
                <a:latin typeface="Open Sans" pitchFamily="34" charset="0"/>
                <a:ea typeface="Open Sans" pitchFamily="34" charset="-122"/>
                <a:cs typeface="Open Sans" pitchFamily="34" charset="-120"/>
              </a:rPr>
              <a:t>diện</a:t>
            </a:r>
            <a:r>
              <a:rPr lang="en-US" sz="2000" dirty="0">
                <a:solidFill>
                  <a:srgbClr val="404040"/>
                </a:solidFill>
                <a:latin typeface="Open Sans" pitchFamily="34" charset="0"/>
                <a:ea typeface="Open Sans" pitchFamily="34" charset="-122"/>
                <a:cs typeface="Open Sans" pitchFamily="34" charset="-120"/>
              </a:rPr>
              <a:t> </a:t>
            </a:r>
            <a:r>
              <a:rPr lang="en-US" sz="2000" dirty="0" err="1">
                <a:solidFill>
                  <a:srgbClr val="404040"/>
                </a:solidFill>
                <a:latin typeface="Open Sans" pitchFamily="34" charset="0"/>
                <a:ea typeface="Open Sans" pitchFamily="34" charset="-122"/>
                <a:cs typeface="Open Sans" pitchFamily="34" charset="-120"/>
              </a:rPr>
              <a:t>các</a:t>
            </a:r>
            <a:r>
              <a:rPr lang="en-US" sz="2000" dirty="0">
                <a:solidFill>
                  <a:srgbClr val="404040"/>
                </a:solidFill>
                <a:latin typeface="Open Sans" pitchFamily="34" charset="0"/>
                <a:ea typeface="Open Sans" pitchFamily="34" charset="-122"/>
                <a:cs typeface="Open Sans" pitchFamily="34" charset="-120"/>
              </a:rPr>
              <a:t> bộ từ còn chứa từ mới chưa được tiếp cận.</a:t>
            </a:r>
            <a:endParaRPr lang="en-US" sz="2000" dirty="0"/>
          </a:p>
        </p:txBody>
      </p:sp>
      <p:sp>
        <p:nvSpPr>
          <p:cNvPr id="20" name="Shape 14"/>
          <p:cNvSpPr/>
          <p:nvPr/>
        </p:nvSpPr>
        <p:spPr>
          <a:xfrm>
            <a:off x="13053977" y="5949851"/>
            <a:ext cx="91438" cy="85726"/>
          </a:xfrm>
          <a:prstGeom prst="rect">
            <a:avLst/>
          </a:prstGeom>
          <a:solidFill>
            <a:srgbClr val="C1121F"/>
          </a:solidFill>
          <a:ln/>
        </p:spPr>
      </p:sp>
      <p:sp>
        <p:nvSpPr>
          <p:cNvPr id="21" name="Text 15"/>
          <p:cNvSpPr/>
          <p:nvPr/>
        </p:nvSpPr>
        <p:spPr>
          <a:xfrm>
            <a:off x="13053976" y="5835551"/>
            <a:ext cx="3884960" cy="1083053"/>
          </a:xfrm>
          <a:prstGeom prst="rect">
            <a:avLst/>
          </a:prstGeom>
          <a:noFill/>
          <a:ln/>
        </p:spPr>
        <p:txBody>
          <a:bodyPr wrap="square" lIns="340106" tIns="0" rIns="0" bIns="0" rtlCol="0" anchor="t">
            <a:spAutoFit/>
          </a:bodyPr>
          <a:lstStyle/>
          <a:p>
            <a:pPr>
              <a:lnSpc>
                <a:spcPct val="120000"/>
              </a:lnSpc>
            </a:pPr>
            <a:r>
              <a:rPr lang="en-US" sz="2000" dirty="0">
                <a:solidFill>
                  <a:srgbClr val="404040"/>
                </a:solidFill>
                <a:latin typeface="Open Sans" pitchFamily="34" charset="0"/>
                <a:ea typeface="Open Sans" pitchFamily="34" charset="-122"/>
                <a:cs typeface="Open Sans" pitchFamily="34" charset="-120"/>
              </a:rPr>
              <a:t>Giúp người dùng xác định chính xác nhiệm vụ cần thực hiện khi mở ứng dụng.</a:t>
            </a:r>
            <a:endParaRPr lang="en-US" sz="2000" dirty="0"/>
          </a:p>
        </p:txBody>
      </p:sp>
      <p:sp>
        <p:nvSpPr>
          <p:cNvPr id="22" name="Shape 16"/>
          <p:cNvSpPr/>
          <p:nvPr/>
        </p:nvSpPr>
        <p:spPr>
          <a:xfrm>
            <a:off x="1143000" y="8579645"/>
            <a:ext cx="16778068" cy="992982"/>
          </a:xfrm>
          <a:prstGeom prst="rect">
            <a:avLst/>
          </a:prstGeom>
          <a:solidFill>
            <a:srgbClr val="000000">
              <a:alpha val="0"/>
            </a:srgbClr>
          </a:solidFill>
          <a:ln/>
        </p:spPr>
      </p:sp>
      <p:sp>
        <p:nvSpPr>
          <p:cNvPr id="23" name="Shape 17"/>
          <p:cNvSpPr/>
          <p:nvPr/>
        </p:nvSpPr>
        <p:spPr>
          <a:xfrm>
            <a:off x="1143000" y="8579644"/>
            <a:ext cx="16778068" cy="14288"/>
          </a:xfrm>
          <a:prstGeom prst="rect">
            <a:avLst/>
          </a:prstGeom>
          <a:solidFill>
            <a:srgbClr val="E0E0E0"/>
          </a:solidFill>
          <a:ln/>
        </p:spPr>
      </p:sp>
      <p:sp>
        <p:nvSpPr>
          <p:cNvPr id="24" name="Text 18"/>
          <p:cNvSpPr/>
          <p:nvPr/>
        </p:nvSpPr>
        <p:spPr>
          <a:xfrm>
            <a:off x="1143000" y="8579644"/>
            <a:ext cx="16778068" cy="1044901"/>
          </a:xfrm>
          <a:prstGeom prst="rect">
            <a:avLst/>
          </a:prstGeom>
          <a:noFill/>
          <a:ln/>
        </p:spPr>
        <p:txBody>
          <a:bodyPr wrap="square" lIns="0" tIns="425196" rIns="0" bIns="0" rtlCol="0" anchor="t">
            <a:spAutoFit/>
          </a:bodyPr>
          <a:lstStyle/>
          <a:p>
            <a:r>
              <a:rPr lang="en-US" sz="2000" i="1" dirty="0">
                <a:solidFill>
                  <a:srgbClr val="404040"/>
                </a:solidFill>
                <a:latin typeface="Open Sans" pitchFamily="34" charset="0"/>
                <a:ea typeface="Open Sans" pitchFamily="34" charset="-122"/>
                <a:cs typeface="Open Sans" pitchFamily="34" charset="-120"/>
              </a:rPr>
              <a:t>Trang chủ đóng vai trò trung tâm điều khiển, cho phép người dùng theo dõi nhanh tình trạng học tập mà không cần truy cập từng màn hình riêng biệt.</a:t>
            </a:r>
            <a:endParaRPr lang="en-US" sz="2000" dirty="0"/>
          </a:p>
        </p:txBody>
      </p:sp>
      <p:sp>
        <p:nvSpPr>
          <p:cNvPr id="25" name="TextBox 24">
            <a:extLst>
              <a:ext uri="{FF2B5EF4-FFF2-40B4-BE49-F238E27FC236}">
                <a16:creationId xmlns:a16="http://schemas.microsoft.com/office/drawing/2014/main" id="{83D2032F-C423-D483-7226-51B1F310D5F2}"/>
              </a:ext>
            </a:extLst>
          </p:cNvPr>
          <p:cNvSpPr txBox="1"/>
          <p:nvPr/>
        </p:nvSpPr>
        <p:spPr>
          <a:xfrm>
            <a:off x="17831821" y="9831884"/>
            <a:ext cx="415498"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20</a:t>
            </a:r>
            <a:endParaRPr lang="vi-V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8288000" cy="10287000"/>
          </a:xfrm>
          <a:prstGeom prst="rect">
            <a:avLst/>
          </a:prstGeom>
        </p:spPr>
      </p:pic>
      <p:sp>
        <p:nvSpPr>
          <p:cNvPr id="3" name="Text 0"/>
          <p:cNvSpPr/>
          <p:nvPr/>
        </p:nvSpPr>
        <p:spPr>
          <a:xfrm>
            <a:off x="1143000" y="1163538"/>
            <a:ext cx="17145000" cy="615553"/>
          </a:xfrm>
          <a:prstGeom prst="rect">
            <a:avLst/>
          </a:prstGeom>
          <a:noFill/>
          <a:ln/>
        </p:spPr>
        <p:txBody>
          <a:bodyPr wrap="square" lIns="0" tIns="0" rIns="0" bIns="0" rtlCol="0" anchor="t">
            <a:spAutoFit/>
          </a:bodyPr>
          <a:lstStyle/>
          <a:p>
            <a:r>
              <a:rPr lang="en-US" sz="4000" b="1" dirty="0">
                <a:solidFill>
                  <a:srgbClr val="0A0A0A"/>
                </a:solidFill>
                <a:latin typeface="Montserrat Bold" pitchFamily="34" charset="0"/>
                <a:ea typeface="Montserrat Bold" pitchFamily="34" charset="-122"/>
                <a:cs typeface="Montserrat Bold" pitchFamily="34" charset="-120"/>
              </a:rPr>
              <a:t>XÂY DỰNG KHO DỮ LIỆU HỌC TẬP </a:t>
            </a:r>
            <a:r>
              <a:rPr lang="en-US" sz="4000" b="1" dirty="0" err="1">
                <a:solidFill>
                  <a:srgbClr val="0A0A0A"/>
                </a:solidFill>
                <a:latin typeface="Montserrat Bold" pitchFamily="34" charset="0"/>
                <a:ea typeface="Montserrat Bold" pitchFamily="34" charset="-122"/>
                <a:cs typeface="Montserrat Bold" pitchFamily="34" charset="-120"/>
              </a:rPr>
              <a:t>CÁ</a:t>
            </a:r>
            <a:r>
              <a:rPr lang="en-US" sz="4000" b="1" dirty="0">
                <a:solidFill>
                  <a:srgbClr val="0A0A0A"/>
                </a:solidFill>
                <a:latin typeface="Montserrat Bold" pitchFamily="34" charset="0"/>
                <a:ea typeface="Montserrat Bold" pitchFamily="34" charset="-122"/>
                <a:cs typeface="Montserrat Bold" pitchFamily="34" charset="-120"/>
              </a:rPr>
              <a:t> NHÂN</a:t>
            </a:r>
            <a:endParaRPr lang="en-US" sz="4000" dirty="0"/>
          </a:p>
        </p:txBody>
      </p:sp>
      <p:pic>
        <p:nvPicPr>
          <p:cNvPr id="4" name="Image 1" descr="preencoded.png"/>
          <p:cNvPicPr>
            <a:picLocks noChangeAspect="1"/>
          </p:cNvPicPr>
          <p:nvPr/>
        </p:nvPicPr>
        <p:blipFill>
          <a:blip r:embed="rId4"/>
          <a:stretch>
            <a:fillRect/>
          </a:stretch>
        </p:blipFill>
        <p:spPr>
          <a:xfrm>
            <a:off x="1600201" y="3083423"/>
            <a:ext cx="314326" cy="314326"/>
          </a:xfrm>
          <a:prstGeom prst="rect">
            <a:avLst/>
          </a:prstGeom>
        </p:spPr>
      </p:pic>
      <p:sp>
        <p:nvSpPr>
          <p:cNvPr id="5" name="Text 1"/>
          <p:cNvSpPr/>
          <p:nvPr/>
        </p:nvSpPr>
        <p:spPr>
          <a:xfrm>
            <a:off x="2128839" y="3049489"/>
            <a:ext cx="5106430" cy="492443"/>
          </a:xfrm>
          <a:prstGeom prst="rect">
            <a:avLst/>
          </a:prstGeom>
          <a:noFill/>
          <a:ln/>
        </p:spPr>
        <p:txBody>
          <a:bodyPr wrap="square" lIns="0" tIns="0" rIns="0" bIns="0" rtlCol="0" anchor="t">
            <a:spAutoFit/>
          </a:bodyPr>
          <a:lstStyle/>
          <a:p>
            <a:r>
              <a:rPr lang="en-US" sz="3200" b="1" dirty="0">
                <a:solidFill>
                  <a:srgbClr val="C1121F"/>
                </a:solidFill>
                <a:latin typeface="Montserrat Bold" pitchFamily="34" charset="0"/>
                <a:ea typeface="Montserrat Bold" pitchFamily="34" charset="-122"/>
                <a:cs typeface="Montserrat Bold" pitchFamily="34" charset="-120"/>
              </a:rPr>
              <a:t>QUẢN LÝ BỘ TỪ (DECK)</a:t>
            </a:r>
            <a:endParaRPr lang="en-US" sz="3200" dirty="0"/>
          </a:p>
        </p:txBody>
      </p:sp>
      <p:pic>
        <p:nvPicPr>
          <p:cNvPr id="6" name="Image 2" descr="preencoded.png"/>
          <p:cNvPicPr>
            <a:picLocks noChangeAspect="1"/>
          </p:cNvPicPr>
          <p:nvPr/>
        </p:nvPicPr>
        <p:blipFill>
          <a:blip r:embed="rId5"/>
          <a:stretch>
            <a:fillRect/>
          </a:stretch>
        </p:blipFill>
        <p:spPr>
          <a:xfrm>
            <a:off x="1628777" y="3917455"/>
            <a:ext cx="313406" cy="285750"/>
          </a:xfrm>
          <a:prstGeom prst="rect">
            <a:avLst/>
          </a:prstGeom>
        </p:spPr>
      </p:pic>
      <p:sp>
        <p:nvSpPr>
          <p:cNvPr id="7" name="Text 2"/>
          <p:cNvSpPr/>
          <p:nvPr/>
        </p:nvSpPr>
        <p:spPr>
          <a:xfrm>
            <a:off x="2228851" y="3860305"/>
            <a:ext cx="3136538" cy="310213"/>
          </a:xfrm>
          <a:prstGeom prst="rect">
            <a:avLst/>
          </a:prstGeom>
          <a:noFill/>
          <a:ln/>
        </p:spPr>
        <p:txBody>
          <a:bodyPr wrap="square" lIns="0" tIns="0" rIns="0" bIns="0" rtlCol="0" anchor="t">
            <a:spAutoFit/>
          </a:bodyPr>
          <a:lstStyle/>
          <a:p>
            <a:pPr>
              <a:lnSpc>
                <a:spcPct val="96000"/>
              </a:lnSpc>
            </a:pPr>
            <a:r>
              <a:rPr lang="en-US" sz="2100" dirty="0">
                <a:solidFill>
                  <a:srgbClr val="0A0A0A"/>
                </a:solidFill>
                <a:latin typeface="Open Sans SemiBold" pitchFamily="34" charset="0"/>
                <a:ea typeface="Open Sans SemiBold" pitchFamily="34" charset="-122"/>
                <a:cs typeface="Open Sans SemiBold" pitchFamily="34" charset="-120"/>
              </a:rPr>
              <a:t>Cấu trúc hóa nội dung</a:t>
            </a:r>
            <a:endParaRPr lang="en-US" sz="2100" dirty="0"/>
          </a:p>
        </p:txBody>
      </p:sp>
      <p:sp>
        <p:nvSpPr>
          <p:cNvPr id="8" name="Text 3"/>
          <p:cNvSpPr/>
          <p:nvPr/>
        </p:nvSpPr>
        <p:spPr>
          <a:xfrm>
            <a:off x="2228851" y="4283181"/>
            <a:ext cx="6612870" cy="713722"/>
          </a:xfrm>
          <a:prstGeom prst="rect">
            <a:avLst/>
          </a:prstGeom>
          <a:noFill/>
          <a:ln/>
        </p:spPr>
        <p:txBody>
          <a:bodyPr wrap="square" lIns="0" tIns="0" rIns="0" bIns="0" rtlCol="0" anchor="t">
            <a:spAutoFit/>
          </a:bodyPr>
          <a:lstStyle/>
          <a:p>
            <a:pPr>
              <a:lnSpc>
                <a:spcPct val="120000"/>
              </a:lnSpc>
            </a:pPr>
            <a:r>
              <a:rPr lang="en-US" sz="2000" dirty="0">
                <a:solidFill>
                  <a:srgbClr val="404040"/>
                </a:solidFill>
                <a:latin typeface="Open Sans" pitchFamily="34" charset="0"/>
                <a:ea typeface="Open Sans" pitchFamily="34" charset="-122"/>
                <a:cs typeface="Open Sans" pitchFamily="34" charset="-120"/>
              </a:rPr>
              <a:t>Tạo bộ từ theo tên, mô tả và chủ đề học tập riêng biệt (IELTS, Daily Communication...).</a:t>
            </a:r>
            <a:endParaRPr lang="en-US" sz="2000" dirty="0"/>
          </a:p>
        </p:txBody>
      </p:sp>
      <p:pic>
        <p:nvPicPr>
          <p:cNvPr id="9" name="Image 3" descr="preencoded.png"/>
          <p:cNvPicPr>
            <a:picLocks noChangeAspect="1"/>
          </p:cNvPicPr>
          <p:nvPr/>
        </p:nvPicPr>
        <p:blipFill>
          <a:blip r:embed="rId6"/>
          <a:stretch>
            <a:fillRect/>
          </a:stretch>
        </p:blipFill>
        <p:spPr>
          <a:xfrm>
            <a:off x="1646634" y="5297593"/>
            <a:ext cx="274232" cy="285750"/>
          </a:xfrm>
          <a:prstGeom prst="rect">
            <a:avLst/>
          </a:prstGeom>
        </p:spPr>
      </p:pic>
      <p:sp>
        <p:nvSpPr>
          <p:cNvPr id="10" name="Text 4"/>
          <p:cNvSpPr/>
          <p:nvPr/>
        </p:nvSpPr>
        <p:spPr>
          <a:xfrm>
            <a:off x="2228850" y="5240443"/>
            <a:ext cx="2714580" cy="310213"/>
          </a:xfrm>
          <a:prstGeom prst="rect">
            <a:avLst/>
          </a:prstGeom>
          <a:noFill/>
          <a:ln/>
        </p:spPr>
        <p:txBody>
          <a:bodyPr wrap="square" lIns="0" tIns="0" rIns="0" bIns="0" rtlCol="0" anchor="t">
            <a:spAutoFit/>
          </a:bodyPr>
          <a:lstStyle/>
          <a:p>
            <a:pPr>
              <a:lnSpc>
                <a:spcPct val="96000"/>
              </a:lnSpc>
            </a:pPr>
            <a:r>
              <a:rPr lang="en-US" sz="2100" dirty="0">
                <a:solidFill>
                  <a:srgbClr val="0A0A0A"/>
                </a:solidFill>
                <a:latin typeface="Open Sans SemiBold" pitchFamily="34" charset="0"/>
                <a:ea typeface="Open Sans SemiBold" pitchFamily="34" charset="-122"/>
                <a:cs typeface="Open Sans SemiBold" pitchFamily="34" charset="-120"/>
              </a:rPr>
              <a:t>Cơ chế xóa an toàn</a:t>
            </a:r>
            <a:endParaRPr lang="en-US" sz="2100" dirty="0"/>
          </a:p>
        </p:txBody>
      </p:sp>
      <p:sp>
        <p:nvSpPr>
          <p:cNvPr id="11" name="Text 5"/>
          <p:cNvSpPr/>
          <p:nvPr/>
        </p:nvSpPr>
        <p:spPr>
          <a:xfrm>
            <a:off x="2228851" y="5663321"/>
            <a:ext cx="6612870" cy="713722"/>
          </a:xfrm>
          <a:prstGeom prst="rect">
            <a:avLst/>
          </a:prstGeom>
          <a:noFill/>
          <a:ln/>
        </p:spPr>
        <p:txBody>
          <a:bodyPr wrap="square" lIns="0" tIns="0" rIns="0" bIns="0" rtlCol="0" anchor="t">
            <a:spAutoFit/>
          </a:bodyPr>
          <a:lstStyle/>
          <a:p>
            <a:pPr>
              <a:lnSpc>
                <a:spcPct val="120000"/>
              </a:lnSpc>
            </a:pPr>
            <a:r>
              <a:rPr lang="en-US" sz="2000" dirty="0">
                <a:solidFill>
                  <a:srgbClr val="404040"/>
                </a:solidFill>
                <a:latin typeface="Open Sans" pitchFamily="34" charset="0"/>
                <a:ea typeface="Open Sans" pitchFamily="34" charset="-122"/>
                <a:cs typeface="Open Sans" pitchFamily="34" charset="-120"/>
              </a:rPr>
              <a:t>Khi xóa một bộ từ, hệ thống tự động dọn dẹp toàn bộ từ vựng và dữ liệu SRS liên quan để </a:t>
            </a:r>
            <a:r>
              <a:rPr lang="en-US" sz="2000" dirty="0" err="1">
                <a:solidFill>
                  <a:srgbClr val="404040"/>
                </a:solidFill>
                <a:latin typeface="Open Sans" pitchFamily="34" charset="0"/>
                <a:ea typeface="Open Sans" pitchFamily="34" charset="-122"/>
                <a:cs typeface="Open Sans" pitchFamily="34" charset="-120"/>
              </a:rPr>
              <a:t>tối</a:t>
            </a:r>
            <a:r>
              <a:rPr lang="en-US" sz="2000" dirty="0">
                <a:solidFill>
                  <a:srgbClr val="404040"/>
                </a:solidFill>
                <a:latin typeface="Open Sans" pitchFamily="34" charset="0"/>
                <a:ea typeface="Open Sans" pitchFamily="34" charset="-122"/>
                <a:cs typeface="Open Sans" pitchFamily="34" charset="-120"/>
              </a:rPr>
              <a:t> </a:t>
            </a:r>
            <a:r>
              <a:rPr lang="en-US" sz="2000" dirty="0" err="1">
                <a:solidFill>
                  <a:srgbClr val="404040"/>
                </a:solidFill>
                <a:latin typeface="Open Sans" pitchFamily="34" charset="0"/>
                <a:ea typeface="Open Sans" pitchFamily="34" charset="-122"/>
                <a:cs typeface="Open Sans" pitchFamily="34" charset="-120"/>
              </a:rPr>
              <a:t>ưu</a:t>
            </a:r>
            <a:r>
              <a:rPr lang="en-US" sz="2000" dirty="0">
                <a:solidFill>
                  <a:srgbClr val="404040"/>
                </a:solidFill>
                <a:latin typeface="Open Sans" pitchFamily="34" charset="0"/>
                <a:ea typeface="Open Sans" pitchFamily="34" charset="-122"/>
                <a:cs typeface="Open Sans" pitchFamily="34" charset="-120"/>
              </a:rPr>
              <a:t>.</a:t>
            </a:r>
            <a:endParaRPr lang="en-US" sz="2000" dirty="0"/>
          </a:p>
        </p:txBody>
      </p:sp>
      <p:pic>
        <p:nvPicPr>
          <p:cNvPr id="12" name="Image 4" descr="preencoded.png"/>
          <p:cNvPicPr>
            <a:picLocks noChangeAspect="1"/>
          </p:cNvPicPr>
          <p:nvPr/>
        </p:nvPicPr>
        <p:blipFill>
          <a:blip r:embed="rId7"/>
          <a:stretch>
            <a:fillRect/>
          </a:stretch>
        </p:blipFill>
        <p:spPr>
          <a:xfrm>
            <a:off x="1610915" y="6677733"/>
            <a:ext cx="352582" cy="285750"/>
          </a:xfrm>
          <a:prstGeom prst="rect">
            <a:avLst/>
          </a:prstGeom>
        </p:spPr>
      </p:pic>
      <p:sp>
        <p:nvSpPr>
          <p:cNvPr id="13" name="Text 6"/>
          <p:cNvSpPr/>
          <p:nvPr/>
        </p:nvSpPr>
        <p:spPr>
          <a:xfrm>
            <a:off x="2228850" y="6620582"/>
            <a:ext cx="2682936" cy="310213"/>
          </a:xfrm>
          <a:prstGeom prst="rect">
            <a:avLst/>
          </a:prstGeom>
          <a:noFill/>
          <a:ln/>
        </p:spPr>
        <p:txBody>
          <a:bodyPr wrap="square" lIns="0" tIns="0" rIns="0" bIns="0" rtlCol="0" anchor="t">
            <a:spAutoFit/>
          </a:bodyPr>
          <a:lstStyle/>
          <a:p>
            <a:pPr>
              <a:lnSpc>
                <a:spcPct val="96000"/>
              </a:lnSpc>
            </a:pPr>
            <a:r>
              <a:rPr lang="en-US" sz="2100" dirty="0">
                <a:solidFill>
                  <a:srgbClr val="0A0A0A"/>
                </a:solidFill>
                <a:latin typeface="Open Sans SemiBold" pitchFamily="34" charset="0"/>
                <a:ea typeface="Open Sans SemiBold" pitchFamily="34" charset="-122"/>
                <a:cs typeface="Open Sans SemiBold" pitchFamily="34" charset="-120"/>
              </a:rPr>
              <a:t>Theo dõi tổng quát</a:t>
            </a:r>
            <a:endParaRPr lang="en-US" sz="2100" dirty="0"/>
          </a:p>
        </p:txBody>
      </p:sp>
      <p:sp>
        <p:nvSpPr>
          <p:cNvPr id="14" name="Text 7"/>
          <p:cNvSpPr/>
          <p:nvPr/>
        </p:nvSpPr>
        <p:spPr>
          <a:xfrm>
            <a:off x="2228851" y="7043459"/>
            <a:ext cx="6612870" cy="713722"/>
          </a:xfrm>
          <a:prstGeom prst="rect">
            <a:avLst/>
          </a:prstGeom>
          <a:noFill/>
          <a:ln/>
        </p:spPr>
        <p:txBody>
          <a:bodyPr wrap="square" lIns="0" tIns="0" rIns="0" bIns="0" rtlCol="0" anchor="t">
            <a:spAutoFit/>
          </a:bodyPr>
          <a:lstStyle/>
          <a:p>
            <a:pPr>
              <a:lnSpc>
                <a:spcPct val="120000"/>
              </a:lnSpc>
            </a:pPr>
            <a:r>
              <a:rPr lang="en-US" sz="2000" dirty="0">
                <a:solidFill>
                  <a:srgbClr val="404040"/>
                </a:solidFill>
                <a:latin typeface="Open Sans" pitchFamily="34" charset="0"/>
                <a:ea typeface="Open Sans" pitchFamily="34" charset="-122"/>
                <a:cs typeface="Open Sans" pitchFamily="34" charset="-120"/>
              </a:rPr>
              <a:t>Hiển thị chi tiết số từ đã học, số từ cần ôn và tỷ lệ hoàn thành cho từng bộ từ.</a:t>
            </a:r>
            <a:endParaRPr lang="en-US" sz="2000" dirty="0"/>
          </a:p>
        </p:txBody>
      </p:sp>
      <p:pic>
        <p:nvPicPr>
          <p:cNvPr id="15" name="Image 5" descr="preencoded.png"/>
          <p:cNvPicPr>
            <a:picLocks noChangeAspect="1"/>
          </p:cNvPicPr>
          <p:nvPr/>
        </p:nvPicPr>
        <p:blipFill>
          <a:blip r:embed="rId8"/>
          <a:stretch>
            <a:fillRect/>
          </a:stretch>
        </p:blipFill>
        <p:spPr>
          <a:xfrm>
            <a:off x="10029826" y="3083423"/>
            <a:ext cx="353616" cy="314326"/>
          </a:xfrm>
          <a:prstGeom prst="rect">
            <a:avLst/>
          </a:prstGeom>
        </p:spPr>
      </p:pic>
      <p:sp>
        <p:nvSpPr>
          <p:cNvPr id="16" name="Text 8"/>
          <p:cNvSpPr/>
          <p:nvPr/>
        </p:nvSpPr>
        <p:spPr>
          <a:xfrm>
            <a:off x="10597755" y="3049489"/>
            <a:ext cx="5985210" cy="492443"/>
          </a:xfrm>
          <a:prstGeom prst="rect">
            <a:avLst/>
          </a:prstGeom>
          <a:noFill/>
          <a:ln/>
        </p:spPr>
        <p:txBody>
          <a:bodyPr wrap="square" lIns="0" tIns="0" rIns="0" bIns="0" rtlCol="0" anchor="t">
            <a:spAutoFit/>
          </a:bodyPr>
          <a:lstStyle/>
          <a:p>
            <a:r>
              <a:rPr lang="en-US" sz="3200" b="1" dirty="0">
                <a:solidFill>
                  <a:srgbClr val="C1121F"/>
                </a:solidFill>
                <a:latin typeface="Montserrat Bold" pitchFamily="34" charset="0"/>
                <a:ea typeface="Montserrat Bold" pitchFamily="34" charset="-122"/>
                <a:cs typeface="Montserrat Bold" pitchFamily="34" charset="-120"/>
              </a:rPr>
              <a:t>QUẢN LÝ TỪ VỰNG (WORD)</a:t>
            </a:r>
            <a:endParaRPr lang="en-US" sz="3200" dirty="0"/>
          </a:p>
        </p:txBody>
      </p:sp>
      <p:pic>
        <p:nvPicPr>
          <p:cNvPr id="17" name="Image 6" descr="preencoded.png"/>
          <p:cNvPicPr>
            <a:picLocks noChangeAspect="1"/>
          </p:cNvPicPr>
          <p:nvPr/>
        </p:nvPicPr>
        <p:blipFill>
          <a:blip r:embed="rId9"/>
          <a:stretch>
            <a:fillRect/>
          </a:stretch>
        </p:blipFill>
        <p:spPr>
          <a:xfrm>
            <a:off x="10040539" y="3917455"/>
            <a:ext cx="352582" cy="285750"/>
          </a:xfrm>
          <a:prstGeom prst="rect">
            <a:avLst/>
          </a:prstGeom>
        </p:spPr>
      </p:pic>
      <p:sp>
        <p:nvSpPr>
          <p:cNvPr id="18" name="Text 9"/>
          <p:cNvSpPr/>
          <p:nvPr/>
        </p:nvSpPr>
        <p:spPr>
          <a:xfrm>
            <a:off x="10658475" y="3860305"/>
            <a:ext cx="2398114" cy="310213"/>
          </a:xfrm>
          <a:prstGeom prst="rect">
            <a:avLst/>
          </a:prstGeom>
          <a:noFill/>
          <a:ln/>
        </p:spPr>
        <p:txBody>
          <a:bodyPr wrap="square" lIns="0" tIns="0" rIns="0" bIns="0" rtlCol="0" anchor="t">
            <a:spAutoFit/>
          </a:bodyPr>
          <a:lstStyle/>
          <a:p>
            <a:pPr>
              <a:lnSpc>
                <a:spcPct val="96000"/>
              </a:lnSpc>
            </a:pPr>
            <a:r>
              <a:rPr lang="en-US" sz="2100" dirty="0">
                <a:solidFill>
                  <a:srgbClr val="0A0A0A"/>
                </a:solidFill>
                <a:latin typeface="Open Sans SemiBold" pitchFamily="34" charset="0"/>
                <a:ea typeface="Open Sans SemiBold" pitchFamily="34" charset="-122"/>
                <a:cs typeface="Open Sans SemiBold" pitchFamily="34" charset="-120"/>
              </a:rPr>
              <a:t>Thông tin chi tiết</a:t>
            </a:r>
            <a:endParaRPr lang="en-US" sz="2100" dirty="0"/>
          </a:p>
        </p:txBody>
      </p:sp>
      <p:sp>
        <p:nvSpPr>
          <p:cNvPr id="19" name="Text 10"/>
          <p:cNvSpPr/>
          <p:nvPr/>
        </p:nvSpPr>
        <p:spPr>
          <a:xfrm>
            <a:off x="10658477" y="4283181"/>
            <a:ext cx="6612870" cy="713722"/>
          </a:xfrm>
          <a:prstGeom prst="rect">
            <a:avLst/>
          </a:prstGeom>
          <a:noFill/>
          <a:ln/>
        </p:spPr>
        <p:txBody>
          <a:bodyPr wrap="square" lIns="0" tIns="0" rIns="0" bIns="0" rtlCol="0" anchor="t">
            <a:spAutoFit/>
          </a:bodyPr>
          <a:lstStyle/>
          <a:p>
            <a:pPr>
              <a:lnSpc>
                <a:spcPct val="120000"/>
              </a:lnSpc>
            </a:pPr>
            <a:r>
              <a:rPr lang="en-US" sz="2000" dirty="0">
                <a:solidFill>
                  <a:srgbClr val="404040"/>
                </a:solidFill>
                <a:latin typeface="Open Sans" pitchFamily="34" charset="0"/>
                <a:ea typeface="Open Sans" pitchFamily="34" charset="-122"/>
                <a:cs typeface="Open Sans" pitchFamily="34" charset="-120"/>
              </a:rPr>
              <a:t>Mỗi từ vựng được lưu trữ với đầy đủ các trường dữ liệu cần thiết cho việc ghi nhớ:</a:t>
            </a:r>
            <a:endParaRPr lang="en-US" sz="2000" dirty="0"/>
          </a:p>
        </p:txBody>
      </p:sp>
      <p:sp>
        <p:nvSpPr>
          <p:cNvPr id="20" name="Shape 11"/>
          <p:cNvSpPr/>
          <p:nvPr/>
        </p:nvSpPr>
        <p:spPr>
          <a:xfrm>
            <a:off x="10658476" y="5097569"/>
            <a:ext cx="3228084" cy="489346"/>
          </a:xfrm>
          <a:prstGeom prst="rect">
            <a:avLst/>
          </a:prstGeom>
          <a:solidFill>
            <a:srgbClr val="F8F8F8"/>
          </a:solidFill>
          <a:ln w="9144">
            <a:solidFill>
              <a:srgbClr val="E0E0E0"/>
            </a:solidFill>
            <a:prstDash val="solid"/>
          </a:ln>
        </p:spPr>
      </p:sp>
      <p:sp>
        <p:nvSpPr>
          <p:cNvPr id="21" name="Text 12"/>
          <p:cNvSpPr/>
          <p:nvPr/>
        </p:nvSpPr>
        <p:spPr>
          <a:xfrm>
            <a:off x="10658476" y="5097569"/>
            <a:ext cx="3228084" cy="582724"/>
          </a:xfrm>
          <a:prstGeom prst="rect">
            <a:avLst/>
          </a:prstGeom>
          <a:noFill/>
          <a:ln/>
        </p:spPr>
        <p:txBody>
          <a:bodyPr wrap="square" lIns="136144" tIns="136144" rIns="136144" bIns="136144" rtlCol="0" anchor="t">
            <a:spAutoFit/>
          </a:bodyPr>
          <a:lstStyle/>
          <a:p>
            <a:pPr algn="ctr"/>
            <a:r>
              <a:rPr lang="en-US" sz="2000" dirty="0">
                <a:solidFill>
                  <a:srgbClr val="0A0A0A"/>
                </a:solidFill>
                <a:latin typeface="Open Sans SemiBold" pitchFamily="34" charset="0"/>
                <a:ea typeface="Open Sans SemiBold" pitchFamily="34" charset="-122"/>
                <a:cs typeface="Open Sans SemiBold" pitchFamily="34" charset="-120"/>
              </a:rPr>
              <a:t>Nghĩa tiếng Việt</a:t>
            </a:r>
            <a:endParaRPr lang="en-US" sz="2000" dirty="0"/>
          </a:p>
        </p:txBody>
      </p:sp>
      <p:sp>
        <p:nvSpPr>
          <p:cNvPr id="22" name="Shape 13"/>
          <p:cNvSpPr/>
          <p:nvPr/>
        </p:nvSpPr>
        <p:spPr>
          <a:xfrm>
            <a:off x="13744576" y="5097569"/>
            <a:ext cx="3228084" cy="489346"/>
          </a:xfrm>
          <a:prstGeom prst="rect">
            <a:avLst/>
          </a:prstGeom>
          <a:solidFill>
            <a:srgbClr val="F8F8F8"/>
          </a:solidFill>
          <a:ln w="9144">
            <a:solidFill>
              <a:srgbClr val="E0E0E0"/>
            </a:solidFill>
            <a:prstDash val="solid"/>
          </a:ln>
        </p:spPr>
      </p:sp>
      <p:sp>
        <p:nvSpPr>
          <p:cNvPr id="23" name="Text 14"/>
          <p:cNvSpPr/>
          <p:nvPr/>
        </p:nvSpPr>
        <p:spPr>
          <a:xfrm>
            <a:off x="13744576" y="5097569"/>
            <a:ext cx="3228084" cy="598112"/>
          </a:xfrm>
          <a:prstGeom prst="rect">
            <a:avLst/>
          </a:prstGeom>
          <a:noFill/>
          <a:ln/>
        </p:spPr>
        <p:txBody>
          <a:bodyPr wrap="square" lIns="136144" tIns="136144" rIns="136144" bIns="136144" rtlCol="0" anchor="t">
            <a:spAutoFit/>
          </a:bodyPr>
          <a:lstStyle/>
          <a:p>
            <a:pPr algn="ctr"/>
            <a:r>
              <a:rPr lang="en-US" sz="2100" dirty="0">
                <a:solidFill>
                  <a:srgbClr val="0A0A0A"/>
                </a:solidFill>
                <a:latin typeface="Open Sans SemiBold" pitchFamily="34" charset="0"/>
                <a:ea typeface="Open Sans SemiBold" pitchFamily="34" charset="-122"/>
                <a:cs typeface="Open Sans SemiBold" pitchFamily="34" charset="-120"/>
              </a:rPr>
              <a:t>Phiên âm</a:t>
            </a:r>
            <a:endParaRPr lang="en-US" sz="2100" dirty="0"/>
          </a:p>
        </p:txBody>
      </p:sp>
      <p:sp>
        <p:nvSpPr>
          <p:cNvPr id="24" name="Shape 15"/>
          <p:cNvSpPr/>
          <p:nvPr/>
        </p:nvSpPr>
        <p:spPr>
          <a:xfrm>
            <a:off x="10658476" y="5701215"/>
            <a:ext cx="3228084" cy="489346"/>
          </a:xfrm>
          <a:prstGeom prst="rect">
            <a:avLst/>
          </a:prstGeom>
          <a:solidFill>
            <a:srgbClr val="F8F8F8"/>
          </a:solidFill>
          <a:ln w="9144">
            <a:solidFill>
              <a:srgbClr val="E0E0E0"/>
            </a:solidFill>
            <a:prstDash val="solid"/>
          </a:ln>
        </p:spPr>
      </p:sp>
      <p:sp>
        <p:nvSpPr>
          <p:cNvPr id="25" name="Text 16"/>
          <p:cNvSpPr/>
          <p:nvPr/>
        </p:nvSpPr>
        <p:spPr>
          <a:xfrm>
            <a:off x="10658476" y="5701215"/>
            <a:ext cx="3228084" cy="582724"/>
          </a:xfrm>
          <a:prstGeom prst="rect">
            <a:avLst/>
          </a:prstGeom>
          <a:noFill/>
          <a:ln/>
        </p:spPr>
        <p:txBody>
          <a:bodyPr wrap="square" lIns="136144" tIns="136144" rIns="136144" bIns="136144" rtlCol="0" anchor="t">
            <a:spAutoFit/>
          </a:bodyPr>
          <a:lstStyle/>
          <a:p>
            <a:pPr algn="ctr"/>
            <a:r>
              <a:rPr lang="en-US" sz="2000" dirty="0">
                <a:solidFill>
                  <a:srgbClr val="0A0A0A"/>
                </a:solidFill>
                <a:latin typeface="Open Sans SemiBold" pitchFamily="34" charset="0"/>
                <a:ea typeface="Open Sans SemiBold" pitchFamily="34" charset="-122"/>
                <a:cs typeface="Open Sans SemiBold" pitchFamily="34" charset="-120"/>
              </a:rPr>
              <a:t>Ví dụ sử dụng</a:t>
            </a:r>
            <a:endParaRPr lang="en-US" sz="2000" dirty="0"/>
          </a:p>
        </p:txBody>
      </p:sp>
      <p:sp>
        <p:nvSpPr>
          <p:cNvPr id="26" name="Shape 17"/>
          <p:cNvSpPr/>
          <p:nvPr/>
        </p:nvSpPr>
        <p:spPr>
          <a:xfrm>
            <a:off x="13744576" y="5701215"/>
            <a:ext cx="3228084" cy="489346"/>
          </a:xfrm>
          <a:prstGeom prst="rect">
            <a:avLst/>
          </a:prstGeom>
          <a:solidFill>
            <a:srgbClr val="F8F8F8"/>
          </a:solidFill>
          <a:ln w="9144">
            <a:solidFill>
              <a:srgbClr val="E0E0E0"/>
            </a:solidFill>
            <a:prstDash val="solid"/>
          </a:ln>
        </p:spPr>
      </p:sp>
      <p:sp>
        <p:nvSpPr>
          <p:cNvPr id="27" name="Text 18"/>
          <p:cNvSpPr/>
          <p:nvPr/>
        </p:nvSpPr>
        <p:spPr>
          <a:xfrm>
            <a:off x="13744576" y="5701214"/>
            <a:ext cx="3228084" cy="582724"/>
          </a:xfrm>
          <a:prstGeom prst="rect">
            <a:avLst/>
          </a:prstGeom>
          <a:noFill/>
          <a:ln/>
        </p:spPr>
        <p:txBody>
          <a:bodyPr wrap="square" lIns="136144" tIns="136144" rIns="136144" bIns="136144" rtlCol="0" anchor="t">
            <a:spAutoFit/>
          </a:bodyPr>
          <a:lstStyle/>
          <a:p>
            <a:pPr algn="ctr"/>
            <a:r>
              <a:rPr lang="en-US" sz="2000" dirty="0">
                <a:solidFill>
                  <a:srgbClr val="0A0A0A"/>
                </a:solidFill>
                <a:latin typeface="Open Sans SemiBold" pitchFamily="34" charset="0"/>
                <a:ea typeface="Open Sans SemiBold" pitchFamily="34" charset="-122"/>
                <a:cs typeface="Open Sans SemiBold" pitchFamily="34" charset="-120"/>
              </a:rPr>
              <a:t>Loại từ</a:t>
            </a:r>
            <a:endParaRPr lang="en-US" sz="2000" dirty="0"/>
          </a:p>
        </p:txBody>
      </p:sp>
      <p:pic>
        <p:nvPicPr>
          <p:cNvPr id="28" name="Image 7" descr="preencoded.png"/>
          <p:cNvPicPr>
            <a:picLocks noChangeAspect="1"/>
          </p:cNvPicPr>
          <p:nvPr/>
        </p:nvPicPr>
        <p:blipFill>
          <a:blip r:embed="rId10"/>
          <a:stretch>
            <a:fillRect/>
          </a:stretch>
        </p:blipFill>
        <p:spPr>
          <a:xfrm>
            <a:off x="10058401" y="6576325"/>
            <a:ext cx="313406" cy="285750"/>
          </a:xfrm>
          <a:prstGeom prst="rect">
            <a:avLst/>
          </a:prstGeom>
        </p:spPr>
      </p:pic>
      <p:sp>
        <p:nvSpPr>
          <p:cNvPr id="29" name="Text 19"/>
          <p:cNvSpPr/>
          <p:nvPr/>
        </p:nvSpPr>
        <p:spPr>
          <a:xfrm>
            <a:off x="10658476" y="6519174"/>
            <a:ext cx="3031048" cy="310213"/>
          </a:xfrm>
          <a:prstGeom prst="rect">
            <a:avLst/>
          </a:prstGeom>
          <a:noFill/>
          <a:ln/>
        </p:spPr>
        <p:txBody>
          <a:bodyPr wrap="square" lIns="0" tIns="0" rIns="0" bIns="0" rtlCol="0" anchor="t">
            <a:spAutoFit/>
          </a:bodyPr>
          <a:lstStyle/>
          <a:p>
            <a:pPr>
              <a:lnSpc>
                <a:spcPct val="96000"/>
              </a:lnSpc>
            </a:pPr>
            <a:r>
              <a:rPr lang="en-US" sz="2100" dirty="0">
                <a:solidFill>
                  <a:srgbClr val="0A0A0A"/>
                </a:solidFill>
                <a:latin typeface="Open Sans SemiBold" pitchFamily="34" charset="0"/>
                <a:ea typeface="Open Sans SemiBold" pitchFamily="34" charset="-122"/>
                <a:cs typeface="Open Sans SemiBold" pitchFamily="34" charset="-120"/>
              </a:rPr>
              <a:t>Tìm kiếm thông minh</a:t>
            </a:r>
            <a:endParaRPr lang="en-US" sz="2100" dirty="0"/>
          </a:p>
        </p:txBody>
      </p:sp>
      <p:sp>
        <p:nvSpPr>
          <p:cNvPr id="30" name="Text 20"/>
          <p:cNvSpPr/>
          <p:nvPr/>
        </p:nvSpPr>
        <p:spPr>
          <a:xfrm>
            <a:off x="10658477" y="6942051"/>
            <a:ext cx="6612870" cy="713722"/>
          </a:xfrm>
          <a:prstGeom prst="rect">
            <a:avLst/>
          </a:prstGeom>
          <a:noFill/>
          <a:ln/>
        </p:spPr>
        <p:txBody>
          <a:bodyPr wrap="square" lIns="0" tIns="0" rIns="0" bIns="0" rtlCol="0" anchor="t">
            <a:spAutoFit/>
          </a:bodyPr>
          <a:lstStyle/>
          <a:p>
            <a:pPr>
              <a:lnSpc>
                <a:spcPct val="120000"/>
              </a:lnSpc>
            </a:pPr>
            <a:r>
              <a:rPr lang="en-US" sz="2000" dirty="0">
                <a:solidFill>
                  <a:srgbClr val="404040"/>
                </a:solidFill>
                <a:latin typeface="Open Sans" pitchFamily="34" charset="0"/>
                <a:ea typeface="Open Sans" pitchFamily="34" charset="-122"/>
                <a:cs typeface="Open Sans" pitchFamily="34" charset="-120"/>
              </a:rPr>
              <a:t>Cho phép truy xuất </a:t>
            </a:r>
            <a:r>
              <a:rPr lang="en-US" sz="2000" dirty="0" err="1">
                <a:solidFill>
                  <a:srgbClr val="404040"/>
                </a:solidFill>
                <a:latin typeface="Open Sans" pitchFamily="34" charset="0"/>
                <a:ea typeface="Open Sans" pitchFamily="34" charset="-122"/>
                <a:cs typeface="Open Sans" pitchFamily="34" charset="-120"/>
              </a:rPr>
              <a:t>nhanh</a:t>
            </a:r>
            <a:r>
              <a:rPr lang="en-US" sz="2000" dirty="0">
                <a:solidFill>
                  <a:srgbClr val="404040"/>
                </a:solidFill>
                <a:latin typeface="Open Sans" pitchFamily="34" charset="0"/>
                <a:ea typeface="Open Sans" pitchFamily="34" charset="-122"/>
                <a:cs typeface="Open Sans" pitchFamily="34" charset="-120"/>
              </a:rPr>
              <a:t> </a:t>
            </a:r>
            <a:r>
              <a:rPr lang="en-US" sz="2000" dirty="0" err="1">
                <a:solidFill>
                  <a:srgbClr val="404040"/>
                </a:solidFill>
                <a:latin typeface="Open Sans" pitchFamily="34" charset="0"/>
                <a:ea typeface="Open Sans" pitchFamily="34" charset="-122"/>
                <a:cs typeface="Open Sans" pitchFamily="34" charset="-120"/>
              </a:rPr>
              <a:t>dựa</a:t>
            </a:r>
            <a:r>
              <a:rPr lang="en-US" sz="2000" dirty="0">
                <a:solidFill>
                  <a:srgbClr val="404040"/>
                </a:solidFill>
                <a:latin typeface="Open Sans" pitchFamily="34" charset="0"/>
                <a:ea typeface="Open Sans" pitchFamily="34" charset="-122"/>
                <a:cs typeface="Open Sans" pitchFamily="34" charset="-120"/>
              </a:rPr>
              <a:t> trên tên từ, nghĩa hoặc các nội dung liên quan trong kho dữ liệu.</a:t>
            </a:r>
            <a:endParaRPr lang="en-US" sz="2000" dirty="0"/>
          </a:p>
        </p:txBody>
      </p:sp>
      <p:sp>
        <p:nvSpPr>
          <p:cNvPr id="31" name="TextBox 30">
            <a:extLst>
              <a:ext uri="{FF2B5EF4-FFF2-40B4-BE49-F238E27FC236}">
                <a16:creationId xmlns:a16="http://schemas.microsoft.com/office/drawing/2014/main" id="{B08536B6-09DB-7241-1AE2-AE856442D3D0}"/>
              </a:ext>
            </a:extLst>
          </p:cNvPr>
          <p:cNvSpPr txBox="1"/>
          <p:nvPr/>
        </p:nvSpPr>
        <p:spPr>
          <a:xfrm>
            <a:off x="17831821" y="9831884"/>
            <a:ext cx="415498"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21</a:t>
            </a:r>
            <a:endParaRPr lang="vi-V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8288000" cy="10287000"/>
          </a:xfrm>
          <a:prstGeom prst="rect">
            <a:avLst/>
          </a:prstGeom>
        </p:spPr>
      </p:pic>
      <p:sp>
        <p:nvSpPr>
          <p:cNvPr id="3" name="Text 0"/>
          <p:cNvSpPr/>
          <p:nvPr/>
        </p:nvSpPr>
        <p:spPr>
          <a:xfrm>
            <a:off x="1143000" y="1163538"/>
            <a:ext cx="17145000" cy="615553"/>
          </a:xfrm>
          <a:prstGeom prst="rect">
            <a:avLst/>
          </a:prstGeom>
          <a:noFill/>
          <a:ln/>
        </p:spPr>
        <p:txBody>
          <a:bodyPr wrap="square" lIns="0" tIns="0" rIns="0" bIns="0" rtlCol="0" anchor="t">
            <a:spAutoFit/>
          </a:bodyPr>
          <a:lstStyle/>
          <a:p>
            <a:r>
              <a:rPr lang="en-US" sz="4000" b="1" dirty="0">
                <a:solidFill>
                  <a:srgbClr val="0A0A0A"/>
                </a:solidFill>
                <a:latin typeface="Montserrat Bold" pitchFamily="34" charset="0"/>
                <a:ea typeface="Montserrat Bold" pitchFamily="34" charset="-122"/>
                <a:cs typeface="Montserrat Bold" pitchFamily="34" charset="-120"/>
              </a:rPr>
              <a:t>TỐI ƯU HÓA NHẬP LIỆU THÔNG QUA API VÀ TỆP CSV</a:t>
            </a:r>
            <a:endParaRPr lang="en-US" sz="4000" dirty="0"/>
          </a:p>
        </p:txBody>
      </p:sp>
      <p:pic>
        <p:nvPicPr>
          <p:cNvPr id="4" name="Image 1" descr="preencoded.png"/>
          <p:cNvPicPr>
            <a:picLocks noChangeAspect="1"/>
          </p:cNvPicPr>
          <p:nvPr/>
        </p:nvPicPr>
        <p:blipFill>
          <a:blip r:embed="rId4"/>
          <a:stretch>
            <a:fillRect/>
          </a:stretch>
        </p:blipFill>
        <p:spPr>
          <a:xfrm>
            <a:off x="1600201" y="3083423"/>
            <a:ext cx="314326" cy="314326"/>
          </a:xfrm>
          <a:prstGeom prst="rect">
            <a:avLst/>
          </a:prstGeom>
        </p:spPr>
      </p:pic>
      <p:sp>
        <p:nvSpPr>
          <p:cNvPr id="5" name="Text 1"/>
          <p:cNvSpPr/>
          <p:nvPr/>
        </p:nvSpPr>
        <p:spPr>
          <a:xfrm>
            <a:off x="2128838" y="3049489"/>
            <a:ext cx="5414962" cy="492443"/>
          </a:xfrm>
          <a:prstGeom prst="rect">
            <a:avLst/>
          </a:prstGeom>
          <a:noFill/>
          <a:ln/>
        </p:spPr>
        <p:txBody>
          <a:bodyPr wrap="square" lIns="0" tIns="0" rIns="0" bIns="0" rtlCol="0" anchor="t">
            <a:spAutoFit/>
          </a:bodyPr>
          <a:lstStyle/>
          <a:p>
            <a:r>
              <a:rPr lang="en-US" sz="3200" b="1" dirty="0">
                <a:solidFill>
                  <a:srgbClr val="C1121F"/>
                </a:solidFill>
                <a:latin typeface="Montserrat Bold" pitchFamily="34" charset="0"/>
                <a:ea typeface="Montserrat Bold" pitchFamily="34" charset="-122"/>
                <a:cs typeface="Montserrat Bold" pitchFamily="34" charset="-120"/>
              </a:rPr>
              <a:t>QUY TRÌNH TRA CỨU API</a:t>
            </a:r>
            <a:endParaRPr lang="en-US" sz="3200" dirty="0"/>
          </a:p>
        </p:txBody>
      </p:sp>
      <p:sp>
        <p:nvSpPr>
          <p:cNvPr id="6" name="Shape 2"/>
          <p:cNvSpPr/>
          <p:nvPr/>
        </p:nvSpPr>
        <p:spPr>
          <a:xfrm>
            <a:off x="1600201" y="3788867"/>
            <a:ext cx="428626" cy="428626"/>
          </a:xfrm>
          <a:prstGeom prst="rect">
            <a:avLst/>
          </a:prstGeom>
          <a:solidFill>
            <a:srgbClr val="0A0A0A"/>
          </a:solidFill>
          <a:ln/>
        </p:spPr>
      </p:sp>
      <p:sp>
        <p:nvSpPr>
          <p:cNvPr id="7" name="Text 3"/>
          <p:cNvSpPr/>
          <p:nvPr/>
        </p:nvSpPr>
        <p:spPr>
          <a:xfrm>
            <a:off x="1677457" y="3849291"/>
            <a:ext cx="274113" cy="307777"/>
          </a:xfrm>
          <a:prstGeom prst="rect">
            <a:avLst/>
          </a:prstGeom>
          <a:noFill/>
          <a:ln/>
        </p:spPr>
        <p:txBody>
          <a:bodyPr wrap="none" lIns="0" tIns="0" rIns="0" bIns="0" rtlCol="0" anchor="ctr">
            <a:spAutoFit/>
          </a:bodyPr>
          <a:lstStyle/>
          <a:p>
            <a:pPr algn="ctr"/>
            <a:r>
              <a:rPr lang="en-US" sz="2000" b="1" dirty="0">
                <a:solidFill>
                  <a:srgbClr val="FFFFFF"/>
                </a:solidFill>
                <a:latin typeface="Montserrat Bold" pitchFamily="34" charset="0"/>
                <a:ea typeface="Montserrat Bold" pitchFamily="34" charset="-122"/>
                <a:cs typeface="Montserrat Bold" pitchFamily="34" charset="-120"/>
              </a:rPr>
              <a:t>01</a:t>
            </a:r>
            <a:endParaRPr lang="en-US" sz="2000" dirty="0"/>
          </a:p>
        </p:txBody>
      </p:sp>
      <p:sp>
        <p:nvSpPr>
          <p:cNvPr id="8" name="Text 4"/>
          <p:cNvSpPr/>
          <p:nvPr/>
        </p:nvSpPr>
        <p:spPr>
          <a:xfrm>
            <a:off x="2243138" y="3853161"/>
            <a:ext cx="4547720" cy="325923"/>
          </a:xfrm>
          <a:prstGeom prst="rect">
            <a:avLst/>
          </a:prstGeom>
          <a:noFill/>
          <a:ln/>
        </p:spPr>
        <p:txBody>
          <a:bodyPr wrap="none" lIns="0" tIns="0" rIns="0" bIns="0" rtlCol="0" anchor="t">
            <a:spAutoFit/>
          </a:bodyPr>
          <a:lstStyle/>
          <a:p>
            <a:pPr>
              <a:lnSpc>
                <a:spcPct val="112000"/>
              </a:lnSpc>
            </a:pPr>
            <a:r>
              <a:rPr lang="en-US" sz="2000" dirty="0">
                <a:solidFill>
                  <a:srgbClr val="404040"/>
                </a:solidFill>
                <a:latin typeface="Open Sans" pitchFamily="34" charset="0"/>
                <a:ea typeface="Open Sans" pitchFamily="34" charset="-122"/>
                <a:cs typeface="Open Sans" pitchFamily="34" charset="-120"/>
              </a:rPr>
              <a:t>Người dùng nhập từ khóa cần tra cứu.</a:t>
            </a:r>
            <a:endParaRPr lang="en-US" sz="2000" dirty="0"/>
          </a:p>
        </p:txBody>
      </p:sp>
      <p:sp>
        <p:nvSpPr>
          <p:cNvPr id="9" name="Shape 5"/>
          <p:cNvSpPr/>
          <p:nvPr/>
        </p:nvSpPr>
        <p:spPr>
          <a:xfrm>
            <a:off x="1600201" y="4574679"/>
            <a:ext cx="428626" cy="428626"/>
          </a:xfrm>
          <a:prstGeom prst="rect">
            <a:avLst/>
          </a:prstGeom>
          <a:solidFill>
            <a:srgbClr val="0A0A0A"/>
          </a:solidFill>
          <a:ln/>
        </p:spPr>
      </p:sp>
      <p:sp>
        <p:nvSpPr>
          <p:cNvPr id="10" name="Text 6"/>
          <p:cNvSpPr/>
          <p:nvPr/>
        </p:nvSpPr>
        <p:spPr>
          <a:xfrm>
            <a:off x="1651809" y="4635103"/>
            <a:ext cx="325409" cy="307777"/>
          </a:xfrm>
          <a:prstGeom prst="rect">
            <a:avLst/>
          </a:prstGeom>
          <a:noFill/>
          <a:ln/>
        </p:spPr>
        <p:txBody>
          <a:bodyPr wrap="none" lIns="0" tIns="0" rIns="0" bIns="0" rtlCol="0" anchor="ctr">
            <a:spAutoFit/>
          </a:bodyPr>
          <a:lstStyle/>
          <a:p>
            <a:pPr algn="ctr"/>
            <a:r>
              <a:rPr lang="en-US" sz="2000" b="1" dirty="0">
                <a:solidFill>
                  <a:srgbClr val="FFFFFF"/>
                </a:solidFill>
                <a:latin typeface="Montserrat Bold" pitchFamily="34" charset="0"/>
                <a:ea typeface="Montserrat Bold" pitchFamily="34" charset="-122"/>
                <a:cs typeface="Montserrat Bold" pitchFamily="34" charset="-120"/>
              </a:rPr>
              <a:t>02</a:t>
            </a:r>
            <a:endParaRPr lang="en-US" sz="2000" dirty="0"/>
          </a:p>
        </p:txBody>
      </p:sp>
      <p:sp>
        <p:nvSpPr>
          <p:cNvPr id="11" name="Text 7"/>
          <p:cNvSpPr/>
          <p:nvPr/>
        </p:nvSpPr>
        <p:spPr>
          <a:xfrm>
            <a:off x="2243138" y="4638973"/>
            <a:ext cx="4865114" cy="325923"/>
          </a:xfrm>
          <a:prstGeom prst="rect">
            <a:avLst/>
          </a:prstGeom>
          <a:noFill/>
          <a:ln/>
        </p:spPr>
        <p:txBody>
          <a:bodyPr wrap="none" lIns="0" tIns="0" rIns="0" bIns="0" rtlCol="0" anchor="t">
            <a:spAutoFit/>
          </a:bodyPr>
          <a:lstStyle/>
          <a:p>
            <a:pPr>
              <a:lnSpc>
                <a:spcPct val="112000"/>
              </a:lnSpc>
            </a:pPr>
            <a:r>
              <a:rPr lang="en-US" sz="2000" dirty="0">
                <a:solidFill>
                  <a:srgbClr val="404040"/>
                </a:solidFill>
                <a:latin typeface="Open Sans" pitchFamily="34" charset="0"/>
                <a:ea typeface="Open Sans" pitchFamily="34" charset="-122"/>
                <a:cs typeface="Open Sans" pitchFamily="34" charset="-120"/>
              </a:rPr>
              <a:t>Hệ thống gửi yêu cầu đến Dictionary API.</a:t>
            </a:r>
            <a:endParaRPr lang="en-US" sz="2000" dirty="0"/>
          </a:p>
        </p:txBody>
      </p:sp>
      <p:sp>
        <p:nvSpPr>
          <p:cNvPr id="12" name="Shape 8"/>
          <p:cNvSpPr/>
          <p:nvPr/>
        </p:nvSpPr>
        <p:spPr>
          <a:xfrm>
            <a:off x="1600201" y="5360493"/>
            <a:ext cx="428626" cy="428626"/>
          </a:xfrm>
          <a:prstGeom prst="rect">
            <a:avLst/>
          </a:prstGeom>
          <a:solidFill>
            <a:srgbClr val="0A0A0A"/>
          </a:solidFill>
          <a:ln/>
        </p:spPr>
      </p:sp>
      <p:sp>
        <p:nvSpPr>
          <p:cNvPr id="13" name="Text 9"/>
          <p:cNvSpPr/>
          <p:nvPr/>
        </p:nvSpPr>
        <p:spPr>
          <a:xfrm>
            <a:off x="1652610" y="5420917"/>
            <a:ext cx="323807" cy="307777"/>
          </a:xfrm>
          <a:prstGeom prst="rect">
            <a:avLst/>
          </a:prstGeom>
          <a:noFill/>
          <a:ln/>
        </p:spPr>
        <p:txBody>
          <a:bodyPr wrap="none" lIns="0" tIns="0" rIns="0" bIns="0" rtlCol="0" anchor="ctr">
            <a:spAutoFit/>
          </a:bodyPr>
          <a:lstStyle/>
          <a:p>
            <a:pPr algn="ctr"/>
            <a:r>
              <a:rPr lang="en-US" sz="2000" b="1" dirty="0">
                <a:solidFill>
                  <a:srgbClr val="FFFFFF"/>
                </a:solidFill>
                <a:latin typeface="Montserrat Bold" pitchFamily="34" charset="0"/>
                <a:ea typeface="Montserrat Bold" pitchFamily="34" charset="-122"/>
                <a:cs typeface="Montserrat Bold" pitchFamily="34" charset="-120"/>
              </a:rPr>
              <a:t>03</a:t>
            </a:r>
            <a:endParaRPr lang="en-US" sz="2000" dirty="0"/>
          </a:p>
        </p:txBody>
      </p:sp>
      <p:sp>
        <p:nvSpPr>
          <p:cNvPr id="14" name="Text 10"/>
          <p:cNvSpPr/>
          <p:nvPr/>
        </p:nvSpPr>
        <p:spPr>
          <a:xfrm>
            <a:off x="2243139" y="5424787"/>
            <a:ext cx="5562420" cy="325923"/>
          </a:xfrm>
          <a:prstGeom prst="rect">
            <a:avLst/>
          </a:prstGeom>
          <a:noFill/>
          <a:ln/>
        </p:spPr>
        <p:txBody>
          <a:bodyPr wrap="none" lIns="0" tIns="0" rIns="0" bIns="0" rtlCol="0" anchor="t">
            <a:spAutoFit/>
          </a:bodyPr>
          <a:lstStyle/>
          <a:p>
            <a:pPr>
              <a:lnSpc>
                <a:spcPct val="112000"/>
              </a:lnSpc>
            </a:pPr>
            <a:r>
              <a:rPr lang="en-US" sz="2000" dirty="0">
                <a:solidFill>
                  <a:srgbClr val="404040"/>
                </a:solidFill>
                <a:latin typeface="Open Sans" pitchFamily="34" charset="0"/>
                <a:ea typeface="Open Sans" pitchFamily="34" charset="-122"/>
                <a:cs typeface="Open Sans" pitchFamily="34" charset="-120"/>
              </a:rPr>
              <a:t>Nhận kết quả: Phiên âm, phát âm, nghĩa, ví dụ.</a:t>
            </a:r>
            <a:endParaRPr lang="en-US" sz="2000" dirty="0"/>
          </a:p>
        </p:txBody>
      </p:sp>
      <p:sp>
        <p:nvSpPr>
          <p:cNvPr id="15" name="Shape 11"/>
          <p:cNvSpPr/>
          <p:nvPr/>
        </p:nvSpPr>
        <p:spPr>
          <a:xfrm>
            <a:off x="1600201" y="6146305"/>
            <a:ext cx="428626" cy="428626"/>
          </a:xfrm>
          <a:prstGeom prst="rect">
            <a:avLst/>
          </a:prstGeom>
          <a:solidFill>
            <a:srgbClr val="0A0A0A"/>
          </a:solidFill>
          <a:ln/>
        </p:spPr>
      </p:sp>
      <p:sp>
        <p:nvSpPr>
          <p:cNvPr id="16" name="Text 12"/>
          <p:cNvSpPr/>
          <p:nvPr/>
        </p:nvSpPr>
        <p:spPr>
          <a:xfrm>
            <a:off x="1638985" y="6206729"/>
            <a:ext cx="351057" cy="307777"/>
          </a:xfrm>
          <a:prstGeom prst="rect">
            <a:avLst/>
          </a:prstGeom>
          <a:noFill/>
          <a:ln/>
        </p:spPr>
        <p:txBody>
          <a:bodyPr wrap="none" lIns="0" tIns="0" rIns="0" bIns="0" rtlCol="0" anchor="ctr">
            <a:spAutoFit/>
          </a:bodyPr>
          <a:lstStyle/>
          <a:p>
            <a:pPr algn="ctr"/>
            <a:r>
              <a:rPr lang="en-US" sz="2000" b="1" dirty="0">
                <a:solidFill>
                  <a:srgbClr val="FFFFFF"/>
                </a:solidFill>
                <a:latin typeface="Montserrat Bold" pitchFamily="34" charset="0"/>
                <a:ea typeface="Montserrat Bold" pitchFamily="34" charset="-122"/>
                <a:cs typeface="Montserrat Bold" pitchFamily="34" charset="-120"/>
              </a:rPr>
              <a:t>04</a:t>
            </a:r>
            <a:endParaRPr lang="en-US" sz="2000" dirty="0"/>
          </a:p>
        </p:txBody>
      </p:sp>
      <p:sp>
        <p:nvSpPr>
          <p:cNvPr id="17" name="Text 13"/>
          <p:cNvSpPr/>
          <p:nvPr/>
        </p:nvSpPr>
        <p:spPr>
          <a:xfrm>
            <a:off x="2243138" y="6210599"/>
            <a:ext cx="4635884" cy="325923"/>
          </a:xfrm>
          <a:prstGeom prst="rect">
            <a:avLst/>
          </a:prstGeom>
          <a:noFill/>
          <a:ln/>
        </p:spPr>
        <p:txBody>
          <a:bodyPr wrap="none" lIns="0" tIns="0" rIns="0" bIns="0" rtlCol="0" anchor="t">
            <a:spAutoFit/>
          </a:bodyPr>
          <a:lstStyle/>
          <a:p>
            <a:pPr>
              <a:lnSpc>
                <a:spcPct val="112000"/>
              </a:lnSpc>
            </a:pPr>
            <a:r>
              <a:rPr lang="en-US" sz="2000" dirty="0">
                <a:solidFill>
                  <a:srgbClr val="404040"/>
                </a:solidFill>
                <a:latin typeface="Open Sans" pitchFamily="34" charset="0"/>
                <a:ea typeface="Open Sans" pitchFamily="34" charset="-122"/>
                <a:cs typeface="Open Sans" pitchFamily="34" charset="-120"/>
              </a:rPr>
              <a:t>Lưu trực tiếp vào bộ từ vựng đang học.</a:t>
            </a:r>
            <a:endParaRPr lang="en-US" sz="2000" dirty="0"/>
          </a:p>
        </p:txBody>
      </p:sp>
      <p:sp>
        <p:nvSpPr>
          <p:cNvPr id="18" name="Shape 14"/>
          <p:cNvSpPr/>
          <p:nvPr/>
        </p:nvSpPr>
        <p:spPr>
          <a:xfrm>
            <a:off x="1600200" y="6860678"/>
            <a:ext cx="6657976" cy="700088"/>
          </a:xfrm>
          <a:prstGeom prst="rect">
            <a:avLst/>
          </a:prstGeom>
          <a:solidFill>
            <a:srgbClr val="F8F8F8"/>
          </a:solidFill>
          <a:ln/>
        </p:spPr>
      </p:sp>
      <p:sp>
        <p:nvSpPr>
          <p:cNvPr id="19" name="Shape 15"/>
          <p:cNvSpPr/>
          <p:nvPr/>
        </p:nvSpPr>
        <p:spPr>
          <a:xfrm>
            <a:off x="1600201" y="6860678"/>
            <a:ext cx="57150" cy="700088"/>
          </a:xfrm>
          <a:prstGeom prst="rect">
            <a:avLst/>
          </a:prstGeom>
          <a:solidFill>
            <a:srgbClr val="C1121F"/>
          </a:solidFill>
          <a:ln/>
        </p:spPr>
      </p:sp>
      <p:sp>
        <p:nvSpPr>
          <p:cNvPr id="20" name="Text 16"/>
          <p:cNvSpPr/>
          <p:nvPr/>
        </p:nvSpPr>
        <p:spPr>
          <a:xfrm>
            <a:off x="1571626" y="6672192"/>
            <a:ext cx="6657976" cy="1130566"/>
          </a:xfrm>
          <a:prstGeom prst="rect">
            <a:avLst/>
          </a:prstGeom>
          <a:noFill/>
          <a:ln/>
        </p:spPr>
        <p:txBody>
          <a:bodyPr wrap="square" lIns="255016" tIns="255016" rIns="255016" bIns="255016" rtlCol="0" anchor="t">
            <a:spAutoFit/>
          </a:bodyPr>
          <a:lstStyle/>
          <a:p>
            <a:r>
              <a:rPr lang="en-US" sz="2000" dirty="0">
                <a:solidFill>
                  <a:srgbClr val="0A0A0A"/>
                </a:solidFill>
                <a:latin typeface="Open Sans" pitchFamily="34" charset="0"/>
                <a:ea typeface="Open Sans" pitchFamily="34" charset="-122"/>
                <a:cs typeface="Open Sans" pitchFamily="34" charset="-120"/>
              </a:rPr>
              <a:t>Giảm thời gian nhập liệu thủ công và nâng cao chất lượng dữ liệu.</a:t>
            </a:r>
            <a:endParaRPr lang="en-US" sz="2000" dirty="0"/>
          </a:p>
        </p:txBody>
      </p:sp>
      <p:pic>
        <p:nvPicPr>
          <p:cNvPr id="21" name="Image 2" descr="preencoded.png"/>
          <p:cNvPicPr>
            <a:picLocks noChangeAspect="1"/>
          </p:cNvPicPr>
          <p:nvPr/>
        </p:nvPicPr>
        <p:blipFill>
          <a:blip r:embed="rId5"/>
          <a:stretch>
            <a:fillRect/>
          </a:stretch>
        </p:blipFill>
        <p:spPr>
          <a:xfrm>
            <a:off x="10029826" y="3083423"/>
            <a:ext cx="235744" cy="314326"/>
          </a:xfrm>
          <a:prstGeom prst="rect">
            <a:avLst/>
          </a:prstGeom>
        </p:spPr>
      </p:pic>
      <p:sp>
        <p:nvSpPr>
          <p:cNvPr id="22" name="Text 17"/>
          <p:cNvSpPr/>
          <p:nvPr/>
        </p:nvSpPr>
        <p:spPr>
          <a:xfrm>
            <a:off x="10479882" y="3049489"/>
            <a:ext cx="3728512" cy="492443"/>
          </a:xfrm>
          <a:prstGeom prst="rect">
            <a:avLst/>
          </a:prstGeom>
          <a:noFill/>
          <a:ln/>
        </p:spPr>
        <p:txBody>
          <a:bodyPr wrap="square" lIns="0" tIns="0" rIns="0" bIns="0" rtlCol="0" anchor="t">
            <a:spAutoFit/>
          </a:bodyPr>
          <a:lstStyle/>
          <a:p>
            <a:r>
              <a:rPr lang="en-US" sz="3200" b="1" dirty="0">
                <a:solidFill>
                  <a:srgbClr val="C1121F"/>
                </a:solidFill>
                <a:latin typeface="Montserrat Bold" pitchFamily="34" charset="0"/>
                <a:ea typeface="Montserrat Bold" pitchFamily="34" charset="-122"/>
                <a:cs typeface="Montserrat Bold" pitchFamily="34" charset="-120"/>
              </a:rPr>
              <a:t>XỬ LÝ TỆP CSV</a:t>
            </a:r>
            <a:endParaRPr lang="en-US" sz="3200" dirty="0"/>
          </a:p>
        </p:txBody>
      </p:sp>
      <p:sp>
        <p:nvSpPr>
          <p:cNvPr id="23" name="Shape 18"/>
          <p:cNvSpPr/>
          <p:nvPr/>
        </p:nvSpPr>
        <p:spPr>
          <a:xfrm>
            <a:off x="10029827" y="3788867"/>
            <a:ext cx="428626" cy="428626"/>
          </a:xfrm>
          <a:prstGeom prst="rect">
            <a:avLst/>
          </a:prstGeom>
          <a:solidFill>
            <a:srgbClr val="0A0A0A"/>
          </a:solidFill>
          <a:ln/>
        </p:spPr>
      </p:sp>
      <p:sp>
        <p:nvSpPr>
          <p:cNvPr id="24" name="Text 19"/>
          <p:cNvSpPr/>
          <p:nvPr/>
        </p:nvSpPr>
        <p:spPr>
          <a:xfrm>
            <a:off x="10106281" y="3849291"/>
            <a:ext cx="275717" cy="307777"/>
          </a:xfrm>
          <a:prstGeom prst="rect">
            <a:avLst/>
          </a:prstGeom>
          <a:noFill/>
          <a:ln/>
        </p:spPr>
        <p:txBody>
          <a:bodyPr wrap="none" lIns="0" tIns="0" rIns="0" bIns="0" rtlCol="0" anchor="ctr">
            <a:spAutoFit/>
          </a:bodyPr>
          <a:lstStyle/>
          <a:p>
            <a:pPr algn="ctr"/>
            <a:r>
              <a:rPr lang="en-US" sz="2000" b="1" dirty="0">
                <a:solidFill>
                  <a:srgbClr val="FFFFFF"/>
                </a:solidFill>
                <a:latin typeface="Montserrat Bold" pitchFamily="34" charset="0"/>
                <a:ea typeface="Montserrat Bold" pitchFamily="34" charset="-122"/>
                <a:cs typeface="Montserrat Bold" pitchFamily="34" charset="-120"/>
              </a:rPr>
              <a:t>01</a:t>
            </a:r>
            <a:endParaRPr lang="en-US" sz="2000" dirty="0"/>
          </a:p>
        </p:txBody>
      </p:sp>
      <p:sp>
        <p:nvSpPr>
          <p:cNvPr id="25" name="Text 20"/>
          <p:cNvSpPr/>
          <p:nvPr/>
        </p:nvSpPr>
        <p:spPr>
          <a:xfrm>
            <a:off x="10672762" y="3853161"/>
            <a:ext cx="3826368" cy="325923"/>
          </a:xfrm>
          <a:prstGeom prst="rect">
            <a:avLst/>
          </a:prstGeom>
          <a:noFill/>
          <a:ln/>
        </p:spPr>
        <p:txBody>
          <a:bodyPr wrap="none" lIns="0" tIns="0" rIns="0" bIns="0" rtlCol="0" anchor="t">
            <a:spAutoFit/>
          </a:bodyPr>
          <a:lstStyle/>
          <a:p>
            <a:pPr>
              <a:lnSpc>
                <a:spcPct val="112000"/>
              </a:lnSpc>
            </a:pPr>
            <a:r>
              <a:rPr lang="en-US" sz="2000" dirty="0">
                <a:solidFill>
                  <a:srgbClr val="404040"/>
                </a:solidFill>
                <a:latin typeface="Open Sans" pitchFamily="34" charset="0"/>
                <a:ea typeface="Open Sans" pitchFamily="34" charset="-122"/>
                <a:cs typeface="Open Sans" pitchFamily="34" charset="-120"/>
              </a:rPr>
              <a:t>Chọn tệp CSV từ bộ nhớ thiết bị.</a:t>
            </a:r>
            <a:endParaRPr lang="en-US" sz="2000" dirty="0"/>
          </a:p>
        </p:txBody>
      </p:sp>
      <p:sp>
        <p:nvSpPr>
          <p:cNvPr id="26" name="Shape 21"/>
          <p:cNvSpPr/>
          <p:nvPr/>
        </p:nvSpPr>
        <p:spPr>
          <a:xfrm>
            <a:off x="10029827" y="4574679"/>
            <a:ext cx="428626" cy="428626"/>
          </a:xfrm>
          <a:prstGeom prst="rect">
            <a:avLst/>
          </a:prstGeom>
          <a:solidFill>
            <a:srgbClr val="0A0A0A"/>
          </a:solidFill>
          <a:ln/>
        </p:spPr>
      </p:sp>
      <p:sp>
        <p:nvSpPr>
          <p:cNvPr id="27" name="Text 22"/>
          <p:cNvSpPr/>
          <p:nvPr/>
        </p:nvSpPr>
        <p:spPr>
          <a:xfrm>
            <a:off x="10082236" y="4635103"/>
            <a:ext cx="323807" cy="307777"/>
          </a:xfrm>
          <a:prstGeom prst="rect">
            <a:avLst/>
          </a:prstGeom>
          <a:noFill/>
          <a:ln/>
        </p:spPr>
        <p:txBody>
          <a:bodyPr wrap="none" lIns="0" tIns="0" rIns="0" bIns="0" rtlCol="0" anchor="ctr">
            <a:spAutoFit/>
          </a:bodyPr>
          <a:lstStyle/>
          <a:p>
            <a:pPr algn="ctr"/>
            <a:r>
              <a:rPr lang="en-US" sz="2000" b="1" dirty="0">
                <a:solidFill>
                  <a:srgbClr val="FFFFFF"/>
                </a:solidFill>
                <a:latin typeface="Montserrat Bold" pitchFamily="34" charset="0"/>
                <a:ea typeface="Montserrat Bold" pitchFamily="34" charset="-122"/>
                <a:cs typeface="Montserrat Bold" pitchFamily="34" charset="-120"/>
              </a:rPr>
              <a:t>02</a:t>
            </a:r>
            <a:endParaRPr lang="en-US" sz="2000" dirty="0"/>
          </a:p>
        </p:txBody>
      </p:sp>
      <p:sp>
        <p:nvSpPr>
          <p:cNvPr id="28" name="Text 23"/>
          <p:cNvSpPr/>
          <p:nvPr/>
        </p:nvSpPr>
        <p:spPr>
          <a:xfrm>
            <a:off x="10672763" y="4638973"/>
            <a:ext cx="4789773" cy="325923"/>
          </a:xfrm>
          <a:prstGeom prst="rect">
            <a:avLst/>
          </a:prstGeom>
          <a:noFill/>
          <a:ln/>
        </p:spPr>
        <p:txBody>
          <a:bodyPr wrap="none" lIns="0" tIns="0" rIns="0" bIns="0" rtlCol="0" anchor="t">
            <a:spAutoFit/>
          </a:bodyPr>
          <a:lstStyle/>
          <a:p>
            <a:pPr>
              <a:lnSpc>
                <a:spcPct val="112000"/>
              </a:lnSpc>
            </a:pPr>
            <a:r>
              <a:rPr lang="en-US" sz="2000" dirty="0">
                <a:solidFill>
                  <a:srgbClr val="404040"/>
                </a:solidFill>
                <a:latin typeface="Open Sans" pitchFamily="34" charset="0"/>
                <a:ea typeface="Open Sans" pitchFamily="34" charset="-122"/>
                <a:cs typeface="Open Sans" pitchFamily="34" charset="-120"/>
              </a:rPr>
              <a:t>Hệ thống đọc và kiểm tra định dạng tệp.</a:t>
            </a:r>
            <a:endParaRPr lang="en-US" sz="2000" dirty="0"/>
          </a:p>
        </p:txBody>
      </p:sp>
      <p:sp>
        <p:nvSpPr>
          <p:cNvPr id="29" name="Shape 24"/>
          <p:cNvSpPr/>
          <p:nvPr/>
        </p:nvSpPr>
        <p:spPr>
          <a:xfrm>
            <a:off x="10029827" y="5360493"/>
            <a:ext cx="428626" cy="428626"/>
          </a:xfrm>
          <a:prstGeom prst="rect">
            <a:avLst/>
          </a:prstGeom>
          <a:solidFill>
            <a:srgbClr val="0A0A0A"/>
          </a:solidFill>
          <a:ln/>
        </p:spPr>
      </p:sp>
      <p:sp>
        <p:nvSpPr>
          <p:cNvPr id="30" name="Text 25"/>
          <p:cNvSpPr/>
          <p:nvPr/>
        </p:nvSpPr>
        <p:spPr>
          <a:xfrm>
            <a:off x="10080633" y="5420917"/>
            <a:ext cx="327013" cy="307777"/>
          </a:xfrm>
          <a:prstGeom prst="rect">
            <a:avLst/>
          </a:prstGeom>
          <a:noFill/>
          <a:ln/>
        </p:spPr>
        <p:txBody>
          <a:bodyPr wrap="none" lIns="0" tIns="0" rIns="0" bIns="0" rtlCol="0" anchor="ctr">
            <a:spAutoFit/>
          </a:bodyPr>
          <a:lstStyle/>
          <a:p>
            <a:pPr algn="ctr"/>
            <a:r>
              <a:rPr lang="en-US" sz="2000" b="1" dirty="0">
                <a:solidFill>
                  <a:srgbClr val="FFFFFF"/>
                </a:solidFill>
                <a:latin typeface="Montserrat Bold" pitchFamily="34" charset="0"/>
                <a:ea typeface="Montserrat Bold" pitchFamily="34" charset="-122"/>
                <a:cs typeface="Montserrat Bold" pitchFamily="34" charset="-120"/>
              </a:rPr>
              <a:t>03</a:t>
            </a:r>
            <a:endParaRPr lang="en-US" sz="2000" dirty="0"/>
          </a:p>
        </p:txBody>
      </p:sp>
      <p:sp>
        <p:nvSpPr>
          <p:cNvPr id="31" name="Text 26"/>
          <p:cNvSpPr/>
          <p:nvPr/>
        </p:nvSpPr>
        <p:spPr>
          <a:xfrm>
            <a:off x="10672763" y="5424787"/>
            <a:ext cx="5126403" cy="325923"/>
          </a:xfrm>
          <a:prstGeom prst="rect">
            <a:avLst/>
          </a:prstGeom>
          <a:noFill/>
          <a:ln/>
        </p:spPr>
        <p:txBody>
          <a:bodyPr wrap="none" lIns="0" tIns="0" rIns="0" bIns="0" rtlCol="0" anchor="t">
            <a:spAutoFit/>
          </a:bodyPr>
          <a:lstStyle/>
          <a:p>
            <a:pPr>
              <a:lnSpc>
                <a:spcPct val="112000"/>
              </a:lnSpc>
            </a:pPr>
            <a:r>
              <a:rPr lang="en-US" sz="2000" dirty="0">
                <a:solidFill>
                  <a:srgbClr val="404040"/>
                </a:solidFill>
                <a:latin typeface="Open Sans" pitchFamily="34" charset="0"/>
                <a:ea typeface="Open Sans" pitchFamily="34" charset="-122"/>
                <a:cs typeface="Open Sans" pitchFamily="34" charset="-120"/>
              </a:rPr>
              <a:t>Tự động tạo từ vựng và thẻ SRS tương ứng.</a:t>
            </a:r>
            <a:endParaRPr lang="en-US" sz="2000" dirty="0"/>
          </a:p>
        </p:txBody>
      </p:sp>
      <p:sp>
        <p:nvSpPr>
          <p:cNvPr id="32" name="Shape 27"/>
          <p:cNvSpPr/>
          <p:nvPr/>
        </p:nvSpPr>
        <p:spPr>
          <a:xfrm>
            <a:off x="10029827" y="6146305"/>
            <a:ext cx="428626" cy="428626"/>
          </a:xfrm>
          <a:prstGeom prst="rect">
            <a:avLst/>
          </a:prstGeom>
          <a:solidFill>
            <a:srgbClr val="0A0A0A"/>
          </a:solidFill>
          <a:ln/>
        </p:spPr>
      </p:sp>
      <p:sp>
        <p:nvSpPr>
          <p:cNvPr id="33" name="Text 28"/>
          <p:cNvSpPr/>
          <p:nvPr/>
        </p:nvSpPr>
        <p:spPr>
          <a:xfrm>
            <a:off x="10068611" y="6206729"/>
            <a:ext cx="351057" cy="307777"/>
          </a:xfrm>
          <a:prstGeom prst="rect">
            <a:avLst/>
          </a:prstGeom>
          <a:noFill/>
          <a:ln/>
        </p:spPr>
        <p:txBody>
          <a:bodyPr wrap="none" lIns="0" tIns="0" rIns="0" bIns="0" rtlCol="0" anchor="ctr">
            <a:spAutoFit/>
          </a:bodyPr>
          <a:lstStyle/>
          <a:p>
            <a:pPr algn="ctr"/>
            <a:r>
              <a:rPr lang="en-US" sz="2000" b="1" dirty="0">
                <a:solidFill>
                  <a:srgbClr val="FFFFFF"/>
                </a:solidFill>
                <a:latin typeface="Montserrat Bold" pitchFamily="34" charset="0"/>
                <a:ea typeface="Montserrat Bold" pitchFamily="34" charset="-122"/>
                <a:cs typeface="Montserrat Bold" pitchFamily="34" charset="-120"/>
              </a:rPr>
              <a:t>04</a:t>
            </a:r>
            <a:endParaRPr lang="en-US" sz="2000" dirty="0"/>
          </a:p>
        </p:txBody>
      </p:sp>
      <p:sp>
        <p:nvSpPr>
          <p:cNvPr id="34" name="Text 29"/>
          <p:cNvSpPr/>
          <p:nvPr/>
        </p:nvSpPr>
        <p:spPr>
          <a:xfrm>
            <a:off x="10672763" y="6210599"/>
            <a:ext cx="5352427" cy="325923"/>
          </a:xfrm>
          <a:prstGeom prst="rect">
            <a:avLst/>
          </a:prstGeom>
          <a:noFill/>
          <a:ln/>
        </p:spPr>
        <p:txBody>
          <a:bodyPr wrap="none" lIns="0" tIns="0" rIns="0" bIns="0" rtlCol="0" anchor="t">
            <a:spAutoFit/>
          </a:bodyPr>
          <a:lstStyle/>
          <a:p>
            <a:pPr>
              <a:lnSpc>
                <a:spcPct val="112000"/>
              </a:lnSpc>
            </a:pPr>
            <a:r>
              <a:rPr lang="en-US" sz="2000" dirty="0">
                <a:solidFill>
                  <a:srgbClr val="404040"/>
                </a:solidFill>
                <a:latin typeface="Open Sans" pitchFamily="34" charset="0"/>
                <a:ea typeface="Open Sans" pitchFamily="34" charset="-122"/>
                <a:cs typeface="Open Sans" pitchFamily="34" charset="-120"/>
              </a:rPr>
              <a:t>Đồng bộ hóa dữ liệu vào cơ sở dữ liệu Room.</a:t>
            </a:r>
            <a:endParaRPr lang="en-US" sz="2000" dirty="0"/>
          </a:p>
        </p:txBody>
      </p:sp>
      <p:sp>
        <p:nvSpPr>
          <p:cNvPr id="35" name="Shape 30"/>
          <p:cNvSpPr/>
          <p:nvPr/>
        </p:nvSpPr>
        <p:spPr>
          <a:xfrm>
            <a:off x="10029826" y="6860678"/>
            <a:ext cx="6657976" cy="700088"/>
          </a:xfrm>
          <a:prstGeom prst="rect">
            <a:avLst/>
          </a:prstGeom>
          <a:solidFill>
            <a:srgbClr val="F8F8F8"/>
          </a:solidFill>
          <a:ln/>
        </p:spPr>
      </p:sp>
      <p:sp>
        <p:nvSpPr>
          <p:cNvPr id="36" name="Shape 31"/>
          <p:cNvSpPr/>
          <p:nvPr/>
        </p:nvSpPr>
        <p:spPr>
          <a:xfrm>
            <a:off x="10029827" y="6860678"/>
            <a:ext cx="57150" cy="700088"/>
          </a:xfrm>
          <a:prstGeom prst="rect">
            <a:avLst/>
          </a:prstGeom>
          <a:solidFill>
            <a:srgbClr val="C1121F"/>
          </a:solidFill>
          <a:ln/>
        </p:spPr>
      </p:sp>
      <p:sp>
        <p:nvSpPr>
          <p:cNvPr id="37" name="Text 32"/>
          <p:cNvSpPr/>
          <p:nvPr/>
        </p:nvSpPr>
        <p:spPr>
          <a:xfrm>
            <a:off x="10012774" y="6672190"/>
            <a:ext cx="6657976" cy="1130566"/>
          </a:xfrm>
          <a:prstGeom prst="rect">
            <a:avLst/>
          </a:prstGeom>
          <a:noFill/>
          <a:ln/>
        </p:spPr>
        <p:txBody>
          <a:bodyPr wrap="square" lIns="255016" tIns="255016" rIns="255016" bIns="255016" rtlCol="0" anchor="t">
            <a:spAutoFit/>
          </a:bodyPr>
          <a:lstStyle/>
          <a:p>
            <a:r>
              <a:rPr lang="en-US" sz="2000" dirty="0">
                <a:solidFill>
                  <a:srgbClr val="0A0A0A"/>
                </a:solidFill>
                <a:latin typeface="Open Sans" pitchFamily="34" charset="0"/>
                <a:ea typeface="Open Sans" pitchFamily="34" charset="-122"/>
                <a:cs typeface="Open Sans" pitchFamily="34" charset="-120"/>
              </a:rPr>
              <a:t>Hỗ trợ Import hàng loạt và Export để sao lưu hoặc chia sẻ dữ liệu.</a:t>
            </a:r>
            <a:endParaRPr lang="en-US" sz="2000" dirty="0"/>
          </a:p>
        </p:txBody>
      </p:sp>
      <p:sp>
        <p:nvSpPr>
          <p:cNvPr id="38" name="TextBox 37">
            <a:extLst>
              <a:ext uri="{FF2B5EF4-FFF2-40B4-BE49-F238E27FC236}">
                <a16:creationId xmlns:a16="http://schemas.microsoft.com/office/drawing/2014/main" id="{C2539C0F-3C21-2626-B1F2-0A81B4EE6969}"/>
              </a:ext>
            </a:extLst>
          </p:cNvPr>
          <p:cNvSpPr txBox="1"/>
          <p:nvPr/>
        </p:nvSpPr>
        <p:spPr>
          <a:xfrm>
            <a:off x="17831821" y="9831884"/>
            <a:ext cx="415498"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22</a:t>
            </a:r>
            <a:endParaRPr lang="vi-V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8288000" cy="10287000"/>
          </a:xfrm>
          <a:prstGeom prst="rect">
            <a:avLst/>
          </a:prstGeom>
        </p:spPr>
      </p:pic>
      <p:sp>
        <p:nvSpPr>
          <p:cNvPr id="3" name="Text 0"/>
          <p:cNvSpPr/>
          <p:nvPr/>
        </p:nvSpPr>
        <p:spPr>
          <a:xfrm>
            <a:off x="1143000" y="1163539"/>
            <a:ext cx="17145000" cy="1231106"/>
          </a:xfrm>
          <a:prstGeom prst="rect">
            <a:avLst/>
          </a:prstGeom>
          <a:noFill/>
          <a:ln/>
        </p:spPr>
        <p:txBody>
          <a:bodyPr wrap="square" lIns="0" tIns="0" rIns="0" bIns="0" rtlCol="0" anchor="t">
            <a:spAutoFit/>
          </a:bodyPr>
          <a:lstStyle/>
          <a:p>
            <a:r>
              <a:rPr lang="en-US" sz="4000" b="1" dirty="0">
                <a:solidFill>
                  <a:srgbClr val="0A0A0A"/>
                </a:solidFill>
                <a:latin typeface="Montserrat Bold" pitchFamily="34" charset="0"/>
                <a:ea typeface="Montserrat Bold" pitchFamily="34" charset="-122"/>
                <a:cs typeface="Montserrat Bold" pitchFamily="34" charset="-120"/>
              </a:rPr>
              <a:t>PHƯƠNG PHÁP HỌC TẬP CHỦ ĐỘNG QUA THẺ FLASHCARD TƯƠNG TÁC</a:t>
            </a:r>
            <a:endParaRPr lang="en-US" sz="4000" dirty="0"/>
          </a:p>
        </p:txBody>
      </p:sp>
      <p:pic>
        <p:nvPicPr>
          <p:cNvPr id="4" name="Image 1" descr="preencoded.png"/>
          <p:cNvPicPr>
            <a:picLocks noChangeAspect="1"/>
          </p:cNvPicPr>
          <p:nvPr/>
        </p:nvPicPr>
        <p:blipFill>
          <a:blip r:embed="rId4"/>
          <a:stretch>
            <a:fillRect/>
          </a:stretch>
        </p:blipFill>
        <p:spPr>
          <a:xfrm>
            <a:off x="1600201" y="3640635"/>
            <a:ext cx="392906" cy="314326"/>
          </a:xfrm>
          <a:prstGeom prst="rect">
            <a:avLst/>
          </a:prstGeom>
        </p:spPr>
      </p:pic>
      <p:sp>
        <p:nvSpPr>
          <p:cNvPr id="5" name="Text 1"/>
          <p:cNvSpPr/>
          <p:nvPr/>
        </p:nvSpPr>
        <p:spPr>
          <a:xfrm>
            <a:off x="2207418" y="3606701"/>
            <a:ext cx="3812382" cy="492443"/>
          </a:xfrm>
          <a:prstGeom prst="rect">
            <a:avLst/>
          </a:prstGeom>
          <a:noFill/>
          <a:ln/>
        </p:spPr>
        <p:txBody>
          <a:bodyPr wrap="square" lIns="0" tIns="0" rIns="0" bIns="0" rtlCol="0" anchor="t">
            <a:spAutoFit/>
          </a:bodyPr>
          <a:lstStyle/>
          <a:p>
            <a:r>
              <a:rPr lang="en-US" sz="3200" b="1" dirty="0">
                <a:solidFill>
                  <a:srgbClr val="C1121F"/>
                </a:solidFill>
                <a:latin typeface="Montserrat Bold" pitchFamily="34" charset="0"/>
                <a:ea typeface="Montserrat Bold" pitchFamily="34" charset="-122"/>
                <a:cs typeface="Montserrat Bold" pitchFamily="34" charset="-120"/>
              </a:rPr>
              <a:t>CHẾ ĐỘ HỌC TẬP</a:t>
            </a:r>
            <a:endParaRPr lang="en-US" sz="3200" dirty="0"/>
          </a:p>
        </p:txBody>
      </p:sp>
      <p:pic>
        <p:nvPicPr>
          <p:cNvPr id="6" name="Image 2" descr="preencoded.png"/>
          <p:cNvPicPr>
            <a:picLocks noChangeAspect="1"/>
          </p:cNvPicPr>
          <p:nvPr/>
        </p:nvPicPr>
        <p:blipFill>
          <a:blip r:embed="rId5"/>
          <a:stretch>
            <a:fillRect/>
          </a:stretch>
        </p:blipFill>
        <p:spPr>
          <a:xfrm>
            <a:off x="1600200" y="4392514"/>
            <a:ext cx="270376" cy="257176"/>
          </a:xfrm>
          <a:prstGeom prst="rect">
            <a:avLst/>
          </a:prstGeom>
        </p:spPr>
      </p:pic>
      <p:sp>
        <p:nvSpPr>
          <p:cNvPr id="7" name="Text 2"/>
          <p:cNvSpPr/>
          <p:nvPr/>
        </p:nvSpPr>
        <p:spPr>
          <a:xfrm>
            <a:off x="2000250" y="4346078"/>
            <a:ext cx="1715612" cy="323165"/>
          </a:xfrm>
          <a:prstGeom prst="rect">
            <a:avLst/>
          </a:prstGeom>
          <a:noFill/>
          <a:ln/>
        </p:spPr>
        <p:txBody>
          <a:bodyPr wrap="square" lIns="0" tIns="0" rIns="0" bIns="0" rtlCol="0" anchor="t">
            <a:spAutoFit/>
          </a:bodyPr>
          <a:lstStyle/>
          <a:p>
            <a:r>
              <a:rPr lang="en-US" sz="2100" dirty="0">
                <a:solidFill>
                  <a:srgbClr val="0A0A0A"/>
                </a:solidFill>
                <a:latin typeface="Open Sans SemiBold" pitchFamily="34" charset="0"/>
                <a:ea typeface="Open Sans SemiBold" pitchFamily="34" charset="-122"/>
                <a:cs typeface="Open Sans SemiBold" pitchFamily="34" charset="-120"/>
              </a:rPr>
              <a:t>Chế độ Learn</a:t>
            </a:r>
            <a:endParaRPr lang="en-US" sz="2100" dirty="0"/>
          </a:p>
        </p:txBody>
      </p:sp>
      <p:sp>
        <p:nvSpPr>
          <p:cNvPr id="8" name="Text 3"/>
          <p:cNvSpPr/>
          <p:nvPr/>
        </p:nvSpPr>
        <p:spPr>
          <a:xfrm>
            <a:off x="1600198" y="4910437"/>
            <a:ext cx="7171144" cy="713722"/>
          </a:xfrm>
          <a:prstGeom prst="rect">
            <a:avLst/>
          </a:prstGeom>
          <a:noFill/>
          <a:ln/>
        </p:spPr>
        <p:txBody>
          <a:bodyPr wrap="square" lIns="0" tIns="0" rIns="0" bIns="0" rtlCol="0" anchor="t">
            <a:spAutoFit/>
          </a:bodyPr>
          <a:lstStyle/>
          <a:p>
            <a:pPr>
              <a:lnSpc>
                <a:spcPct val="120000"/>
              </a:lnSpc>
            </a:pPr>
            <a:r>
              <a:rPr lang="en-US" sz="2000" dirty="0">
                <a:solidFill>
                  <a:srgbClr val="404040"/>
                </a:solidFill>
                <a:latin typeface="Open Sans" pitchFamily="34" charset="0"/>
                <a:ea typeface="Open Sans" pitchFamily="34" charset="-122"/>
                <a:cs typeface="Open Sans" pitchFamily="34" charset="-120"/>
              </a:rPr>
              <a:t>Dành cho các từ vựng mới chưa từng học. Hệ thống lần lượt hiển thị các thẻ từ mới để người dùng làm quen và </a:t>
            </a:r>
            <a:r>
              <a:rPr lang="en-US" sz="2000" dirty="0" err="1">
                <a:solidFill>
                  <a:srgbClr val="404040"/>
                </a:solidFill>
                <a:latin typeface="Open Sans" pitchFamily="34" charset="0"/>
                <a:ea typeface="Open Sans" pitchFamily="34" charset="-122"/>
                <a:cs typeface="Open Sans" pitchFamily="34" charset="-120"/>
              </a:rPr>
              <a:t>ghi</a:t>
            </a:r>
            <a:r>
              <a:rPr lang="en-US" sz="2000" dirty="0">
                <a:solidFill>
                  <a:srgbClr val="404040"/>
                </a:solidFill>
                <a:latin typeface="Open Sans" pitchFamily="34" charset="0"/>
                <a:ea typeface="Open Sans" pitchFamily="34" charset="-122"/>
                <a:cs typeface="Open Sans" pitchFamily="34" charset="-120"/>
              </a:rPr>
              <a:t> </a:t>
            </a:r>
            <a:r>
              <a:rPr lang="en-US" sz="2000" dirty="0" err="1">
                <a:solidFill>
                  <a:srgbClr val="404040"/>
                </a:solidFill>
                <a:latin typeface="Open Sans" pitchFamily="34" charset="0"/>
                <a:ea typeface="Open Sans" pitchFamily="34" charset="-122"/>
                <a:cs typeface="Open Sans" pitchFamily="34" charset="-120"/>
              </a:rPr>
              <a:t>nhớ</a:t>
            </a:r>
            <a:r>
              <a:rPr lang="en-US" sz="2000" dirty="0">
                <a:solidFill>
                  <a:srgbClr val="404040"/>
                </a:solidFill>
                <a:latin typeface="Open Sans" pitchFamily="34" charset="0"/>
                <a:ea typeface="Open Sans" pitchFamily="34" charset="-122"/>
                <a:cs typeface="Open Sans" pitchFamily="34" charset="-120"/>
              </a:rPr>
              <a:t>.</a:t>
            </a:r>
            <a:endParaRPr lang="en-US" sz="2000" dirty="0"/>
          </a:p>
        </p:txBody>
      </p:sp>
      <p:pic>
        <p:nvPicPr>
          <p:cNvPr id="9" name="Image 3" descr="preencoded.png"/>
          <p:cNvPicPr>
            <a:picLocks noChangeAspect="1"/>
          </p:cNvPicPr>
          <p:nvPr/>
        </p:nvPicPr>
        <p:blipFill>
          <a:blip r:embed="rId6"/>
          <a:stretch>
            <a:fillRect/>
          </a:stretch>
        </p:blipFill>
        <p:spPr>
          <a:xfrm>
            <a:off x="1600200" y="5956994"/>
            <a:ext cx="270376" cy="257176"/>
          </a:xfrm>
          <a:prstGeom prst="rect">
            <a:avLst/>
          </a:prstGeom>
        </p:spPr>
      </p:pic>
      <p:sp>
        <p:nvSpPr>
          <p:cNvPr id="10" name="Text 4"/>
          <p:cNvSpPr/>
          <p:nvPr/>
        </p:nvSpPr>
        <p:spPr>
          <a:xfrm>
            <a:off x="2000250" y="5910561"/>
            <a:ext cx="1894252" cy="323165"/>
          </a:xfrm>
          <a:prstGeom prst="rect">
            <a:avLst/>
          </a:prstGeom>
          <a:noFill/>
          <a:ln/>
        </p:spPr>
        <p:txBody>
          <a:bodyPr wrap="square" lIns="0" tIns="0" rIns="0" bIns="0" rtlCol="0" anchor="t">
            <a:spAutoFit/>
          </a:bodyPr>
          <a:lstStyle/>
          <a:p>
            <a:r>
              <a:rPr lang="en-US" sz="2100" dirty="0">
                <a:solidFill>
                  <a:srgbClr val="0A0A0A"/>
                </a:solidFill>
                <a:latin typeface="Open Sans SemiBold" pitchFamily="34" charset="0"/>
                <a:ea typeface="Open Sans SemiBold" pitchFamily="34" charset="-122"/>
                <a:cs typeface="Open Sans SemiBold" pitchFamily="34" charset="-120"/>
              </a:rPr>
              <a:t>Chế độ Review</a:t>
            </a:r>
            <a:endParaRPr lang="en-US" sz="2100" dirty="0"/>
          </a:p>
        </p:txBody>
      </p:sp>
      <p:sp>
        <p:nvSpPr>
          <p:cNvPr id="11" name="Text 5"/>
          <p:cNvSpPr/>
          <p:nvPr/>
        </p:nvSpPr>
        <p:spPr>
          <a:xfrm>
            <a:off x="1600199" y="6474917"/>
            <a:ext cx="6999694" cy="1083053"/>
          </a:xfrm>
          <a:prstGeom prst="rect">
            <a:avLst/>
          </a:prstGeom>
          <a:noFill/>
          <a:ln/>
        </p:spPr>
        <p:txBody>
          <a:bodyPr wrap="square" lIns="0" tIns="0" rIns="0" bIns="0" rtlCol="0" anchor="t">
            <a:spAutoFit/>
          </a:bodyPr>
          <a:lstStyle/>
          <a:p>
            <a:pPr>
              <a:lnSpc>
                <a:spcPct val="120000"/>
              </a:lnSpc>
            </a:pPr>
            <a:r>
              <a:rPr lang="en-US" sz="2000" dirty="0">
                <a:solidFill>
                  <a:srgbClr val="404040"/>
                </a:solidFill>
                <a:latin typeface="Open Sans" pitchFamily="34" charset="0"/>
                <a:ea typeface="Open Sans" pitchFamily="34" charset="-122"/>
                <a:cs typeface="Open Sans" pitchFamily="34" charset="-120"/>
              </a:rPr>
              <a:t>Dành cho các từ đã đến hạn ôn tập. Danh sách từ được xác định chính xác bởi thuật toán SRS để tối ưu hóa khả năng ghi nhớ.</a:t>
            </a:r>
            <a:endParaRPr lang="en-US" sz="2000" dirty="0"/>
          </a:p>
        </p:txBody>
      </p:sp>
      <p:pic>
        <p:nvPicPr>
          <p:cNvPr id="12" name="Image 4" descr="preencoded.png"/>
          <p:cNvPicPr>
            <a:picLocks noChangeAspect="1"/>
          </p:cNvPicPr>
          <p:nvPr/>
        </p:nvPicPr>
        <p:blipFill>
          <a:blip r:embed="rId7"/>
          <a:stretch>
            <a:fillRect/>
          </a:stretch>
        </p:blipFill>
        <p:spPr>
          <a:xfrm>
            <a:off x="10029826" y="3640635"/>
            <a:ext cx="353616" cy="314326"/>
          </a:xfrm>
          <a:prstGeom prst="rect">
            <a:avLst/>
          </a:prstGeom>
        </p:spPr>
      </p:pic>
      <p:sp>
        <p:nvSpPr>
          <p:cNvPr id="13" name="Text 6"/>
          <p:cNvSpPr/>
          <p:nvPr/>
        </p:nvSpPr>
        <p:spPr>
          <a:xfrm>
            <a:off x="10597753" y="3606701"/>
            <a:ext cx="4348941" cy="492443"/>
          </a:xfrm>
          <a:prstGeom prst="rect">
            <a:avLst/>
          </a:prstGeom>
          <a:noFill/>
          <a:ln/>
        </p:spPr>
        <p:txBody>
          <a:bodyPr wrap="square" lIns="0" tIns="0" rIns="0" bIns="0" rtlCol="0" anchor="t">
            <a:spAutoFit/>
          </a:bodyPr>
          <a:lstStyle/>
          <a:p>
            <a:r>
              <a:rPr lang="en-US" sz="3200" b="1" dirty="0">
                <a:solidFill>
                  <a:srgbClr val="C1121F"/>
                </a:solidFill>
                <a:latin typeface="Montserrat Bold" pitchFamily="34" charset="0"/>
                <a:ea typeface="Montserrat Bold" pitchFamily="34" charset="-122"/>
                <a:cs typeface="Montserrat Bold" pitchFamily="34" charset="-120"/>
              </a:rPr>
              <a:t>CƠ CHẾ TƯƠNG TÁC</a:t>
            </a:r>
            <a:endParaRPr lang="en-US" sz="3200" dirty="0"/>
          </a:p>
        </p:txBody>
      </p:sp>
      <p:sp>
        <p:nvSpPr>
          <p:cNvPr id="14" name="Text 7"/>
          <p:cNvSpPr/>
          <p:nvPr/>
        </p:nvSpPr>
        <p:spPr>
          <a:xfrm>
            <a:off x="10029825" y="4346079"/>
            <a:ext cx="6999694" cy="323165"/>
          </a:xfrm>
          <a:prstGeom prst="rect">
            <a:avLst/>
          </a:prstGeom>
          <a:noFill/>
          <a:ln/>
        </p:spPr>
        <p:txBody>
          <a:bodyPr wrap="square" lIns="0" tIns="0" rIns="0" bIns="0" rtlCol="0" anchor="t">
            <a:spAutoFit/>
          </a:bodyPr>
          <a:lstStyle/>
          <a:p>
            <a:r>
              <a:rPr lang="en-US" sz="2100" dirty="0">
                <a:solidFill>
                  <a:srgbClr val="0A0A0A"/>
                </a:solidFill>
                <a:latin typeface="Open Sans SemiBold" pitchFamily="34" charset="0"/>
                <a:ea typeface="Open Sans SemiBold" pitchFamily="34" charset="-122"/>
                <a:cs typeface="Open Sans SemiBold" pitchFamily="34" charset="-120"/>
              </a:rPr>
              <a:t>Cấu trúc thẻ Flashcard</a:t>
            </a:r>
            <a:endParaRPr lang="en-US" sz="2100" dirty="0"/>
          </a:p>
        </p:txBody>
      </p:sp>
      <p:sp>
        <p:nvSpPr>
          <p:cNvPr id="15" name="Shape 8"/>
          <p:cNvSpPr/>
          <p:nvPr/>
        </p:nvSpPr>
        <p:spPr>
          <a:xfrm>
            <a:off x="10029825" y="4910436"/>
            <a:ext cx="6999694" cy="2050256"/>
          </a:xfrm>
          <a:prstGeom prst="rect">
            <a:avLst/>
          </a:prstGeom>
          <a:solidFill>
            <a:srgbClr val="F8F8F8"/>
          </a:solidFill>
          <a:ln w="9144">
            <a:solidFill>
              <a:srgbClr val="E0E0E0"/>
            </a:solidFill>
            <a:prstDash val="solid"/>
          </a:ln>
        </p:spPr>
      </p:sp>
      <p:sp>
        <p:nvSpPr>
          <p:cNvPr id="16" name="Text 9"/>
          <p:cNvSpPr/>
          <p:nvPr/>
        </p:nvSpPr>
        <p:spPr>
          <a:xfrm>
            <a:off x="10315575" y="5196187"/>
            <a:ext cx="6398862" cy="307777"/>
          </a:xfrm>
          <a:prstGeom prst="rect">
            <a:avLst/>
          </a:prstGeom>
          <a:noFill/>
          <a:ln/>
        </p:spPr>
        <p:txBody>
          <a:bodyPr wrap="square" lIns="0" tIns="0" rIns="0" bIns="0" rtlCol="0" anchor="t">
            <a:spAutoFit/>
          </a:bodyPr>
          <a:lstStyle/>
          <a:p>
            <a:r>
              <a:rPr lang="en-US" sz="2000" dirty="0">
                <a:solidFill>
                  <a:srgbClr val="C1121F"/>
                </a:solidFill>
                <a:latin typeface="Open Sans SemiBold" pitchFamily="34" charset="0"/>
                <a:ea typeface="Open Sans SemiBold" pitchFamily="34" charset="-122"/>
                <a:cs typeface="Open Sans SemiBold" pitchFamily="34" charset="-120"/>
              </a:rPr>
              <a:t>Mặt trước:</a:t>
            </a:r>
            <a:endParaRPr lang="en-US" sz="2000" dirty="0"/>
          </a:p>
        </p:txBody>
      </p:sp>
      <p:sp>
        <p:nvSpPr>
          <p:cNvPr id="17" name="Text 10"/>
          <p:cNvSpPr/>
          <p:nvPr/>
        </p:nvSpPr>
        <p:spPr>
          <a:xfrm>
            <a:off x="10315575" y="5578377"/>
            <a:ext cx="6398862" cy="307777"/>
          </a:xfrm>
          <a:prstGeom prst="rect">
            <a:avLst/>
          </a:prstGeom>
          <a:noFill/>
          <a:ln/>
        </p:spPr>
        <p:txBody>
          <a:bodyPr wrap="square" lIns="0" tIns="0" rIns="0" bIns="0" rtlCol="0" anchor="t">
            <a:spAutoFit/>
          </a:bodyPr>
          <a:lstStyle/>
          <a:p>
            <a:r>
              <a:rPr lang="en-US" sz="2000" dirty="0">
                <a:solidFill>
                  <a:srgbClr val="0A0A0A"/>
                </a:solidFill>
                <a:latin typeface="Open Sans" pitchFamily="34" charset="0"/>
                <a:ea typeface="Open Sans" pitchFamily="34" charset="-122"/>
                <a:cs typeface="Open Sans" pitchFamily="34" charset="-120"/>
              </a:rPr>
              <a:t>Từ tiếng Anh, Phiên âm, Loại từ.</a:t>
            </a:r>
            <a:endParaRPr lang="en-US" sz="2000" dirty="0"/>
          </a:p>
        </p:txBody>
      </p:sp>
      <p:sp>
        <p:nvSpPr>
          <p:cNvPr id="18" name="Text 11"/>
          <p:cNvSpPr/>
          <p:nvPr/>
        </p:nvSpPr>
        <p:spPr>
          <a:xfrm>
            <a:off x="10315575" y="5992715"/>
            <a:ext cx="6398862" cy="307777"/>
          </a:xfrm>
          <a:prstGeom prst="rect">
            <a:avLst/>
          </a:prstGeom>
          <a:noFill/>
          <a:ln/>
        </p:spPr>
        <p:txBody>
          <a:bodyPr wrap="square" lIns="0" tIns="0" rIns="0" bIns="0" rtlCol="0" anchor="t">
            <a:spAutoFit/>
          </a:bodyPr>
          <a:lstStyle/>
          <a:p>
            <a:r>
              <a:rPr lang="en-US" sz="2000" dirty="0">
                <a:solidFill>
                  <a:srgbClr val="C1121F"/>
                </a:solidFill>
                <a:latin typeface="Open Sans SemiBold" pitchFamily="34" charset="0"/>
                <a:ea typeface="Open Sans SemiBold" pitchFamily="34" charset="-122"/>
                <a:cs typeface="Open Sans SemiBold" pitchFamily="34" charset="-120"/>
              </a:rPr>
              <a:t>Mặt sau:</a:t>
            </a:r>
            <a:endParaRPr lang="en-US" sz="2000" dirty="0"/>
          </a:p>
        </p:txBody>
      </p:sp>
      <p:sp>
        <p:nvSpPr>
          <p:cNvPr id="19" name="Text 12"/>
          <p:cNvSpPr/>
          <p:nvPr/>
        </p:nvSpPr>
        <p:spPr>
          <a:xfrm>
            <a:off x="10315575" y="6374905"/>
            <a:ext cx="6398862" cy="307777"/>
          </a:xfrm>
          <a:prstGeom prst="rect">
            <a:avLst/>
          </a:prstGeom>
          <a:noFill/>
          <a:ln/>
        </p:spPr>
        <p:txBody>
          <a:bodyPr wrap="square" lIns="0" tIns="0" rIns="0" bIns="0" rtlCol="0" anchor="t">
            <a:spAutoFit/>
          </a:bodyPr>
          <a:lstStyle/>
          <a:p>
            <a:r>
              <a:rPr lang="en-US" sz="2000" dirty="0">
                <a:solidFill>
                  <a:srgbClr val="0A0A0A"/>
                </a:solidFill>
                <a:latin typeface="Open Sans" pitchFamily="34" charset="0"/>
                <a:ea typeface="Open Sans" pitchFamily="34" charset="-122"/>
                <a:cs typeface="Open Sans" pitchFamily="34" charset="-120"/>
              </a:rPr>
              <a:t>Nghĩa tiếng Việt, Ví dụ, Thông tin bổ sung.</a:t>
            </a:r>
            <a:endParaRPr lang="en-US" sz="2000" dirty="0"/>
          </a:p>
        </p:txBody>
      </p:sp>
      <p:sp>
        <p:nvSpPr>
          <p:cNvPr id="20" name="Text 13"/>
          <p:cNvSpPr/>
          <p:nvPr/>
        </p:nvSpPr>
        <p:spPr>
          <a:xfrm>
            <a:off x="10029825" y="7289305"/>
            <a:ext cx="6999694" cy="323165"/>
          </a:xfrm>
          <a:prstGeom prst="rect">
            <a:avLst/>
          </a:prstGeom>
          <a:noFill/>
          <a:ln/>
        </p:spPr>
        <p:txBody>
          <a:bodyPr wrap="square" lIns="0" tIns="0" rIns="0" bIns="0" rtlCol="0" anchor="t">
            <a:spAutoFit/>
          </a:bodyPr>
          <a:lstStyle/>
          <a:p>
            <a:r>
              <a:rPr lang="en-US" sz="2100" dirty="0">
                <a:solidFill>
                  <a:srgbClr val="0A0A0A"/>
                </a:solidFill>
                <a:latin typeface="Open Sans SemiBold" pitchFamily="34" charset="0"/>
                <a:ea typeface="Open Sans SemiBold" pitchFamily="34" charset="-122"/>
                <a:cs typeface="Open Sans SemiBold" pitchFamily="34" charset="-120"/>
              </a:rPr>
              <a:t>Đánh giá mức độ ghi nhớ</a:t>
            </a:r>
            <a:endParaRPr lang="en-US" sz="2100" dirty="0"/>
          </a:p>
        </p:txBody>
      </p:sp>
      <p:sp>
        <p:nvSpPr>
          <p:cNvPr id="21" name="Text 14"/>
          <p:cNvSpPr/>
          <p:nvPr/>
        </p:nvSpPr>
        <p:spPr>
          <a:xfrm>
            <a:off x="10029825" y="7853661"/>
            <a:ext cx="6999694" cy="713722"/>
          </a:xfrm>
          <a:prstGeom prst="rect">
            <a:avLst/>
          </a:prstGeom>
          <a:noFill/>
          <a:ln/>
        </p:spPr>
        <p:txBody>
          <a:bodyPr wrap="square" lIns="0" tIns="0" rIns="0" bIns="0" rtlCol="0" anchor="t">
            <a:spAutoFit/>
          </a:bodyPr>
          <a:lstStyle/>
          <a:p>
            <a:pPr>
              <a:lnSpc>
                <a:spcPct val="120000"/>
              </a:lnSpc>
            </a:pPr>
            <a:r>
              <a:rPr lang="en-US" sz="2000" dirty="0">
                <a:solidFill>
                  <a:srgbClr val="404040"/>
                </a:solidFill>
                <a:latin typeface="Open Sans" pitchFamily="34" charset="0"/>
                <a:ea typeface="Open Sans" pitchFamily="34" charset="-122"/>
                <a:cs typeface="Open Sans" pitchFamily="34" charset="-120"/>
              </a:rPr>
              <a:t>Người dùng lựa chọn 1 trong 4 mức độ để hệ thống tính toán lịch ôn tập tiếp theo:</a:t>
            </a:r>
            <a:endParaRPr lang="en-US" sz="2000" dirty="0"/>
          </a:p>
        </p:txBody>
      </p:sp>
      <p:sp>
        <p:nvSpPr>
          <p:cNvPr id="22" name="Shape 15"/>
          <p:cNvSpPr/>
          <p:nvPr/>
        </p:nvSpPr>
        <p:spPr>
          <a:xfrm>
            <a:off x="10029826" y="8710910"/>
            <a:ext cx="1637268" cy="460772"/>
          </a:xfrm>
          <a:prstGeom prst="rect">
            <a:avLst/>
          </a:prstGeom>
          <a:solidFill>
            <a:srgbClr val="C1121F"/>
          </a:solidFill>
          <a:ln/>
        </p:spPr>
      </p:sp>
      <p:sp>
        <p:nvSpPr>
          <p:cNvPr id="23" name="Text 16"/>
          <p:cNvSpPr/>
          <p:nvPr/>
        </p:nvSpPr>
        <p:spPr>
          <a:xfrm>
            <a:off x="10324771" y="8710911"/>
            <a:ext cx="1017098" cy="582724"/>
          </a:xfrm>
          <a:prstGeom prst="rect">
            <a:avLst/>
          </a:prstGeom>
          <a:noFill/>
          <a:ln/>
        </p:spPr>
        <p:txBody>
          <a:bodyPr wrap="square" lIns="136144" tIns="136144" rIns="136144" bIns="136144" rtlCol="0" anchor="t">
            <a:spAutoFit/>
          </a:bodyPr>
          <a:lstStyle/>
          <a:p>
            <a:pPr algn="ctr"/>
            <a:r>
              <a:rPr lang="en-US" sz="2000" dirty="0">
                <a:solidFill>
                  <a:srgbClr val="FFFFFF"/>
                </a:solidFill>
                <a:latin typeface="Open Sans SemiBold" pitchFamily="34" charset="0"/>
                <a:ea typeface="Open Sans SemiBold" pitchFamily="34" charset="-122"/>
                <a:cs typeface="Open Sans SemiBold" pitchFamily="34" charset="-120"/>
              </a:rPr>
              <a:t>Again</a:t>
            </a:r>
            <a:endParaRPr lang="en-US" sz="2000" dirty="0"/>
          </a:p>
        </p:txBody>
      </p:sp>
      <p:sp>
        <p:nvSpPr>
          <p:cNvPr id="24" name="Shape 17"/>
          <p:cNvSpPr/>
          <p:nvPr/>
        </p:nvSpPr>
        <p:spPr>
          <a:xfrm>
            <a:off x="11730038" y="8710910"/>
            <a:ext cx="1637268" cy="460772"/>
          </a:xfrm>
          <a:prstGeom prst="rect">
            <a:avLst/>
          </a:prstGeom>
          <a:solidFill>
            <a:srgbClr val="0A0A0A"/>
          </a:solidFill>
          <a:ln/>
        </p:spPr>
      </p:sp>
      <p:sp>
        <p:nvSpPr>
          <p:cNvPr id="25" name="Text 18"/>
          <p:cNvSpPr/>
          <p:nvPr/>
        </p:nvSpPr>
        <p:spPr>
          <a:xfrm>
            <a:off x="12066662" y="8710911"/>
            <a:ext cx="929464" cy="582724"/>
          </a:xfrm>
          <a:prstGeom prst="rect">
            <a:avLst/>
          </a:prstGeom>
          <a:noFill/>
          <a:ln/>
        </p:spPr>
        <p:txBody>
          <a:bodyPr wrap="square" lIns="136144" tIns="136144" rIns="136144" bIns="136144" rtlCol="0" anchor="t">
            <a:spAutoFit/>
          </a:bodyPr>
          <a:lstStyle/>
          <a:p>
            <a:pPr algn="ctr"/>
            <a:r>
              <a:rPr lang="en-US" sz="2000" dirty="0">
                <a:solidFill>
                  <a:srgbClr val="FFFFFF"/>
                </a:solidFill>
                <a:latin typeface="Open Sans SemiBold" pitchFamily="34" charset="0"/>
                <a:ea typeface="Open Sans SemiBold" pitchFamily="34" charset="-122"/>
                <a:cs typeface="Open Sans SemiBold" pitchFamily="34" charset="-120"/>
              </a:rPr>
              <a:t>Hard</a:t>
            </a:r>
            <a:endParaRPr lang="en-US" sz="2000" dirty="0"/>
          </a:p>
        </p:txBody>
      </p:sp>
      <p:sp>
        <p:nvSpPr>
          <p:cNvPr id="26" name="Shape 19"/>
          <p:cNvSpPr/>
          <p:nvPr/>
        </p:nvSpPr>
        <p:spPr>
          <a:xfrm>
            <a:off x="13430250" y="8710910"/>
            <a:ext cx="1637268" cy="460772"/>
          </a:xfrm>
          <a:prstGeom prst="rect">
            <a:avLst/>
          </a:prstGeom>
          <a:solidFill>
            <a:srgbClr val="0A0A0A"/>
          </a:solidFill>
          <a:ln/>
        </p:spPr>
      </p:sp>
      <p:sp>
        <p:nvSpPr>
          <p:cNvPr id="27" name="Text 20"/>
          <p:cNvSpPr/>
          <p:nvPr/>
        </p:nvSpPr>
        <p:spPr>
          <a:xfrm>
            <a:off x="13741226" y="8710911"/>
            <a:ext cx="983392" cy="582724"/>
          </a:xfrm>
          <a:prstGeom prst="rect">
            <a:avLst/>
          </a:prstGeom>
          <a:noFill/>
          <a:ln/>
        </p:spPr>
        <p:txBody>
          <a:bodyPr wrap="square" lIns="136144" tIns="136144" rIns="136144" bIns="136144" rtlCol="0" anchor="t">
            <a:spAutoFit/>
          </a:bodyPr>
          <a:lstStyle/>
          <a:p>
            <a:pPr algn="ctr"/>
            <a:r>
              <a:rPr lang="en-US" sz="2000" dirty="0">
                <a:solidFill>
                  <a:srgbClr val="FFFFFF"/>
                </a:solidFill>
                <a:latin typeface="Open Sans SemiBold" pitchFamily="34" charset="0"/>
                <a:ea typeface="Open Sans SemiBold" pitchFamily="34" charset="-122"/>
                <a:cs typeface="Open Sans SemiBold" pitchFamily="34" charset="-120"/>
              </a:rPr>
              <a:t>Good</a:t>
            </a:r>
            <a:endParaRPr lang="en-US" sz="2000" dirty="0"/>
          </a:p>
        </p:txBody>
      </p:sp>
      <p:sp>
        <p:nvSpPr>
          <p:cNvPr id="28" name="Shape 21"/>
          <p:cNvSpPr/>
          <p:nvPr/>
        </p:nvSpPr>
        <p:spPr>
          <a:xfrm>
            <a:off x="15130462" y="8710910"/>
            <a:ext cx="1637268" cy="460772"/>
          </a:xfrm>
          <a:prstGeom prst="rect">
            <a:avLst/>
          </a:prstGeom>
          <a:solidFill>
            <a:srgbClr val="0A0A0A"/>
          </a:solidFill>
          <a:ln/>
        </p:spPr>
      </p:sp>
      <p:sp>
        <p:nvSpPr>
          <p:cNvPr id="29" name="Text 22"/>
          <p:cNvSpPr/>
          <p:nvPr/>
        </p:nvSpPr>
        <p:spPr>
          <a:xfrm>
            <a:off x="15494338" y="8710911"/>
            <a:ext cx="872164" cy="582724"/>
          </a:xfrm>
          <a:prstGeom prst="rect">
            <a:avLst/>
          </a:prstGeom>
          <a:noFill/>
          <a:ln/>
        </p:spPr>
        <p:txBody>
          <a:bodyPr wrap="square" lIns="136144" tIns="136144" rIns="136144" bIns="136144" rtlCol="0" anchor="t">
            <a:spAutoFit/>
          </a:bodyPr>
          <a:lstStyle/>
          <a:p>
            <a:pPr algn="ctr"/>
            <a:r>
              <a:rPr lang="en-US" sz="2000" dirty="0">
                <a:solidFill>
                  <a:srgbClr val="FFFFFF"/>
                </a:solidFill>
                <a:latin typeface="Open Sans SemiBold" pitchFamily="34" charset="0"/>
                <a:ea typeface="Open Sans SemiBold" pitchFamily="34" charset="-122"/>
                <a:cs typeface="Open Sans SemiBold" pitchFamily="34" charset="-120"/>
              </a:rPr>
              <a:t>Easy</a:t>
            </a:r>
            <a:endParaRPr lang="en-US" sz="2000" dirty="0"/>
          </a:p>
        </p:txBody>
      </p:sp>
      <p:sp>
        <p:nvSpPr>
          <p:cNvPr id="30" name="TextBox 29">
            <a:extLst>
              <a:ext uri="{FF2B5EF4-FFF2-40B4-BE49-F238E27FC236}">
                <a16:creationId xmlns:a16="http://schemas.microsoft.com/office/drawing/2014/main" id="{A55113D3-73C1-76BD-695E-A6C061C3ADF0}"/>
              </a:ext>
            </a:extLst>
          </p:cNvPr>
          <p:cNvSpPr txBox="1"/>
          <p:nvPr/>
        </p:nvSpPr>
        <p:spPr>
          <a:xfrm>
            <a:off x="17831821" y="9831884"/>
            <a:ext cx="415498"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23</a:t>
            </a:r>
            <a:endParaRPr lang="vi-V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8288000" cy="10287000"/>
          </a:xfrm>
          <a:prstGeom prst="rect">
            <a:avLst/>
          </a:prstGeom>
        </p:spPr>
      </p:pic>
      <p:sp>
        <p:nvSpPr>
          <p:cNvPr id="3" name="Text 0"/>
          <p:cNvSpPr/>
          <p:nvPr/>
        </p:nvSpPr>
        <p:spPr>
          <a:xfrm>
            <a:off x="1143000" y="1163538"/>
            <a:ext cx="17145000" cy="615553"/>
          </a:xfrm>
          <a:prstGeom prst="rect">
            <a:avLst/>
          </a:prstGeom>
          <a:noFill/>
          <a:ln/>
        </p:spPr>
        <p:txBody>
          <a:bodyPr wrap="square" lIns="0" tIns="0" rIns="0" bIns="0" rtlCol="0" anchor="t">
            <a:spAutoFit/>
          </a:bodyPr>
          <a:lstStyle/>
          <a:p>
            <a:r>
              <a:rPr lang="en-US" sz="4000" b="1" dirty="0" err="1">
                <a:solidFill>
                  <a:srgbClr val="0A0A0A"/>
                </a:solidFill>
                <a:latin typeface="Montserrat Bold" pitchFamily="34" charset="0"/>
                <a:ea typeface="Montserrat Bold" pitchFamily="34" charset="-122"/>
                <a:cs typeface="Montserrat Bold" pitchFamily="34" charset="-120"/>
              </a:rPr>
              <a:t>THUẬT</a:t>
            </a:r>
            <a:r>
              <a:rPr lang="en-US" sz="4000" b="1" dirty="0">
                <a:solidFill>
                  <a:srgbClr val="0A0A0A"/>
                </a:solidFill>
                <a:latin typeface="Montserrat Bold" pitchFamily="34" charset="0"/>
                <a:ea typeface="Montserrat Bold" pitchFamily="34" charset="-122"/>
                <a:cs typeface="Montserrat Bold" pitchFamily="34" charset="-120"/>
              </a:rPr>
              <a:t> TOÁN SM-2</a:t>
            </a:r>
            <a:endParaRPr lang="en-US" sz="4000" dirty="0"/>
          </a:p>
        </p:txBody>
      </p:sp>
      <p:sp>
        <p:nvSpPr>
          <p:cNvPr id="4" name="Text 1"/>
          <p:cNvSpPr/>
          <p:nvPr/>
        </p:nvSpPr>
        <p:spPr>
          <a:xfrm>
            <a:off x="1143000" y="2878038"/>
            <a:ext cx="6883952" cy="492443"/>
          </a:xfrm>
          <a:prstGeom prst="rect">
            <a:avLst/>
          </a:prstGeom>
          <a:noFill/>
          <a:ln/>
        </p:spPr>
        <p:txBody>
          <a:bodyPr wrap="square" lIns="0" tIns="0" rIns="0" bIns="0" rtlCol="0" anchor="t">
            <a:spAutoFit/>
          </a:bodyPr>
          <a:lstStyle/>
          <a:p>
            <a:r>
              <a:rPr lang="en-US" sz="3200" b="1" dirty="0">
                <a:solidFill>
                  <a:srgbClr val="C1121F"/>
                </a:solidFill>
                <a:latin typeface="Montserrat Bold" pitchFamily="34" charset="0"/>
                <a:ea typeface="Montserrat Bold" pitchFamily="34" charset="-122"/>
                <a:cs typeface="Montserrat Bold" pitchFamily="34" charset="-120"/>
              </a:rPr>
              <a:t>NGUYÊN LÝ HOẠT ĐỘNG</a:t>
            </a:r>
            <a:endParaRPr lang="en-US" sz="3200" dirty="0"/>
          </a:p>
        </p:txBody>
      </p:sp>
      <p:pic>
        <p:nvPicPr>
          <p:cNvPr id="5" name="Image 1" descr="preencoded.png"/>
          <p:cNvPicPr>
            <a:picLocks noChangeAspect="1"/>
          </p:cNvPicPr>
          <p:nvPr/>
        </p:nvPicPr>
        <p:blipFill>
          <a:blip r:embed="rId4"/>
          <a:stretch>
            <a:fillRect/>
          </a:stretch>
        </p:blipFill>
        <p:spPr>
          <a:xfrm>
            <a:off x="1143000" y="3595986"/>
            <a:ext cx="214312" cy="1706464"/>
          </a:xfrm>
          <a:prstGeom prst="rect">
            <a:avLst/>
          </a:prstGeom>
        </p:spPr>
      </p:pic>
      <p:sp>
        <p:nvSpPr>
          <p:cNvPr id="6" name="Text 2"/>
          <p:cNvSpPr/>
          <p:nvPr/>
        </p:nvSpPr>
        <p:spPr>
          <a:xfrm>
            <a:off x="1571627" y="3633491"/>
            <a:ext cx="6455326" cy="323165"/>
          </a:xfrm>
          <a:prstGeom prst="rect">
            <a:avLst/>
          </a:prstGeom>
          <a:noFill/>
          <a:ln/>
        </p:spPr>
        <p:txBody>
          <a:bodyPr wrap="square" lIns="0" tIns="0" rIns="0" bIns="0" rtlCol="0" anchor="t">
            <a:spAutoFit/>
          </a:bodyPr>
          <a:lstStyle/>
          <a:p>
            <a:r>
              <a:rPr lang="en-US" sz="2100" dirty="0">
                <a:solidFill>
                  <a:srgbClr val="0A0A0A"/>
                </a:solidFill>
                <a:latin typeface="Open Sans SemiBold" pitchFamily="34" charset="0"/>
                <a:ea typeface="Open Sans SemiBold" pitchFamily="34" charset="-122"/>
                <a:cs typeface="Open Sans SemiBold" pitchFamily="34" charset="-120"/>
              </a:rPr>
              <a:t>Thông số lưu trữ</a:t>
            </a:r>
            <a:endParaRPr lang="en-US" sz="2100" dirty="0"/>
          </a:p>
        </p:txBody>
      </p:sp>
      <p:sp>
        <p:nvSpPr>
          <p:cNvPr id="7" name="Text 3"/>
          <p:cNvSpPr/>
          <p:nvPr/>
        </p:nvSpPr>
        <p:spPr>
          <a:xfrm>
            <a:off x="1571627" y="4197847"/>
            <a:ext cx="6701618" cy="713722"/>
          </a:xfrm>
          <a:prstGeom prst="rect">
            <a:avLst/>
          </a:prstGeom>
          <a:noFill/>
          <a:ln/>
        </p:spPr>
        <p:txBody>
          <a:bodyPr wrap="square" lIns="0" tIns="0" rIns="0" bIns="0" rtlCol="0" anchor="t">
            <a:spAutoFit/>
          </a:bodyPr>
          <a:lstStyle/>
          <a:p>
            <a:pPr>
              <a:lnSpc>
                <a:spcPct val="120000"/>
              </a:lnSpc>
            </a:pPr>
            <a:r>
              <a:rPr lang="en-US" sz="2000" dirty="0">
                <a:solidFill>
                  <a:srgbClr val="404040"/>
                </a:solidFill>
                <a:latin typeface="Open Sans" pitchFamily="34" charset="0"/>
                <a:ea typeface="Open Sans" pitchFamily="34" charset="-122"/>
                <a:cs typeface="Open Sans" pitchFamily="34" charset="-120"/>
              </a:rPr>
              <a:t>Mỗi từ vựng được lưu trữ các thông số: </a:t>
            </a:r>
            <a:r>
              <a:rPr lang="en-US" sz="2000" b="1" dirty="0">
                <a:solidFill>
                  <a:srgbClr val="404040"/>
                </a:solidFill>
                <a:latin typeface="Open Sans SemiBold" pitchFamily="34" charset="0"/>
                <a:ea typeface="Open Sans SemiBold" pitchFamily="34" charset="-122"/>
                <a:cs typeface="Open Sans SemiBold" pitchFamily="34" charset="-120"/>
              </a:rPr>
              <a:t>Ease Factor</a:t>
            </a:r>
            <a:r>
              <a:rPr lang="en-US" sz="2000" dirty="0">
                <a:solidFill>
                  <a:srgbClr val="404040"/>
                </a:solidFill>
                <a:latin typeface="Open Sans" pitchFamily="34" charset="0"/>
                <a:ea typeface="Open Sans" pitchFamily="34" charset="-122"/>
                <a:cs typeface="Open Sans" pitchFamily="34" charset="-120"/>
              </a:rPr>
              <a:t> (Độ dễ), </a:t>
            </a:r>
            <a:r>
              <a:rPr lang="en-US" sz="2000" b="1" dirty="0">
                <a:solidFill>
                  <a:srgbClr val="404040"/>
                </a:solidFill>
                <a:latin typeface="Open Sans SemiBold" pitchFamily="34" charset="0"/>
                <a:ea typeface="Open Sans SemiBold" pitchFamily="34" charset="-122"/>
                <a:cs typeface="Open Sans SemiBold" pitchFamily="34" charset="-120"/>
              </a:rPr>
              <a:t>Interval</a:t>
            </a:r>
            <a:r>
              <a:rPr lang="en-US" sz="2000" dirty="0">
                <a:solidFill>
                  <a:srgbClr val="404040"/>
                </a:solidFill>
                <a:latin typeface="Open Sans" pitchFamily="34" charset="0"/>
                <a:ea typeface="Open Sans" pitchFamily="34" charset="-122"/>
                <a:cs typeface="Open Sans" pitchFamily="34" charset="-120"/>
              </a:rPr>
              <a:t> (Khoảng cách), </a:t>
            </a:r>
            <a:r>
              <a:rPr lang="en-US" sz="2000" b="1" dirty="0">
                <a:solidFill>
                  <a:srgbClr val="404040"/>
                </a:solidFill>
                <a:latin typeface="Open Sans SemiBold" pitchFamily="34" charset="0"/>
                <a:ea typeface="Open Sans SemiBold" pitchFamily="34" charset="-122"/>
                <a:cs typeface="Open Sans SemiBold" pitchFamily="34" charset="-120"/>
              </a:rPr>
              <a:t>Repetitions</a:t>
            </a:r>
            <a:r>
              <a:rPr lang="en-US" sz="2000" dirty="0">
                <a:solidFill>
                  <a:srgbClr val="404040"/>
                </a:solidFill>
                <a:latin typeface="Open Sans" pitchFamily="34" charset="0"/>
                <a:ea typeface="Open Sans" pitchFamily="34" charset="-122"/>
                <a:cs typeface="Open Sans" pitchFamily="34" charset="-120"/>
              </a:rPr>
              <a:t> (Số lần lặp).</a:t>
            </a:r>
            <a:endParaRPr lang="en-US" sz="2000" dirty="0"/>
          </a:p>
        </p:txBody>
      </p:sp>
      <p:pic>
        <p:nvPicPr>
          <p:cNvPr id="8" name="Image 2" descr="preencoded.png"/>
          <p:cNvPicPr>
            <a:picLocks noChangeAspect="1"/>
          </p:cNvPicPr>
          <p:nvPr/>
        </p:nvPicPr>
        <p:blipFill>
          <a:blip r:embed="rId5"/>
          <a:stretch>
            <a:fillRect/>
          </a:stretch>
        </p:blipFill>
        <p:spPr>
          <a:xfrm>
            <a:off x="1143000" y="5716786"/>
            <a:ext cx="250032" cy="1706464"/>
          </a:xfrm>
          <a:prstGeom prst="rect">
            <a:avLst/>
          </a:prstGeom>
        </p:spPr>
      </p:pic>
      <p:sp>
        <p:nvSpPr>
          <p:cNvPr id="9" name="Text 4"/>
          <p:cNvSpPr/>
          <p:nvPr/>
        </p:nvSpPr>
        <p:spPr>
          <a:xfrm>
            <a:off x="1607344" y="5754293"/>
            <a:ext cx="6419608" cy="323165"/>
          </a:xfrm>
          <a:prstGeom prst="rect">
            <a:avLst/>
          </a:prstGeom>
          <a:noFill/>
          <a:ln/>
        </p:spPr>
        <p:txBody>
          <a:bodyPr wrap="square" lIns="0" tIns="0" rIns="0" bIns="0" rtlCol="0" anchor="t">
            <a:spAutoFit/>
          </a:bodyPr>
          <a:lstStyle/>
          <a:p>
            <a:r>
              <a:rPr lang="en-US" sz="2100" dirty="0">
                <a:solidFill>
                  <a:srgbClr val="0A0A0A"/>
                </a:solidFill>
                <a:latin typeface="Open Sans SemiBold" pitchFamily="34" charset="0"/>
                <a:ea typeface="Open Sans SemiBold" pitchFamily="34" charset="-122"/>
                <a:cs typeface="Open Sans SemiBold" pitchFamily="34" charset="-120"/>
              </a:rPr>
              <a:t>Lịch ôn tập cá nhân</a:t>
            </a:r>
            <a:endParaRPr lang="en-US" sz="2100" dirty="0"/>
          </a:p>
        </p:txBody>
      </p:sp>
      <p:sp>
        <p:nvSpPr>
          <p:cNvPr id="10" name="Text 5"/>
          <p:cNvSpPr/>
          <p:nvPr/>
        </p:nvSpPr>
        <p:spPr>
          <a:xfrm>
            <a:off x="1607344" y="6318649"/>
            <a:ext cx="6419608" cy="1083053"/>
          </a:xfrm>
          <a:prstGeom prst="rect">
            <a:avLst/>
          </a:prstGeom>
          <a:noFill/>
          <a:ln/>
        </p:spPr>
        <p:txBody>
          <a:bodyPr wrap="square" lIns="0" tIns="0" rIns="0" bIns="0" rtlCol="0" anchor="t">
            <a:spAutoFit/>
          </a:bodyPr>
          <a:lstStyle/>
          <a:p>
            <a:pPr>
              <a:lnSpc>
                <a:spcPct val="120000"/>
              </a:lnSpc>
            </a:pPr>
            <a:r>
              <a:rPr lang="en-US" sz="2000" dirty="0">
                <a:solidFill>
                  <a:srgbClr val="404040"/>
                </a:solidFill>
                <a:latin typeface="Open Sans" pitchFamily="34" charset="0"/>
                <a:ea typeface="Open Sans" pitchFamily="34" charset="-122"/>
                <a:cs typeface="Open Sans" pitchFamily="34" charset="-120"/>
              </a:rPr>
              <a:t>Hệ thống tự động xác định </a:t>
            </a:r>
            <a:r>
              <a:rPr lang="en-US" sz="2000" b="1" dirty="0">
                <a:solidFill>
                  <a:srgbClr val="404040"/>
                </a:solidFill>
                <a:latin typeface="Open Sans SemiBold" pitchFamily="34" charset="0"/>
                <a:ea typeface="Open Sans SemiBold" pitchFamily="34" charset="-122"/>
                <a:cs typeface="Open Sans SemiBold" pitchFamily="34" charset="-120"/>
              </a:rPr>
              <a:t>Next Review Date</a:t>
            </a:r>
            <a:r>
              <a:rPr lang="en-US" sz="2000" dirty="0">
                <a:solidFill>
                  <a:srgbClr val="404040"/>
                </a:solidFill>
                <a:latin typeface="Open Sans" pitchFamily="34" charset="0"/>
                <a:ea typeface="Open Sans" pitchFamily="34" charset="-122"/>
                <a:cs typeface="Open Sans" pitchFamily="34" charset="-120"/>
              </a:rPr>
              <a:t> cho từng từ, đảm bảo người dùng ôn tập ngay tại "điểm vàng" trước khi quên.</a:t>
            </a:r>
            <a:endParaRPr lang="en-US" sz="2000" dirty="0"/>
          </a:p>
        </p:txBody>
      </p:sp>
      <p:sp>
        <p:nvSpPr>
          <p:cNvPr id="11" name="Text 6"/>
          <p:cNvSpPr/>
          <p:nvPr/>
        </p:nvSpPr>
        <p:spPr>
          <a:xfrm>
            <a:off x="8884203" y="2878038"/>
            <a:ext cx="8260798" cy="492443"/>
          </a:xfrm>
          <a:prstGeom prst="rect">
            <a:avLst/>
          </a:prstGeom>
          <a:noFill/>
          <a:ln/>
        </p:spPr>
        <p:txBody>
          <a:bodyPr wrap="square" lIns="0" tIns="0" rIns="0" bIns="0" rtlCol="0" anchor="t">
            <a:spAutoFit/>
          </a:bodyPr>
          <a:lstStyle/>
          <a:p>
            <a:r>
              <a:rPr lang="en-US" sz="3200" b="1" dirty="0">
                <a:solidFill>
                  <a:srgbClr val="C1121F"/>
                </a:solidFill>
                <a:latin typeface="Montserrat Bold" pitchFamily="34" charset="0"/>
                <a:ea typeface="Montserrat Bold" pitchFamily="34" charset="-122"/>
                <a:cs typeface="Montserrat Bold" pitchFamily="34" charset="-120"/>
              </a:rPr>
              <a:t>TÁC ĐỘNG CỦA ĐÁNH GIÁ</a:t>
            </a:r>
            <a:endParaRPr lang="en-US" sz="3200" dirty="0"/>
          </a:p>
        </p:txBody>
      </p:sp>
      <p:sp>
        <p:nvSpPr>
          <p:cNvPr id="12" name="Shape 7"/>
          <p:cNvSpPr/>
          <p:nvPr/>
        </p:nvSpPr>
        <p:spPr>
          <a:xfrm>
            <a:off x="8898490" y="3595986"/>
            <a:ext cx="1530604" cy="685800"/>
          </a:xfrm>
          <a:prstGeom prst="rect">
            <a:avLst/>
          </a:prstGeom>
          <a:solidFill>
            <a:srgbClr val="0A0A0A"/>
          </a:solidFill>
          <a:ln/>
        </p:spPr>
      </p:sp>
      <p:sp>
        <p:nvSpPr>
          <p:cNvPr id="13" name="Text 8"/>
          <p:cNvSpPr/>
          <p:nvPr/>
        </p:nvSpPr>
        <p:spPr>
          <a:xfrm>
            <a:off x="8898490" y="3542882"/>
            <a:ext cx="1938284" cy="792012"/>
          </a:xfrm>
          <a:prstGeom prst="rect">
            <a:avLst/>
          </a:prstGeom>
          <a:noFill/>
          <a:ln/>
        </p:spPr>
        <p:txBody>
          <a:bodyPr wrap="square" lIns="255016" tIns="255016" rIns="255016" bIns="255016" rtlCol="0" anchor="ctr">
            <a:spAutoFit/>
          </a:bodyPr>
          <a:lstStyle/>
          <a:p>
            <a:r>
              <a:rPr lang="en-US" b="1" dirty="0">
                <a:solidFill>
                  <a:srgbClr val="FFFFFF"/>
                </a:solidFill>
                <a:latin typeface="Montserrat Bold" pitchFamily="34" charset="0"/>
                <a:ea typeface="Montserrat Bold" pitchFamily="34" charset="-122"/>
                <a:cs typeface="Montserrat Bold" pitchFamily="34" charset="-120"/>
              </a:rPr>
              <a:t>ĐÁNH GIÁ</a:t>
            </a:r>
            <a:endParaRPr lang="en-US" dirty="0"/>
          </a:p>
        </p:txBody>
      </p:sp>
      <p:sp>
        <p:nvSpPr>
          <p:cNvPr id="14" name="Shape 9"/>
          <p:cNvSpPr/>
          <p:nvPr/>
        </p:nvSpPr>
        <p:spPr>
          <a:xfrm>
            <a:off x="10429095" y="3595986"/>
            <a:ext cx="6701618" cy="685800"/>
          </a:xfrm>
          <a:prstGeom prst="rect">
            <a:avLst/>
          </a:prstGeom>
          <a:solidFill>
            <a:srgbClr val="0A0A0A"/>
          </a:solidFill>
          <a:ln/>
        </p:spPr>
      </p:sp>
      <p:sp>
        <p:nvSpPr>
          <p:cNvPr id="15" name="Text 10"/>
          <p:cNvSpPr/>
          <p:nvPr/>
        </p:nvSpPr>
        <p:spPr>
          <a:xfrm>
            <a:off x="10429095" y="3542882"/>
            <a:ext cx="6701618" cy="792012"/>
          </a:xfrm>
          <a:prstGeom prst="rect">
            <a:avLst/>
          </a:prstGeom>
          <a:noFill/>
          <a:ln/>
        </p:spPr>
        <p:txBody>
          <a:bodyPr wrap="square" lIns="255016" tIns="255016" rIns="255016" bIns="255016" rtlCol="0" anchor="ctr">
            <a:spAutoFit/>
          </a:bodyPr>
          <a:lstStyle/>
          <a:p>
            <a:r>
              <a:rPr lang="en-US" b="1" dirty="0">
                <a:solidFill>
                  <a:srgbClr val="FFFFFF"/>
                </a:solidFill>
                <a:latin typeface="Montserrat Bold" pitchFamily="34" charset="0"/>
                <a:ea typeface="Montserrat Bold" pitchFamily="34" charset="-122"/>
                <a:cs typeface="Montserrat Bold" pitchFamily="34" charset="-120"/>
              </a:rPr>
              <a:t>HỆ QUẢ THUẬT TOÁN</a:t>
            </a:r>
            <a:endParaRPr lang="en-US" dirty="0"/>
          </a:p>
        </p:txBody>
      </p:sp>
      <p:sp>
        <p:nvSpPr>
          <p:cNvPr id="16" name="Text 11"/>
          <p:cNvSpPr/>
          <p:nvPr/>
        </p:nvSpPr>
        <p:spPr>
          <a:xfrm>
            <a:off x="9127090" y="4517529"/>
            <a:ext cx="881652" cy="307777"/>
          </a:xfrm>
          <a:prstGeom prst="rect">
            <a:avLst/>
          </a:prstGeom>
          <a:noFill/>
          <a:ln/>
        </p:spPr>
        <p:txBody>
          <a:bodyPr wrap="none" lIns="0" tIns="0" rIns="0" bIns="0" rtlCol="0" anchor="t">
            <a:spAutoFit/>
          </a:bodyPr>
          <a:lstStyle/>
          <a:p>
            <a:r>
              <a:rPr lang="en-US" sz="2000" b="1" dirty="0">
                <a:solidFill>
                  <a:srgbClr val="C1121F"/>
                </a:solidFill>
                <a:latin typeface="Montserrat Bold" pitchFamily="34" charset="0"/>
                <a:ea typeface="Montserrat Bold" pitchFamily="34" charset="-122"/>
                <a:cs typeface="Montserrat Bold" pitchFamily="34" charset="-120"/>
              </a:rPr>
              <a:t>AGAIN</a:t>
            </a:r>
            <a:endParaRPr lang="en-US" sz="2000" dirty="0"/>
          </a:p>
        </p:txBody>
      </p:sp>
      <p:sp>
        <p:nvSpPr>
          <p:cNvPr id="17" name="Text 12"/>
          <p:cNvSpPr/>
          <p:nvPr/>
        </p:nvSpPr>
        <p:spPr>
          <a:xfrm>
            <a:off x="10429095" y="4070121"/>
            <a:ext cx="6701618" cy="1130566"/>
          </a:xfrm>
          <a:prstGeom prst="rect">
            <a:avLst/>
          </a:prstGeom>
          <a:noFill/>
          <a:ln/>
        </p:spPr>
        <p:txBody>
          <a:bodyPr wrap="square" lIns="255016" tIns="255016" rIns="255016" bIns="255016" rtlCol="0" anchor="ctr">
            <a:spAutoFit/>
          </a:bodyPr>
          <a:lstStyle/>
          <a:p>
            <a:r>
              <a:rPr lang="en-US" sz="2000" dirty="0">
                <a:solidFill>
                  <a:srgbClr val="0A0A0A"/>
                </a:solidFill>
                <a:latin typeface="Open Sans" pitchFamily="34" charset="0"/>
                <a:ea typeface="Open Sans" pitchFamily="34" charset="-122"/>
                <a:cs typeface="Open Sans" pitchFamily="34" charset="-120"/>
              </a:rPr>
              <a:t>Khoảng cách ôn tập giảm mạnh. Từ vựng sẽ xuất hiện lại sớm hơn.</a:t>
            </a:r>
            <a:endParaRPr lang="en-US" sz="2000" dirty="0"/>
          </a:p>
        </p:txBody>
      </p:sp>
      <p:sp>
        <p:nvSpPr>
          <p:cNvPr id="18" name="Text 13"/>
          <p:cNvSpPr/>
          <p:nvPr/>
        </p:nvSpPr>
        <p:spPr>
          <a:xfrm>
            <a:off x="9127091" y="5231905"/>
            <a:ext cx="804707" cy="307777"/>
          </a:xfrm>
          <a:prstGeom prst="rect">
            <a:avLst/>
          </a:prstGeom>
          <a:noFill/>
          <a:ln/>
        </p:spPr>
        <p:txBody>
          <a:bodyPr wrap="none" lIns="0" tIns="0" rIns="0" bIns="0" rtlCol="0" anchor="t">
            <a:spAutoFit/>
          </a:bodyPr>
          <a:lstStyle/>
          <a:p>
            <a:r>
              <a:rPr lang="en-US" sz="2000" b="1" dirty="0">
                <a:solidFill>
                  <a:srgbClr val="0A0A0A"/>
                </a:solidFill>
                <a:latin typeface="Montserrat Bold" pitchFamily="34" charset="0"/>
                <a:ea typeface="Montserrat Bold" pitchFamily="34" charset="-122"/>
                <a:cs typeface="Montserrat Bold" pitchFamily="34" charset="-120"/>
              </a:rPr>
              <a:t>HARD</a:t>
            </a:r>
            <a:endParaRPr lang="en-US" sz="2000" dirty="0"/>
          </a:p>
        </p:txBody>
      </p:sp>
      <p:sp>
        <p:nvSpPr>
          <p:cNvPr id="19" name="Text 14"/>
          <p:cNvSpPr/>
          <p:nvPr/>
        </p:nvSpPr>
        <p:spPr>
          <a:xfrm>
            <a:off x="10429095" y="4780923"/>
            <a:ext cx="6701618" cy="1130566"/>
          </a:xfrm>
          <a:prstGeom prst="rect">
            <a:avLst/>
          </a:prstGeom>
          <a:noFill/>
          <a:ln/>
        </p:spPr>
        <p:txBody>
          <a:bodyPr wrap="square" lIns="255016" tIns="255016" rIns="255016" bIns="255016" rtlCol="0" anchor="ctr">
            <a:spAutoFit/>
          </a:bodyPr>
          <a:lstStyle/>
          <a:p>
            <a:r>
              <a:rPr lang="en-US" sz="2000" dirty="0">
                <a:solidFill>
                  <a:srgbClr val="0A0A0A"/>
                </a:solidFill>
                <a:latin typeface="Open Sans" pitchFamily="34" charset="0"/>
                <a:ea typeface="Open Sans" pitchFamily="34" charset="-122"/>
                <a:cs typeface="Open Sans" pitchFamily="34" charset="-120"/>
              </a:rPr>
              <a:t>Khoảng cách ôn tập tăng ít. Phù hợp với từ vựng còn mơ hồ.</a:t>
            </a:r>
            <a:endParaRPr lang="en-US" sz="2000" dirty="0"/>
          </a:p>
        </p:txBody>
      </p:sp>
      <p:sp>
        <p:nvSpPr>
          <p:cNvPr id="20" name="Text 15"/>
          <p:cNvSpPr/>
          <p:nvPr/>
        </p:nvSpPr>
        <p:spPr>
          <a:xfrm>
            <a:off x="9127091" y="5946279"/>
            <a:ext cx="841577" cy="307777"/>
          </a:xfrm>
          <a:prstGeom prst="rect">
            <a:avLst/>
          </a:prstGeom>
          <a:noFill/>
          <a:ln/>
        </p:spPr>
        <p:txBody>
          <a:bodyPr wrap="none" lIns="0" tIns="0" rIns="0" bIns="0" rtlCol="0" anchor="t">
            <a:spAutoFit/>
          </a:bodyPr>
          <a:lstStyle/>
          <a:p>
            <a:r>
              <a:rPr lang="en-US" sz="2000" b="1" dirty="0">
                <a:solidFill>
                  <a:srgbClr val="0A0A0A"/>
                </a:solidFill>
                <a:latin typeface="Montserrat Bold" pitchFamily="34" charset="0"/>
                <a:ea typeface="Montserrat Bold" pitchFamily="34" charset="-122"/>
                <a:cs typeface="Montserrat Bold" pitchFamily="34" charset="-120"/>
              </a:rPr>
              <a:t>GOOD</a:t>
            </a:r>
            <a:endParaRPr lang="en-US" sz="2000" dirty="0"/>
          </a:p>
        </p:txBody>
      </p:sp>
      <p:sp>
        <p:nvSpPr>
          <p:cNvPr id="21" name="Text 16"/>
          <p:cNvSpPr/>
          <p:nvPr/>
        </p:nvSpPr>
        <p:spPr>
          <a:xfrm>
            <a:off x="10429095" y="5495299"/>
            <a:ext cx="6701618" cy="1130566"/>
          </a:xfrm>
          <a:prstGeom prst="rect">
            <a:avLst/>
          </a:prstGeom>
          <a:noFill/>
          <a:ln/>
        </p:spPr>
        <p:txBody>
          <a:bodyPr wrap="square" lIns="255016" tIns="255016" rIns="255016" bIns="255016" rtlCol="0" anchor="ctr">
            <a:spAutoFit/>
          </a:bodyPr>
          <a:lstStyle/>
          <a:p>
            <a:r>
              <a:rPr lang="en-US" sz="2000" dirty="0">
                <a:solidFill>
                  <a:srgbClr val="0A0A0A"/>
                </a:solidFill>
                <a:latin typeface="Open Sans" pitchFamily="34" charset="0"/>
                <a:ea typeface="Open Sans" pitchFamily="34" charset="-122"/>
                <a:cs typeface="Open Sans" pitchFamily="34" charset="-120"/>
              </a:rPr>
              <a:t>Khoảng cách ôn tập tăng bình thường theo lộ trình tiêu chuẩn.</a:t>
            </a:r>
            <a:endParaRPr lang="en-US" sz="2000" dirty="0"/>
          </a:p>
        </p:txBody>
      </p:sp>
      <p:sp>
        <p:nvSpPr>
          <p:cNvPr id="22" name="Text 17"/>
          <p:cNvSpPr/>
          <p:nvPr/>
        </p:nvSpPr>
        <p:spPr>
          <a:xfrm>
            <a:off x="9127091" y="6660655"/>
            <a:ext cx="702115" cy="307777"/>
          </a:xfrm>
          <a:prstGeom prst="rect">
            <a:avLst/>
          </a:prstGeom>
          <a:noFill/>
          <a:ln/>
        </p:spPr>
        <p:txBody>
          <a:bodyPr wrap="none" lIns="0" tIns="0" rIns="0" bIns="0" rtlCol="0" anchor="t">
            <a:spAutoFit/>
          </a:bodyPr>
          <a:lstStyle/>
          <a:p>
            <a:r>
              <a:rPr lang="en-US" sz="2000" b="1" dirty="0">
                <a:solidFill>
                  <a:srgbClr val="0A0A0A"/>
                </a:solidFill>
                <a:latin typeface="Montserrat Bold" pitchFamily="34" charset="0"/>
                <a:ea typeface="Montserrat Bold" pitchFamily="34" charset="-122"/>
                <a:cs typeface="Montserrat Bold" pitchFamily="34" charset="-120"/>
              </a:rPr>
              <a:t>EASY</a:t>
            </a:r>
            <a:endParaRPr lang="en-US" sz="2000" dirty="0"/>
          </a:p>
        </p:txBody>
      </p:sp>
      <p:sp>
        <p:nvSpPr>
          <p:cNvPr id="23" name="Text 18"/>
          <p:cNvSpPr/>
          <p:nvPr/>
        </p:nvSpPr>
        <p:spPr>
          <a:xfrm>
            <a:off x="10429095" y="6213243"/>
            <a:ext cx="6701618" cy="1130566"/>
          </a:xfrm>
          <a:prstGeom prst="rect">
            <a:avLst/>
          </a:prstGeom>
          <a:noFill/>
          <a:ln/>
        </p:spPr>
        <p:txBody>
          <a:bodyPr wrap="square" lIns="255016" tIns="255016" rIns="255016" bIns="255016" rtlCol="0" anchor="ctr">
            <a:spAutoFit/>
          </a:bodyPr>
          <a:lstStyle/>
          <a:p>
            <a:r>
              <a:rPr lang="en-US" sz="2000" dirty="0">
                <a:solidFill>
                  <a:srgbClr val="0A0A0A"/>
                </a:solidFill>
                <a:latin typeface="Open Sans" pitchFamily="34" charset="0"/>
                <a:ea typeface="Open Sans" pitchFamily="34" charset="-122"/>
                <a:cs typeface="Open Sans" pitchFamily="34" charset="-120"/>
              </a:rPr>
              <a:t>Khoảng cách ôn tập tăng mạnh. Tối ưu thời gian cho từ đã thuộc.</a:t>
            </a:r>
            <a:endParaRPr lang="en-US" sz="2000" dirty="0"/>
          </a:p>
        </p:txBody>
      </p:sp>
      <p:sp>
        <p:nvSpPr>
          <p:cNvPr id="24" name="TextBox 23">
            <a:extLst>
              <a:ext uri="{FF2B5EF4-FFF2-40B4-BE49-F238E27FC236}">
                <a16:creationId xmlns:a16="http://schemas.microsoft.com/office/drawing/2014/main" id="{46A0BD91-691B-3ADA-F738-3A6AFBB3423F}"/>
              </a:ext>
            </a:extLst>
          </p:cNvPr>
          <p:cNvSpPr txBox="1"/>
          <p:nvPr/>
        </p:nvSpPr>
        <p:spPr>
          <a:xfrm>
            <a:off x="17831821" y="9831884"/>
            <a:ext cx="415498"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24</a:t>
            </a:r>
            <a:endParaRPr lang="vi-V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8288000" cy="10287000"/>
          </a:xfrm>
          <a:prstGeom prst="rect">
            <a:avLst/>
          </a:prstGeom>
        </p:spPr>
      </p:pic>
      <p:sp>
        <p:nvSpPr>
          <p:cNvPr id="3" name="Text 0"/>
          <p:cNvSpPr/>
          <p:nvPr/>
        </p:nvSpPr>
        <p:spPr>
          <a:xfrm>
            <a:off x="1143000" y="1020665"/>
            <a:ext cx="17145000" cy="615553"/>
          </a:xfrm>
          <a:prstGeom prst="rect">
            <a:avLst/>
          </a:prstGeom>
          <a:noFill/>
          <a:ln/>
        </p:spPr>
        <p:txBody>
          <a:bodyPr wrap="square" lIns="0" tIns="0" rIns="0" bIns="0" rtlCol="0" anchor="t">
            <a:spAutoFit/>
          </a:bodyPr>
          <a:lstStyle/>
          <a:p>
            <a:r>
              <a:rPr lang="en-US" sz="4000" b="1" dirty="0" err="1">
                <a:solidFill>
                  <a:srgbClr val="0A0A0A"/>
                </a:solidFill>
                <a:latin typeface="Montserrat Bold" pitchFamily="34" charset="0"/>
                <a:ea typeface="Montserrat Bold" pitchFamily="34" charset="-122"/>
                <a:cs typeface="Montserrat Bold" pitchFamily="34" charset="-120"/>
              </a:rPr>
              <a:t>SỐ</a:t>
            </a:r>
            <a:r>
              <a:rPr lang="en-US" sz="4000" b="1" dirty="0">
                <a:solidFill>
                  <a:srgbClr val="0A0A0A"/>
                </a:solidFill>
                <a:latin typeface="Montserrat Bold" pitchFamily="34" charset="0"/>
                <a:ea typeface="Montserrat Bold" pitchFamily="34" charset="-122"/>
                <a:cs typeface="Montserrat Bold" pitchFamily="34" charset="-120"/>
              </a:rPr>
              <a:t> LIỆU THỐNG KÊ</a:t>
            </a:r>
            <a:endParaRPr lang="en-US" sz="4000" dirty="0"/>
          </a:p>
        </p:txBody>
      </p:sp>
      <p:sp>
        <p:nvSpPr>
          <p:cNvPr id="4" name="Text 1"/>
          <p:cNvSpPr/>
          <p:nvPr/>
        </p:nvSpPr>
        <p:spPr>
          <a:xfrm>
            <a:off x="1143000" y="2449415"/>
            <a:ext cx="7572376" cy="492443"/>
          </a:xfrm>
          <a:prstGeom prst="rect">
            <a:avLst/>
          </a:prstGeom>
          <a:noFill/>
          <a:ln/>
        </p:spPr>
        <p:txBody>
          <a:bodyPr wrap="square" lIns="0" tIns="0" rIns="0" bIns="0" rtlCol="0" anchor="t">
            <a:spAutoFit/>
          </a:bodyPr>
          <a:lstStyle/>
          <a:p>
            <a:r>
              <a:rPr lang="en-US" sz="3200" b="1" dirty="0">
                <a:solidFill>
                  <a:srgbClr val="C1121F"/>
                </a:solidFill>
                <a:latin typeface="Montserrat Bold" pitchFamily="34" charset="0"/>
                <a:ea typeface="Montserrat Bold" pitchFamily="34" charset="-122"/>
                <a:cs typeface="Montserrat Bold" pitchFamily="34" charset="-120"/>
              </a:rPr>
              <a:t>CHỈ SỐ HỌC TẬP</a:t>
            </a:r>
            <a:endParaRPr lang="en-US" sz="3200" dirty="0"/>
          </a:p>
        </p:txBody>
      </p:sp>
      <p:sp>
        <p:nvSpPr>
          <p:cNvPr id="5" name="Text 2"/>
          <p:cNvSpPr/>
          <p:nvPr/>
        </p:nvSpPr>
        <p:spPr>
          <a:xfrm>
            <a:off x="1443038" y="3310237"/>
            <a:ext cx="3078956" cy="323165"/>
          </a:xfrm>
          <a:prstGeom prst="rect">
            <a:avLst/>
          </a:prstGeom>
          <a:noFill/>
          <a:ln/>
        </p:spPr>
        <p:txBody>
          <a:bodyPr wrap="square" lIns="0" tIns="0" rIns="0" bIns="0" rtlCol="0" anchor="t">
            <a:spAutoFit/>
          </a:bodyPr>
          <a:lstStyle/>
          <a:p>
            <a:r>
              <a:rPr lang="en-US" sz="2100" b="1" dirty="0">
                <a:solidFill>
                  <a:srgbClr val="0A0A0A"/>
                </a:solidFill>
                <a:latin typeface="Montserrat Bold" pitchFamily="34" charset="0"/>
                <a:ea typeface="Montserrat Bold" pitchFamily="34" charset="-122"/>
                <a:cs typeface="Montserrat Bold" pitchFamily="34" charset="-120"/>
              </a:rPr>
              <a:t>1,250</a:t>
            </a:r>
            <a:endParaRPr lang="en-US" sz="2100" dirty="0"/>
          </a:p>
        </p:txBody>
      </p:sp>
      <p:sp>
        <p:nvSpPr>
          <p:cNvPr id="6" name="Text 3"/>
          <p:cNvSpPr/>
          <p:nvPr/>
        </p:nvSpPr>
        <p:spPr>
          <a:xfrm>
            <a:off x="1443038" y="3799583"/>
            <a:ext cx="3078956" cy="323165"/>
          </a:xfrm>
          <a:prstGeom prst="rect">
            <a:avLst/>
          </a:prstGeom>
          <a:noFill/>
          <a:ln/>
        </p:spPr>
        <p:txBody>
          <a:bodyPr wrap="square" lIns="0" tIns="0" rIns="0" bIns="0" rtlCol="0" anchor="t">
            <a:spAutoFit/>
          </a:bodyPr>
          <a:lstStyle/>
          <a:p>
            <a:r>
              <a:rPr lang="en-US" sz="2100" dirty="0">
                <a:solidFill>
                  <a:srgbClr val="404040"/>
                </a:solidFill>
                <a:latin typeface="Open Sans SemiBold" pitchFamily="34" charset="0"/>
                <a:ea typeface="Open Sans SemiBold" pitchFamily="34" charset="-122"/>
                <a:cs typeface="Open Sans SemiBold" pitchFamily="34" charset="-120"/>
              </a:rPr>
              <a:t>TỔNG SỐ TỪ</a:t>
            </a:r>
            <a:endParaRPr lang="en-US" sz="2100" dirty="0"/>
          </a:p>
        </p:txBody>
      </p:sp>
      <p:sp>
        <p:nvSpPr>
          <p:cNvPr id="7" name="Text 4"/>
          <p:cNvSpPr/>
          <p:nvPr/>
        </p:nvSpPr>
        <p:spPr>
          <a:xfrm>
            <a:off x="5336382" y="3310237"/>
            <a:ext cx="3078956" cy="323165"/>
          </a:xfrm>
          <a:prstGeom prst="rect">
            <a:avLst/>
          </a:prstGeom>
          <a:noFill/>
          <a:ln/>
        </p:spPr>
        <p:txBody>
          <a:bodyPr wrap="square" lIns="0" tIns="0" rIns="0" bIns="0" rtlCol="0" anchor="t">
            <a:spAutoFit/>
          </a:bodyPr>
          <a:lstStyle/>
          <a:p>
            <a:r>
              <a:rPr lang="en-US" sz="2100" b="1" dirty="0">
                <a:solidFill>
                  <a:srgbClr val="0A0A0A"/>
                </a:solidFill>
                <a:latin typeface="Montserrat Bold" pitchFamily="34" charset="0"/>
                <a:ea typeface="Montserrat Bold" pitchFamily="34" charset="-122"/>
                <a:cs typeface="Montserrat Bold" pitchFamily="34" charset="-120"/>
              </a:rPr>
              <a:t>85%</a:t>
            </a:r>
            <a:endParaRPr lang="en-US" sz="2100" dirty="0"/>
          </a:p>
        </p:txBody>
      </p:sp>
      <p:sp>
        <p:nvSpPr>
          <p:cNvPr id="8" name="Text 5"/>
          <p:cNvSpPr/>
          <p:nvPr/>
        </p:nvSpPr>
        <p:spPr>
          <a:xfrm>
            <a:off x="5336382" y="3799583"/>
            <a:ext cx="3078956" cy="323165"/>
          </a:xfrm>
          <a:prstGeom prst="rect">
            <a:avLst/>
          </a:prstGeom>
          <a:noFill/>
          <a:ln/>
        </p:spPr>
        <p:txBody>
          <a:bodyPr wrap="square" lIns="0" tIns="0" rIns="0" bIns="0" rtlCol="0" anchor="t">
            <a:spAutoFit/>
          </a:bodyPr>
          <a:lstStyle/>
          <a:p>
            <a:r>
              <a:rPr lang="en-US" sz="2100" dirty="0">
                <a:solidFill>
                  <a:srgbClr val="404040"/>
                </a:solidFill>
                <a:latin typeface="Open Sans SemiBold" pitchFamily="34" charset="0"/>
                <a:ea typeface="Open Sans SemiBold" pitchFamily="34" charset="-122"/>
                <a:cs typeface="Open Sans SemiBold" pitchFamily="34" charset="-120"/>
              </a:rPr>
              <a:t>TỶ LỆ HOÀN THÀNH</a:t>
            </a:r>
            <a:endParaRPr lang="en-US" sz="2100" dirty="0"/>
          </a:p>
        </p:txBody>
      </p:sp>
      <p:sp>
        <p:nvSpPr>
          <p:cNvPr id="9" name="Text 6"/>
          <p:cNvSpPr/>
          <p:nvPr/>
        </p:nvSpPr>
        <p:spPr>
          <a:xfrm>
            <a:off x="1443038" y="5196187"/>
            <a:ext cx="3078956" cy="323165"/>
          </a:xfrm>
          <a:prstGeom prst="rect">
            <a:avLst/>
          </a:prstGeom>
          <a:noFill/>
          <a:ln/>
        </p:spPr>
        <p:txBody>
          <a:bodyPr wrap="square" lIns="0" tIns="0" rIns="0" bIns="0" rtlCol="0" anchor="t">
            <a:spAutoFit/>
          </a:bodyPr>
          <a:lstStyle/>
          <a:p>
            <a:r>
              <a:rPr lang="en-US" sz="2100" b="1" dirty="0">
                <a:solidFill>
                  <a:srgbClr val="0A0A0A"/>
                </a:solidFill>
                <a:latin typeface="Montserrat Bold" pitchFamily="34" charset="0"/>
                <a:ea typeface="Montserrat Bold" pitchFamily="34" charset="-122"/>
                <a:cs typeface="Montserrat Bold" pitchFamily="34" charset="-120"/>
              </a:rPr>
              <a:t>15</a:t>
            </a:r>
            <a:endParaRPr lang="en-US" sz="2100" dirty="0"/>
          </a:p>
        </p:txBody>
      </p:sp>
      <p:sp>
        <p:nvSpPr>
          <p:cNvPr id="10" name="Text 7"/>
          <p:cNvSpPr/>
          <p:nvPr/>
        </p:nvSpPr>
        <p:spPr>
          <a:xfrm>
            <a:off x="1443038" y="5685533"/>
            <a:ext cx="3078956" cy="323165"/>
          </a:xfrm>
          <a:prstGeom prst="rect">
            <a:avLst/>
          </a:prstGeom>
          <a:noFill/>
          <a:ln/>
        </p:spPr>
        <p:txBody>
          <a:bodyPr wrap="square" lIns="0" tIns="0" rIns="0" bIns="0" rtlCol="0" anchor="t">
            <a:spAutoFit/>
          </a:bodyPr>
          <a:lstStyle/>
          <a:p>
            <a:r>
              <a:rPr lang="en-US" sz="2100" dirty="0">
                <a:solidFill>
                  <a:srgbClr val="404040"/>
                </a:solidFill>
                <a:latin typeface="Open Sans SemiBold" pitchFamily="34" charset="0"/>
                <a:ea typeface="Open Sans SemiBold" pitchFamily="34" charset="-122"/>
                <a:cs typeface="Open Sans SemiBold" pitchFamily="34" charset="-120"/>
              </a:rPr>
              <a:t>NGÀY HỌC LIÊN TIẾP</a:t>
            </a:r>
            <a:endParaRPr lang="en-US" sz="2100" dirty="0"/>
          </a:p>
        </p:txBody>
      </p:sp>
      <p:sp>
        <p:nvSpPr>
          <p:cNvPr id="11" name="Text 8"/>
          <p:cNvSpPr/>
          <p:nvPr/>
        </p:nvSpPr>
        <p:spPr>
          <a:xfrm>
            <a:off x="5336382" y="5196187"/>
            <a:ext cx="3078956" cy="323165"/>
          </a:xfrm>
          <a:prstGeom prst="rect">
            <a:avLst/>
          </a:prstGeom>
          <a:noFill/>
          <a:ln/>
        </p:spPr>
        <p:txBody>
          <a:bodyPr wrap="square" lIns="0" tIns="0" rIns="0" bIns="0" rtlCol="0" anchor="t">
            <a:spAutoFit/>
          </a:bodyPr>
          <a:lstStyle/>
          <a:p>
            <a:r>
              <a:rPr lang="en-US" sz="2100" b="1" dirty="0">
                <a:solidFill>
                  <a:srgbClr val="0A0A0A"/>
                </a:solidFill>
                <a:latin typeface="Montserrat Bold" pitchFamily="34" charset="0"/>
                <a:ea typeface="Montserrat Bold" pitchFamily="34" charset="-122"/>
                <a:cs typeface="Montserrat Bold" pitchFamily="34" charset="-120"/>
              </a:rPr>
              <a:t>42</a:t>
            </a:r>
            <a:endParaRPr lang="en-US" sz="2100" dirty="0"/>
          </a:p>
        </p:txBody>
      </p:sp>
      <p:sp>
        <p:nvSpPr>
          <p:cNvPr id="12" name="Text 9"/>
          <p:cNvSpPr/>
          <p:nvPr/>
        </p:nvSpPr>
        <p:spPr>
          <a:xfrm>
            <a:off x="5336382" y="5685533"/>
            <a:ext cx="3078956" cy="323165"/>
          </a:xfrm>
          <a:prstGeom prst="rect">
            <a:avLst/>
          </a:prstGeom>
          <a:noFill/>
          <a:ln/>
        </p:spPr>
        <p:txBody>
          <a:bodyPr wrap="square" lIns="0" tIns="0" rIns="0" bIns="0" rtlCol="0" anchor="t">
            <a:spAutoFit/>
          </a:bodyPr>
          <a:lstStyle/>
          <a:p>
            <a:r>
              <a:rPr lang="en-US" sz="2100" dirty="0">
                <a:solidFill>
                  <a:srgbClr val="404040"/>
                </a:solidFill>
                <a:latin typeface="Open Sans SemiBold" pitchFamily="34" charset="0"/>
                <a:ea typeface="Open Sans SemiBold" pitchFamily="34" charset="-122"/>
                <a:cs typeface="Open Sans SemiBold" pitchFamily="34" charset="-120"/>
              </a:rPr>
              <a:t>PHIÊN HỌC</a:t>
            </a:r>
            <a:endParaRPr lang="en-US" sz="2100" dirty="0"/>
          </a:p>
        </p:txBody>
      </p:sp>
      <p:pic>
        <p:nvPicPr>
          <p:cNvPr id="13" name="Image 1" descr="preencoded.png"/>
          <p:cNvPicPr>
            <a:picLocks noChangeAspect="1"/>
          </p:cNvPicPr>
          <p:nvPr/>
        </p:nvPicPr>
        <p:blipFill>
          <a:blip r:embed="rId4"/>
          <a:stretch>
            <a:fillRect/>
          </a:stretch>
        </p:blipFill>
        <p:spPr>
          <a:xfrm>
            <a:off x="1143000" y="6924973"/>
            <a:ext cx="7572376" cy="3143250"/>
          </a:xfrm>
          <a:prstGeom prst="rect">
            <a:avLst/>
          </a:prstGeom>
        </p:spPr>
      </p:pic>
      <p:sp>
        <p:nvSpPr>
          <p:cNvPr id="14" name="Text 10"/>
          <p:cNvSpPr/>
          <p:nvPr/>
        </p:nvSpPr>
        <p:spPr>
          <a:xfrm>
            <a:off x="9572626" y="2449415"/>
            <a:ext cx="7572376" cy="492443"/>
          </a:xfrm>
          <a:prstGeom prst="rect">
            <a:avLst/>
          </a:prstGeom>
          <a:noFill/>
          <a:ln/>
        </p:spPr>
        <p:txBody>
          <a:bodyPr wrap="square" lIns="0" tIns="0" rIns="0" bIns="0" rtlCol="0" anchor="t">
            <a:spAutoFit/>
          </a:bodyPr>
          <a:lstStyle/>
          <a:p>
            <a:r>
              <a:rPr lang="en-US" sz="3200" b="1" dirty="0">
                <a:solidFill>
                  <a:srgbClr val="C1121F"/>
                </a:solidFill>
                <a:latin typeface="Montserrat Bold" pitchFamily="34" charset="0"/>
                <a:ea typeface="Montserrat Bold" pitchFamily="34" charset="-122"/>
                <a:cs typeface="Montserrat Bold" pitchFamily="34" charset="-120"/>
              </a:rPr>
              <a:t>ĐÁNH GIÁ TRÌNH ĐỘ</a:t>
            </a:r>
            <a:endParaRPr lang="en-US" sz="3200" dirty="0"/>
          </a:p>
        </p:txBody>
      </p:sp>
      <p:sp>
        <p:nvSpPr>
          <p:cNvPr id="15" name="Shape 11"/>
          <p:cNvSpPr/>
          <p:nvPr/>
        </p:nvSpPr>
        <p:spPr>
          <a:xfrm>
            <a:off x="9572626" y="3081637"/>
            <a:ext cx="7572376" cy="3243262"/>
          </a:xfrm>
          <a:prstGeom prst="rect">
            <a:avLst/>
          </a:prstGeom>
          <a:solidFill>
            <a:srgbClr val="F8F8F8"/>
          </a:solidFill>
          <a:ln w="9144">
            <a:solidFill>
              <a:srgbClr val="E0E0E0"/>
            </a:solidFill>
            <a:prstDash val="solid"/>
          </a:ln>
        </p:spPr>
      </p:sp>
      <p:sp>
        <p:nvSpPr>
          <p:cNvPr id="16" name="Text 12"/>
          <p:cNvSpPr/>
          <p:nvPr/>
        </p:nvSpPr>
        <p:spPr>
          <a:xfrm>
            <a:off x="10001250" y="3305569"/>
            <a:ext cx="7143752" cy="1137234"/>
          </a:xfrm>
          <a:prstGeom prst="rect">
            <a:avLst/>
          </a:prstGeom>
          <a:noFill/>
          <a:ln/>
        </p:spPr>
        <p:txBody>
          <a:bodyPr wrap="square" lIns="0" tIns="0" rIns="0" bIns="0" rtlCol="0" anchor="t">
            <a:spAutoFit/>
          </a:bodyPr>
          <a:lstStyle/>
          <a:p>
            <a:pPr>
              <a:lnSpc>
                <a:spcPct val="120000"/>
              </a:lnSpc>
            </a:pPr>
            <a:r>
              <a:rPr lang="en-US" sz="2100" dirty="0">
                <a:solidFill>
                  <a:srgbClr val="404040"/>
                </a:solidFill>
                <a:latin typeface="Open Sans" pitchFamily="34" charset="0"/>
                <a:ea typeface="Open Sans" pitchFamily="34" charset="-122"/>
                <a:cs typeface="Open Sans" pitchFamily="34" charset="-120"/>
              </a:rPr>
              <a:t>Hệ thống tự động ước lượng trình độ ngoại ngữ dựa trên số lượng từ vựng đã ghi nhớ và kết quả các phiên ôn tập SRS.</a:t>
            </a:r>
            <a:endParaRPr lang="en-US" sz="2100" dirty="0"/>
          </a:p>
        </p:txBody>
      </p:sp>
      <p:sp>
        <p:nvSpPr>
          <p:cNvPr id="17" name="Text 13"/>
          <p:cNvSpPr/>
          <p:nvPr/>
        </p:nvSpPr>
        <p:spPr>
          <a:xfrm>
            <a:off x="10001251" y="4581823"/>
            <a:ext cx="6715126" cy="323165"/>
          </a:xfrm>
          <a:prstGeom prst="rect">
            <a:avLst/>
          </a:prstGeom>
          <a:noFill/>
          <a:ln/>
        </p:spPr>
        <p:txBody>
          <a:bodyPr wrap="square" lIns="0" tIns="0" rIns="0" bIns="0" rtlCol="0" anchor="t">
            <a:spAutoFit/>
          </a:bodyPr>
          <a:lstStyle/>
          <a:p>
            <a:r>
              <a:rPr lang="en-US" sz="2100" dirty="0">
                <a:solidFill>
                  <a:srgbClr val="404040"/>
                </a:solidFill>
                <a:latin typeface="Open Sans SemiBold" pitchFamily="34" charset="0"/>
                <a:ea typeface="Open Sans SemiBold" pitchFamily="34" charset="-122"/>
                <a:cs typeface="Open Sans SemiBold" pitchFamily="34" charset="-120"/>
              </a:rPr>
              <a:t>TRÌNH ĐỘ HIỆN TẠI: </a:t>
            </a:r>
            <a:r>
              <a:rPr lang="en-US" sz="2100" dirty="0">
                <a:solidFill>
                  <a:srgbClr val="C1121F"/>
                </a:solidFill>
                <a:latin typeface="Open Sans SemiBold" pitchFamily="34" charset="0"/>
                <a:ea typeface="Open Sans SemiBold" pitchFamily="34" charset="-122"/>
                <a:cs typeface="Open Sans SemiBold" pitchFamily="34" charset="-120"/>
              </a:rPr>
              <a:t>B1 - INTERMEDIATE</a:t>
            </a:r>
            <a:endParaRPr lang="en-US" sz="2100" dirty="0"/>
          </a:p>
        </p:txBody>
      </p:sp>
      <p:sp>
        <p:nvSpPr>
          <p:cNvPr id="18" name="Text 14"/>
          <p:cNvSpPr/>
          <p:nvPr/>
        </p:nvSpPr>
        <p:spPr>
          <a:xfrm>
            <a:off x="10144995" y="5259631"/>
            <a:ext cx="312585" cy="323165"/>
          </a:xfrm>
          <a:prstGeom prst="rect">
            <a:avLst/>
          </a:prstGeom>
          <a:noFill/>
          <a:ln/>
        </p:spPr>
        <p:txBody>
          <a:bodyPr wrap="none" lIns="0" tIns="0" rIns="0" bIns="0" rtlCol="0" anchor="ctr">
            <a:spAutoFit/>
          </a:bodyPr>
          <a:lstStyle/>
          <a:p>
            <a:pPr algn="ctr"/>
            <a:r>
              <a:rPr lang="en-US" sz="2100" b="1" dirty="0">
                <a:solidFill>
                  <a:srgbClr val="0A0A0A"/>
                </a:solidFill>
                <a:latin typeface="Montserrat Bold" pitchFamily="34" charset="0"/>
                <a:ea typeface="Montserrat Bold" pitchFamily="34" charset="-122"/>
                <a:cs typeface="Montserrat Bold" pitchFamily="34" charset="-120"/>
              </a:rPr>
              <a:t>A1</a:t>
            </a:r>
            <a:endParaRPr lang="en-US" sz="2100" dirty="0"/>
          </a:p>
        </p:txBody>
      </p:sp>
      <p:sp>
        <p:nvSpPr>
          <p:cNvPr id="19" name="Text 15"/>
          <p:cNvSpPr/>
          <p:nvPr/>
        </p:nvSpPr>
        <p:spPr>
          <a:xfrm>
            <a:off x="11341523" y="5259631"/>
            <a:ext cx="365485" cy="323165"/>
          </a:xfrm>
          <a:prstGeom prst="rect">
            <a:avLst/>
          </a:prstGeom>
          <a:noFill/>
          <a:ln/>
        </p:spPr>
        <p:txBody>
          <a:bodyPr wrap="none" lIns="0" tIns="0" rIns="0" bIns="0" rtlCol="0" anchor="ctr">
            <a:spAutoFit/>
          </a:bodyPr>
          <a:lstStyle/>
          <a:p>
            <a:pPr algn="ctr"/>
            <a:r>
              <a:rPr lang="en-US" sz="2100" b="1" dirty="0">
                <a:solidFill>
                  <a:srgbClr val="0A0A0A"/>
                </a:solidFill>
                <a:latin typeface="Montserrat Bold" pitchFamily="34" charset="0"/>
                <a:ea typeface="Montserrat Bold" pitchFamily="34" charset="-122"/>
                <a:cs typeface="Montserrat Bold" pitchFamily="34" charset="-120"/>
              </a:rPr>
              <a:t>A2</a:t>
            </a:r>
            <a:endParaRPr lang="en-US" sz="2100" dirty="0"/>
          </a:p>
        </p:txBody>
      </p:sp>
      <p:sp>
        <p:nvSpPr>
          <p:cNvPr id="20" name="Shape 16"/>
          <p:cNvSpPr/>
          <p:nvPr/>
        </p:nvSpPr>
        <p:spPr>
          <a:xfrm>
            <a:off x="12447204" y="5121176"/>
            <a:ext cx="600076" cy="600076"/>
          </a:xfrm>
          <a:prstGeom prst="rect">
            <a:avLst/>
          </a:prstGeom>
          <a:solidFill>
            <a:srgbClr val="C1121F"/>
          </a:solidFill>
          <a:ln w="9144">
            <a:solidFill>
              <a:srgbClr val="C1121F"/>
            </a:solidFill>
            <a:prstDash val="solid"/>
          </a:ln>
        </p:spPr>
      </p:sp>
      <p:sp>
        <p:nvSpPr>
          <p:cNvPr id="21" name="Text 17"/>
          <p:cNvSpPr/>
          <p:nvPr/>
        </p:nvSpPr>
        <p:spPr>
          <a:xfrm>
            <a:off x="12590949" y="5259631"/>
            <a:ext cx="312585" cy="323165"/>
          </a:xfrm>
          <a:prstGeom prst="rect">
            <a:avLst/>
          </a:prstGeom>
          <a:noFill/>
          <a:ln/>
        </p:spPr>
        <p:txBody>
          <a:bodyPr wrap="none" lIns="0" tIns="0" rIns="0" bIns="0" rtlCol="0" anchor="ctr">
            <a:spAutoFit/>
          </a:bodyPr>
          <a:lstStyle/>
          <a:p>
            <a:pPr algn="ctr"/>
            <a:r>
              <a:rPr lang="en-US" sz="2100" b="1" dirty="0">
                <a:solidFill>
                  <a:srgbClr val="FFFFFF"/>
                </a:solidFill>
                <a:latin typeface="Montserrat Bold" pitchFamily="34" charset="0"/>
                <a:ea typeface="Montserrat Bold" pitchFamily="34" charset="-122"/>
                <a:cs typeface="Montserrat Bold" pitchFamily="34" charset="-120"/>
              </a:rPr>
              <a:t>B1</a:t>
            </a:r>
            <a:endParaRPr lang="en-US" sz="2100" dirty="0"/>
          </a:p>
        </p:txBody>
      </p:sp>
      <p:sp>
        <p:nvSpPr>
          <p:cNvPr id="22" name="Text 18"/>
          <p:cNvSpPr/>
          <p:nvPr/>
        </p:nvSpPr>
        <p:spPr>
          <a:xfrm>
            <a:off x="13776147" y="5259631"/>
            <a:ext cx="365485" cy="323165"/>
          </a:xfrm>
          <a:prstGeom prst="rect">
            <a:avLst/>
          </a:prstGeom>
          <a:noFill/>
          <a:ln/>
        </p:spPr>
        <p:txBody>
          <a:bodyPr wrap="none" lIns="0" tIns="0" rIns="0" bIns="0" rtlCol="0" anchor="ctr">
            <a:spAutoFit/>
          </a:bodyPr>
          <a:lstStyle/>
          <a:p>
            <a:pPr algn="ctr"/>
            <a:r>
              <a:rPr lang="en-US" sz="2100" b="1" dirty="0">
                <a:solidFill>
                  <a:srgbClr val="0A0A0A"/>
                </a:solidFill>
                <a:latin typeface="Montserrat Bold" pitchFamily="34" charset="0"/>
                <a:ea typeface="Montserrat Bold" pitchFamily="34" charset="-122"/>
                <a:cs typeface="Montserrat Bold" pitchFamily="34" charset="-120"/>
              </a:rPr>
              <a:t>B2</a:t>
            </a:r>
            <a:endParaRPr lang="en-US" sz="2100" dirty="0"/>
          </a:p>
        </p:txBody>
      </p:sp>
      <p:sp>
        <p:nvSpPr>
          <p:cNvPr id="23" name="Text 19"/>
          <p:cNvSpPr/>
          <p:nvPr/>
        </p:nvSpPr>
        <p:spPr>
          <a:xfrm>
            <a:off x="15036130" y="5259631"/>
            <a:ext cx="302968" cy="323165"/>
          </a:xfrm>
          <a:prstGeom prst="rect">
            <a:avLst/>
          </a:prstGeom>
          <a:noFill/>
          <a:ln/>
        </p:spPr>
        <p:txBody>
          <a:bodyPr wrap="none" lIns="0" tIns="0" rIns="0" bIns="0" rtlCol="0" anchor="ctr">
            <a:spAutoFit/>
          </a:bodyPr>
          <a:lstStyle/>
          <a:p>
            <a:pPr algn="ctr"/>
            <a:r>
              <a:rPr lang="en-US" sz="2100" b="1" dirty="0">
                <a:solidFill>
                  <a:srgbClr val="0A0A0A"/>
                </a:solidFill>
                <a:latin typeface="Montserrat Bold" pitchFamily="34" charset="0"/>
                <a:ea typeface="Montserrat Bold" pitchFamily="34" charset="-122"/>
                <a:cs typeface="Montserrat Bold" pitchFamily="34" charset="-120"/>
              </a:rPr>
              <a:t>C1</a:t>
            </a:r>
            <a:endParaRPr lang="en-US" sz="2100" dirty="0"/>
          </a:p>
        </p:txBody>
      </p:sp>
      <p:sp>
        <p:nvSpPr>
          <p:cNvPr id="24" name="Text 20"/>
          <p:cNvSpPr/>
          <p:nvPr/>
        </p:nvSpPr>
        <p:spPr>
          <a:xfrm>
            <a:off x="16238406" y="5259631"/>
            <a:ext cx="355867" cy="323165"/>
          </a:xfrm>
          <a:prstGeom prst="rect">
            <a:avLst/>
          </a:prstGeom>
          <a:noFill/>
          <a:ln/>
        </p:spPr>
        <p:txBody>
          <a:bodyPr wrap="none" lIns="0" tIns="0" rIns="0" bIns="0" rtlCol="0" anchor="ctr">
            <a:spAutoFit/>
          </a:bodyPr>
          <a:lstStyle/>
          <a:p>
            <a:pPr algn="ctr"/>
            <a:r>
              <a:rPr lang="en-US" sz="2100" b="1" dirty="0">
                <a:solidFill>
                  <a:srgbClr val="0A0A0A"/>
                </a:solidFill>
                <a:latin typeface="Montserrat Bold" pitchFamily="34" charset="0"/>
                <a:ea typeface="Montserrat Bold" pitchFamily="34" charset="-122"/>
                <a:cs typeface="Montserrat Bold" pitchFamily="34" charset="-120"/>
              </a:rPr>
              <a:t>C2</a:t>
            </a:r>
            <a:endParaRPr lang="en-US" sz="2100" dirty="0"/>
          </a:p>
        </p:txBody>
      </p:sp>
      <p:sp>
        <p:nvSpPr>
          <p:cNvPr id="25" name="Text 21"/>
          <p:cNvSpPr/>
          <p:nvPr/>
        </p:nvSpPr>
        <p:spPr>
          <a:xfrm>
            <a:off x="9572626" y="6724949"/>
            <a:ext cx="7572376" cy="323165"/>
          </a:xfrm>
          <a:prstGeom prst="rect">
            <a:avLst/>
          </a:prstGeom>
          <a:noFill/>
          <a:ln/>
        </p:spPr>
        <p:txBody>
          <a:bodyPr wrap="square" lIns="0" tIns="0" rIns="0" bIns="0" rtlCol="0" anchor="t">
            <a:spAutoFit/>
          </a:bodyPr>
          <a:lstStyle/>
          <a:p>
            <a:r>
              <a:rPr lang="en-US" sz="2100" b="1" dirty="0">
                <a:solidFill>
                  <a:srgbClr val="0A0A0A"/>
                </a:solidFill>
                <a:latin typeface="Montserrat Bold" pitchFamily="34" charset="0"/>
                <a:ea typeface="Montserrat Bold" pitchFamily="34" charset="-122"/>
                <a:cs typeface="Montserrat Bold" pitchFamily="34" charset="-120"/>
              </a:rPr>
              <a:t>Ý NGHĨA</a:t>
            </a:r>
            <a:endParaRPr lang="en-US" sz="2100" dirty="0"/>
          </a:p>
        </p:txBody>
      </p:sp>
      <p:sp>
        <p:nvSpPr>
          <p:cNvPr id="26" name="Text 22"/>
          <p:cNvSpPr/>
          <p:nvPr/>
        </p:nvSpPr>
        <p:spPr>
          <a:xfrm>
            <a:off x="9572626" y="7239299"/>
            <a:ext cx="7572376" cy="749436"/>
          </a:xfrm>
          <a:prstGeom prst="rect">
            <a:avLst/>
          </a:prstGeom>
          <a:noFill/>
          <a:ln/>
        </p:spPr>
        <p:txBody>
          <a:bodyPr wrap="square" lIns="0" tIns="0" rIns="0" bIns="0" rtlCol="0" anchor="t">
            <a:spAutoFit/>
          </a:bodyPr>
          <a:lstStyle/>
          <a:p>
            <a:pPr>
              <a:lnSpc>
                <a:spcPct val="120000"/>
              </a:lnSpc>
            </a:pPr>
            <a:r>
              <a:rPr lang="en-US" sz="2100" dirty="0">
                <a:solidFill>
                  <a:srgbClr val="404040"/>
                </a:solidFill>
                <a:latin typeface="Open Sans" pitchFamily="34" charset="0"/>
                <a:ea typeface="Open Sans" pitchFamily="34" charset="-122"/>
                <a:cs typeface="Open Sans" pitchFamily="34" charset="-120"/>
              </a:rPr>
              <a:t>Giúp người học nhìn thấy sự tiến bộ rõ rệt qua từng ngày, từ đó duy trì động lực và xây dựng lộ trình học tập bền vững.</a:t>
            </a:r>
            <a:endParaRPr lang="en-US" sz="2100" dirty="0"/>
          </a:p>
        </p:txBody>
      </p:sp>
      <p:sp>
        <p:nvSpPr>
          <p:cNvPr id="27" name="TextBox 26">
            <a:extLst>
              <a:ext uri="{FF2B5EF4-FFF2-40B4-BE49-F238E27FC236}">
                <a16:creationId xmlns:a16="http://schemas.microsoft.com/office/drawing/2014/main" id="{0E050270-9816-E66F-7444-8B6B3E68AD08}"/>
              </a:ext>
            </a:extLst>
          </p:cNvPr>
          <p:cNvSpPr txBox="1"/>
          <p:nvPr/>
        </p:nvSpPr>
        <p:spPr>
          <a:xfrm>
            <a:off x="17831821" y="9831884"/>
            <a:ext cx="415498"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25</a:t>
            </a:r>
            <a:endParaRPr lang="vi-V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8288000" cy="10287000"/>
          </a:xfrm>
          <a:prstGeom prst="rect">
            <a:avLst/>
          </a:prstGeom>
        </p:spPr>
      </p:pic>
      <p:sp>
        <p:nvSpPr>
          <p:cNvPr id="3" name="Text 0"/>
          <p:cNvSpPr/>
          <p:nvPr/>
        </p:nvSpPr>
        <p:spPr>
          <a:xfrm>
            <a:off x="1143000" y="1163539"/>
            <a:ext cx="17145000" cy="615553"/>
          </a:xfrm>
          <a:prstGeom prst="rect">
            <a:avLst/>
          </a:prstGeom>
          <a:noFill/>
          <a:ln/>
        </p:spPr>
        <p:txBody>
          <a:bodyPr wrap="square" lIns="0" tIns="0" rIns="0" bIns="0" rtlCol="0" anchor="t">
            <a:spAutoFit/>
          </a:bodyPr>
          <a:lstStyle/>
          <a:p>
            <a:r>
              <a:rPr lang="en-US" sz="4000" b="1" dirty="0">
                <a:solidFill>
                  <a:srgbClr val="0A0A0A"/>
                </a:solidFill>
                <a:latin typeface="Montserrat Bold" pitchFamily="34" charset="0"/>
                <a:ea typeface="Montserrat Bold" pitchFamily="34" charset="-122"/>
                <a:cs typeface="Montserrat Bold" pitchFamily="34" charset="-120"/>
              </a:rPr>
              <a:t>ĐẢM BẢO AN TOÀN </a:t>
            </a:r>
            <a:r>
              <a:rPr lang="en-US" sz="4000" b="1" dirty="0" err="1">
                <a:solidFill>
                  <a:srgbClr val="0A0A0A"/>
                </a:solidFill>
                <a:latin typeface="Montserrat Bold" pitchFamily="34" charset="0"/>
                <a:ea typeface="Montserrat Bold" pitchFamily="34" charset="-122"/>
                <a:cs typeface="Montserrat Bold" pitchFamily="34" charset="-120"/>
              </a:rPr>
              <a:t>DỮ</a:t>
            </a:r>
            <a:r>
              <a:rPr lang="en-US" sz="4000" b="1" dirty="0">
                <a:solidFill>
                  <a:srgbClr val="0A0A0A"/>
                </a:solidFill>
                <a:latin typeface="Montserrat Bold" pitchFamily="34" charset="0"/>
                <a:ea typeface="Montserrat Bold" pitchFamily="34" charset="-122"/>
                <a:cs typeface="Montserrat Bold" pitchFamily="34" charset="-120"/>
              </a:rPr>
              <a:t> LIỆU</a:t>
            </a:r>
            <a:endParaRPr lang="en-US" sz="4000" dirty="0"/>
          </a:p>
        </p:txBody>
      </p:sp>
      <p:pic>
        <p:nvPicPr>
          <p:cNvPr id="4" name="Image 1" descr="preencoded.png"/>
          <p:cNvPicPr>
            <a:picLocks noChangeAspect="1"/>
          </p:cNvPicPr>
          <p:nvPr/>
        </p:nvPicPr>
        <p:blipFill>
          <a:blip r:embed="rId4"/>
          <a:stretch>
            <a:fillRect/>
          </a:stretch>
        </p:blipFill>
        <p:spPr>
          <a:xfrm>
            <a:off x="1600201" y="3083423"/>
            <a:ext cx="314326" cy="314326"/>
          </a:xfrm>
          <a:prstGeom prst="rect">
            <a:avLst/>
          </a:prstGeom>
        </p:spPr>
      </p:pic>
      <p:sp>
        <p:nvSpPr>
          <p:cNvPr id="5" name="Text 1"/>
          <p:cNvSpPr/>
          <p:nvPr/>
        </p:nvSpPr>
        <p:spPr>
          <a:xfrm>
            <a:off x="2128837" y="3049488"/>
            <a:ext cx="4697138" cy="492443"/>
          </a:xfrm>
          <a:prstGeom prst="rect">
            <a:avLst/>
          </a:prstGeom>
          <a:noFill/>
          <a:ln/>
        </p:spPr>
        <p:txBody>
          <a:bodyPr wrap="square" lIns="0" tIns="0" rIns="0" bIns="0" rtlCol="0" anchor="t">
            <a:spAutoFit/>
          </a:bodyPr>
          <a:lstStyle/>
          <a:p>
            <a:r>
              <a:rPr lang="en-US" sz="3200" b="1" dirty="0">
                <a:solidFill>
                  <a:srgbClr val="C1121F"/>
                </a:solidFill>
                <a:latin typeface="Montserrat Bold" pitchFamily="34" charset="0"/>
                <a:ea typeface="Montserrat Bold" pitchFamily="34" charset="-122"/>
                <a:cs typeface="Montserrat Bold" pitchFamily="34" charset="-120"/>
              </a:rPr>
              <a:t>QUY TRÌNH ĐỒNG BỘ</a:t>
            </a:r>
            <a:endParaRPr lang="en-US" sz="3200" dirty="0"/>
          </a:p>
        </p:txBody>
      </p:sp>
      <p:pic>
        <p:nvPicPr>
          <p:cNvPr id="6" name="Image 2" descr="preencoded.png"/>
          <p:cNvPicPr>
            <a:picLocks noChangeAspect="1"/>
          </p:cNvPicPr>
          <p:nvPr/>
        </p:nvPicPr>
        <p:blipFill>
          <a:blip r:embed="rId5"/>
          <a:stretch>
            <a:fillRect/>
          </a:stretch>
        </p:blipFill>
        <p:spPr>
          <a:xfrm>
            <a:off x="3756489" y="4038898"/>
            <a:ext cx="160734" cy="214312"/>
          </a:xfrm>
          <a:prstGeom prst="rect">
            <a:avLst/>
          </a:prstGeom>
        </p:spPr>
      </p:pic>
      <p:sp>
        <p:nvSpPr>
          <p:cNvPr id="7" name="Text 2"/>
          <p:cNvSpPr/>
          <p:nvPr/>
        </p:nvSpPr>
        <p:spPr>
          <a:xfrm>
            <a:off x="4004199" y="3992167"/>
            <a:ext cx="2834109" cy="307777"/>
          </a:xfrm>
          <a:prstGeom prst="rect">
            <a:avLst/>
          </a:prstGeom>
          <a:noFill/>
          <a:ln/>
        </p:spPr>
        <p:txBody>
          <a:bodyPr wrap="none" lIns="0" tIns="0" rIns="0" bIns="0" rtlCol="0" anchor="t">
            <a:spAutoFit/>
          </a:bodyPr>
          <a:lstStyle/>
          <a:p>
            <a:pPr algn="ctr"/>
            <a:r>
              <a:rPr lang="en-US" sz="2000" dirty="0">
                <a:solidFill>
                  <a:srgbClr val="0A0A0A"/>
                </a:solidFill>
                <a:latin typeface="Open Sans SemiBold" pitchFamily="34" charset="0"/>
                <a:ea typeface="Open Sans SemiBold" pitchFamily="34" charset="-122"/>
                <a:cs typeface="Open Sans SemiBold" pitchFamily="34" charset="-120"/>
              </a:rPr>
              <a:t>Room Database (Local)</a:t>
            </a:r>
            <a:endParaRPr lang="en-US" sz="2000" dirty="0"/>
          </a:p>
        </p:txBody>
      </p:sp>
      <p:pic>
        <p:nvPicPr>
          <p:cNvPr id="8" name="Image 3" descr="preencoded.png"/>
          <p:cNvPicPr>
            <a:picLocks noChangeAspect="1"/>
          </p:cNvPicPr>
          <p:nvPr/>
        </p:nvPicPr>
        <p:blipFill>
          <a:blip r:embed="rId6"/>
          <a:stretch>
            <a:fillRect/>
          </a:stretch>
        </p:blipFill>
        <p:spPr>
          <a:xfrm>
            <a:off x="5201934" y="4810423"/>
            <a:ext cx="142876" cy="285750"/>
          </a:xfrm>
          <a:prstGeom prst="rect">
            <a:avLst/>
          </a:prstGeom>
        </p:spPr>
      </p:pic>
      <p:sp>
        <p:nvSpPr>
          <p:cNvPr id="9" name="Text 3"/>
          <p:cNvSpPr/>
          <p:nvPr/>
        </p:nvSpPr>
        <p:spPr>
          <a:xfrm>
            <a:off x="2449164" y="5331467"/>
            <a:ext cx="5916308" cy="307777"/>
          </a:xfrm>
          <a:prstGeom prst="rect">
            <a:avLst/>
          </a:prstGeom>
          <a:noFill/>
          <a:ln/>
        </p:spPr>
        <p:txBody>
          <a:bodyPr wrap="square" lIns="0" tIns="0" rIns="0" bIns="0" rtlCol="0" anchor="t">
            <a:spAutoFit/>
          </a:bodyPr>
          <a:lstStyle/>
          <a:p>
            <a:pPr algn="ctr"/>
            <a:r>
              <a:rPr lang="en-US" sz="2000" dirty="0">
                <a:solidFill>
                  <a:srgbClr val="404040"/>
                </a:solidFill>
                <a:latin typeface="Open Sans" pitchFamily="34" charset="0"/>
                <a:ea typeface="Open Sans" pitchFamily="34" charset="-122"/>
                <a:cs typeface="Open Sans" pitchFamily="34" charset="-120"/>
              </a:rPr>
              <a:t>Tự động xử lý đồng bộ trong nền khi có Internet</a:t>
            </a:r>
            <a:endParaRPr lang="en-US" sz="2000" dirty="0"/>
          </a:p>
        </p:txBody>
      </p:sp>
      <p:pic>
        <p:nvPicPr>
          <p:cNvPr id="10" name="Image 4" descr="preencoded.png"/>
          <p:cNvPicPr>
            <a:picLocks noChangeAspect="1"/>
          </p:cNvPicPr>
          <p:nvPr/>
        </p:nvPicPr>
        <p:blipFill>
          <a:blip r:embed="rId6"/>
          <a:stretch>
            <a:fillRect/>
          </a:stretch>
        </p:blipFill>
        <p:spPr>
          <a:xfrm>
            <a:off x="5201934" y="5881987"/>
            <a:ext cx="142876" cy="285750"/>
          </a:xfrm>
          <a:prstGeom prst="rect">
            <a:avLst/>
          </a:prstGeom>
        </p:spPr>
      </p:pic>
      <p:sp>
        <p:nvSpPr>
          <p:cNvPr id="11" name="Shape 4"/>
          <p:cNvSpPr/>
          <p:nvPr/>
        </p:nvSpPr>
        <p:spPr>
          <a:xfrm>
            <a:off x="1371601" y="6428483"/>
            <a:ext cx="7803542" cy="750094"/>
          </a:xfrm>
          <a:prstGeom prst="rect">
            <a:avLst/>
          </a:prstGeom>
          <a:solidFill>
            <a:srgbClr val="F8F8F8"/>
          </a:solidFill>
          <a:ln w="9144">
            <a:solidFill>
              <a:srgbClr val="0A0A0A"/>
            </a:solidFill>
            <a:prstDash val="solid"/>
          </a:ln>
        </p:spPr>
      </p:sp>
      <p:pic>
        <p:nvPicPr>
          <p:cNvPr id="12" name="Image 5" descr="preencoded.png"/>
          <p:cNvPicPr>
            <a:picLocks noChangeAspect="1"/>
          </p:cNvPicPr>
          <p:nvPr/>
        </p:nvPicPr>
        <p:blipFill>
          <a:blip r:embed="rId7"/>
          <a:stretch>
            <a:fillRect/>
          </a:stretch>
        </p:blipFill>
        <p:spPr>
          <a:xfrm>
            <a:off x="3649333" y="6685658"/>
            <a:ext cx="267890" cy="214312"/>
          </a:xfrm>
          <a:prstGeom prst="rect">
            <a:avLst/>
          </a:prstGeom>
        </p:spPr>
      </p:pic>
      <p:sp>
        <p:nvSpPr>
          <p:cNvPr id="13" name="Text 5"/>
          <p:cNvSpPr/>
          <p:nvPr/>
        </p:nvSpPr>
        <p:spPr>
          <a:xfrm>
            <a:off x="3988983" y="6642795"/>
            <a:ext cx="2836674" cy="307777"/>
          </a:xfrm>
          <a:prstGeom prst="rect">
            <a:avLst/>
          </a:prstGeom>
          <a:noFill/>
          <a:ln/>
        </p:spPr>
        <p:txBody>
          <a:bodyPr wrap="none" lIns="0" tIns="0" rIns="0" bIns="0" rtlCol="0" anchor="t">
            <a:spAutoFit/>
          </a:bodyPr>
          <a:lstStyle/>
          <a:p>
            <a:pPr algn="ctr"/>
            <a:r>
              <a:rPr lang="en-US" sz="2000" dirty="0">
                <a:solidFill>
                  <a:srgbClr val="0A0A0A"/>
                </a:solidFill>
                <a:latin typeface="Open Sans SemiBold" pitchFamily="34" charset="0"/>
                <a:ea typeface="Open Sans SemiBold" pitchFamily="34" charset="-122"/>
                <a:cs typeface="Open Sans SemiBold" pitchFamily="34" charset="-120"/>
              </a:rPr>
              <a:t>Firebase Cloud Storage</a:t>
            </a:r>
            <a:endParaRPr lang="en-US" sz="2000" dirty="0"/>
          </a:p>
        </p:txBody>
      </p:sp>
      <p:sp>
        <p:nvSpPr>
          <p:cNvPr id="14" name="Text 6"/>
          <p:cNvSpPr/>
          <p:nvPr/>
        </p:nvSpPr>
        <p:spPr>
          <a:xfrm>
            <a:off x="1600201" y="7507189"/>
            <a:ext cx="7803542" cy="1083053"/>
          </a:xfrm>
          <a:prstGeom prst="rect">
            <a:avLst/>
          </a:prstGeom>
          <a:noFill/>
          <a:ln/>
        </p:spPr>
        <p:txBody>
          <a:bodyPr wrap="square" lIns="0" tIns="0" rIns="0" bIns="0" rtlCol="0" anchor="t">
            <a:spAutoFit/>
          </a:bodyPr>
          <a:lstStyle/>
          <a:p>
            <a:pPr>
              <a:lnSpc>
                <a:spcPct val="120000"/>
              </a:lnSpc>
            </a:pPr>
            <a:r>
              <a:rPr lang="en-US" sz="2000" dirty="0">
                <a:solidFill>
                  <a:srgbClr val="404040"/>
                </a:solidFill>
                <a:latin typeface="Open Sans" pitchFamily="34" charset="0"/>
                <a:ea typeface="Open Sans" pitchFamily="34" charset="-122"/>
                <a:cs typeface="Open Sans" pitchFamily="34" charset="-120"/>
              </a:rPr>
              <a:t>Cơ chế </a:t>
            </a:r>
            <a:r>
              <a:rPr lang="en-US" sz="2000" b="1" dirty="0">
                <a:solidFill>
                  <a:srgbClr val="404040"/>
                </a:solidFill>
                <a:latin typeface="Open Sans SemiBold" pitchFamily="34" charset="0"/>
                <a:ea typeface="Open Sans SemiBold" pitchFamily="34" charset="-122"/>
                <a:cs typeface="Open Sans SemiBold" pitchFamily="34" charset="-120"/>
              </a:rPr>
              <a:t>Offline First</a:t>
            </a:r>
            <a:r>
              <a:rPr lang="en-US" sz="2000" dirty="0">
                <a:solidFill>
                  <a:srgbClr val="404040"/>
                </a:solidFill>
                <a:latin typeface="Open Sans" pitchFamily="34" charset="0"/>
                <a:ea typeface="Open Sans" pitchFamily="34" charset="-122"/>
                <a:cs typeface="Open Sans" pitchFamily="34" charset="-120"/>
              </a:rPr>
              <a:t> đảm bảo người dùng không bao giờ bị gián đoạn việc học tập, đồng thời dữ liệu luôn được sao lưu an toàn trên đám mây.</a:t>
            </a:r>
            <a:endParaRPr lang="en-US" sz="2000" dirty="0"/>
          </a:p>
        </p:txBody>
      </p:sp>
      <p:sp>
        <p:nvSpPr>
          <p:cNvPr id="15" name="Text 7"/>
          <p:cNvSpPr/>
          <p:nvPr/>
        </p:nvSpPr>
        <p:spPr>
          <a:xfrm>
            <a:off x="10260991" y="2878039"/>
            <a:ext cx="9116522" cy="492443"/>
          </a:xfrm>
          <a:prstGeom prst="rect">
            <a:avLst/>
          </a:prstGeom>
          <a:noFill/>
          <a:ln/>
        </p:spPr>
        <p:txBody>
          <a:bodyPr wrap="square" lIns="0" tIns="0" rIns="0" bIns="0" rtlCol="0" anchor="t">
            <a:spAutoFit/>
          </a:bodyPr>
          <a:lstStyle/>
          <a:p>
            <a:r>
              <a:rPr lang="en-US" sz="3200" b="1" dirty="0">
                <a:solidFill>
                  <a:srgbClr val="C1121F"/>
                </a:solidFill>
                <a:latin typeface="Montserrat Bold" pitchFamily="34" charset="0"/>
                <a:ea typeface="Montserrat Bold" pitchFamily="34" charset="-122"/>
                <a:cs typeface="Montserrat Bold" pitchFamily="34" charset="-120"/>
              </a:rPr>
              <a:t>TIỆN ÍCH BỔ SUNG</a:t>
            </a:r>
            <a:endParaRPr lang="en-US" sz="3200" dirty="0"/>
          </a:p>
        </p:txBody>
      </p:sp>
      <p:pic>
        <p:nvPicPr>
          <p:cNvPr id="16" name="Image 6" descr="preencoded.png"/>
          <p:cNvPicPr>
            <a:picLocks noChangeAspect="1"/>
          </p:cNvPicPr>
          <p:nvPr/>
        </p:nvPicPr>
        <p:blipFill>
          <a:blip r:embed="rId8"/>
          <a:stretch>
            <a:fillRect/>
          </a:stretch>
        </p:blipFill>
        <p:spPr>
          <a:xfrm>
            <a:off x="10260992" y="3628132"/>
            <a:ext cx="225028" cy="257176"/>
          </a:xfrm>
          <a:prstGeom prst="rect">
            <a:avLst/>
          </a:prstGeom>
        </p:spPr>
      </p:pic>
      <p:sp>
        <p:nvSpPr>
          <p:cNvPr id="17" name="Text 8"/>
          <p:cNvSpPr/>
          <p:nvPr/>
        </p:nvSpPr>
        <p:spPr>
          <a:xfrm>
            <a:off x="10628896" y="3581699"/>
            <a:ext cx="2611292" cy="323165"/>
          </a:xfrm>
          <a:prstGeom prst="rect">
            <a:avLst/>
          </a:prstGeom>
          <a:noFill/>
          <a:ln/>
        </p:spPr>
        <p:txBody>
          <a:bodyPr wrap="none" lIns="0" tIns="0" rIns="0" bIns="0" rtlCol="0" anchor="t">
            <a:spAutoFit/>
          </a:bodyPr>
          <a:lstStyle/>
          <a:p>
            <a:r>
              <a:rPr lang="en-US" sz="2100" dirty="0">
                <a:solidFill>
                  <a:srgbClr val="0A0A0A"/>
                </a:solidFill>
                <a:latin typeface="Open Sans SemiBold" pitchFamily="34" charset="0"/>
                <a:ea typeface="Open Sans SemiBold" pitchFamily="34" charset="-122"/>
                <a:cs typeface="Open Sans SemiBold" pitchFamily="34" charset="-120"/>
              </a:rPr>
              <a:t>Thông báo nhắc học</a:t>
            </a:r>
            <a:endParaRPr lang="en-US" sz="2100" dirty="0"/>
          </a:p>
        </p:txBody>
      </p:sp>
      <p:sp>
        <p:nvSpPr>
          <p:cNvPr id="18" name="Text 9"/>
          <p:cNvSpPr/>
          <p:nvPr/>
        </p:nvSpPr>
        <p:spPr>
          <a:xfrm>
            <a:off x="10260992" y="4146055"/>
            <a:ext cx="7845640" cy="713722"/>
          </a:xfrm>
          <a:prstGeom prst="rect">
            <a:avLst/>
          </a:prstGeom>
          <a:noFill/>
          <a:ln/>
        </p:spPr>
        <p:txBody>
          <a:bodyPr wrap="square" lIns="0" tIns="0" rIns="0" bIns="0" rtlCol="0" anchor="t">
            <a:spAutoFit/>
          </a:bodyPr>
          <a:lstStyle/>
          <a:p>
            <a:pPr>
              <a:lnSpc>
                <a:spcPct val="120000"/>
              </a:lnSpc>
            </a:pPr>
            <a:r>
              <a:rPr lang="en-US" sz="2000" dirty="0">
                <a:solidFill>
                  <a:srgbClr val="404040"/>
                </a:solidFill>
                <a:latin typeface="Open Sans" pitchFamily="34" charset="0"/>
                <a:ea typeface="Open Sans" pitchFamily="34" charset="-122"/>
                <a:cs typeface="Open Sans" pitchFamily="34" charset="-120"/>
              </a:rPr>
              <a:t>Hệ thống tạo lịch thông báo định kỳ dựa trên thời gian người dùng lựa chọn (Ví dụ: 21:00 hằng ngày), giúp duy trì thói quen bền vững.</a:t>
            </a:r>
            <a:endParaRPr lang="en-US" sz="2000" dirty="0"/>
          </a:p>
        </p:txBody>
      </p:sp>
      <p:pic>
        <p:nvPicPr>
          <p:cNvPr id="19" name="Image 7" descr="preencoded.png"/>
          <p:cNvPicPr>
            <a:picLocks noChangeAspect="1"/>
          </p:cNvPicPr>
          <p:nvPr/>
        </p:nvPicPr>
        <p:blipFill>
          <a:blip r:embed="rId9"/>
          <a:stretch>
            <a:fillRect/>
          </a:stretch>
        </p:blipFill>
        <p:spPr>
          <a:xfrm>
            <a:off x="10260992" y="5264050"/>
            <a:ext cx="321468" cy="257176"/>
          </a:xfrm>
          <a:prstGeom prst="rect">
            <a:avLst/>
          </a:prstGeom>
        </p:spPr>
      </p:pic>
      <p:sp>
        <p:nvSpPr>
          <p:cNvPr id="20" name="Text 10"/>
          <p:cNvSpPr/>
          <p:nvPr/>
        </p:nvSpPr>
        <p:spPr>
          <a:xfrm>
            <a:off x="10725336" y="5217617"/>
            <a:ext cx="1984518" cy="323165"/>
          </a:xfrm>
          <a:prstGeom prst="rect">
            <a:avLst/>
          </a:prstGeom>
          <a:noFill/>
          <a:ln/>
        </p:spPr>
        <p:txBody>
          <a:bodyPr wrap="none" lIns="0" tIns="0" rIns="0" bIns="0" rtlCol="0" anchor="t">
            <a:spAutoFit/>
          </a:bodyPr>
          <a:lstStyle/>
          <a:p>
            <a:r>
              <a:rPr lang="en-US" sz="2100" dirty="0">
                <a:solidFill>
                  <a:srgbClr val="0A0A0A"/>
                </a:solidFill>
                <a:latin typeface="Open Sans SemiBold" pitchFamily="34" charset="0"/>
                <a:ea typeface="Open Sans SemiBold" pitchFamily="34" charset="-122"/>
                <a:cs typeface="Open Sans SemiBold" pitchFamily="34" charset="-120"/>
              </a:rPr>
              <a:t>Hồ sơ &amp; Cài đặt</a:t>
            </a:r>
            <a:endParaRPr lang="en-US" sz="2100" dirty="0"/>
          </a:p>
        </p:txBody>
      </p:sp>
      <p:sp>
        <p:nvSpPr>
          <p:cNvPr id="21" name="Text 11"/>
          <p:cNvSpPr/>
          <p:nvPr/>
        </p:nvSpPr>
        <p:spPr>
          <a:xfrm>
            <a:off x="10260992" y="5781973"/>
            <a:ext cx="7588700" cy="713722"/>
          </a:xfrm>
          <a:prstGeom prst="rect">
            <a:avLst/>
          </a:prstGeom>
          <a:noFill/>
          <a:ln/>
        </p:spPr>
        <p:txBody>
          <a:bodyPr wrap="square" lIns="0" tIns="0" rIns="0" bIns="0" rtlCol="0" anchor="t">
            <a:spAutoFit/>
          </a:bodyPr>
          <a:lstStyle/>
          <a:p>
            <a:pPr>
              <a:lnSpc>
                <a:spcPct val="120000"/>
              </a:lnSpc>
            </a:pPr>
            <a:r>
              <a:rPr lang="en-US" sz="2000" dirty="0">
                <a:solidFill>
                  <a:srgbClr val="404040"/>
                </a:solidFill>
                <a:latin typeface="Open Sans" pitchFamily="34" charset="0"/>
                <a:ea typeface="Open Sans" pitchFamily="34" charset="-122"/>
                <a:cs typeface="Open Sans" pitchFamily="34" charset="-120"/>
              </a:rPr>
              <a:t>Quản lý thông tin cá nhân, đổi mật khẩu, bật/tắt thông báo và chuyển đổi giao diện Sáng/Tối linh hoạt.</a:t>
            </a:r>
            <a:endParaRPr lang="en-US" sz="2000" dirty="0"/>
          </a:p>
        </p:txBody>
      </p:sp>
      <p:pic>
        <p:nvPicPr>
          <p:cNvPr id="22" name="Image 8" descr="preencoded.png"/>
          <p:cNvPicPr>
            <a:picLocks noChangeAspect="1"/>
          </p:cNvPicPr>
          <p:nvPr/>
        </p:nvPicPr>
        <p:blipFill>
          <a:blip r:embed="rId10"/>
          <a:stretch>
            <a:fillRect/>
          </a:stretch>
        </p:blipFill>
        <p:spPr>
          <a:xfrm>
            <a:off x="10260992" y="6899970"/>
            <a:ext cx="257176" cy="257176"/>
          </a:xfrm>
          <a:prstGeom prst="rect">
            <a:avLst/>
          </a:prstGeom>
        </p:spPr>
      </p:pic>
      <p:sp>
        <p:nvSpPr>
          <p:cNvPr id="23" name="Text 12"/>
          <p:cNvSpPr/>
          <p:nvPr/>
        </p:nvSpPr>
        <p:spPr>
          <a:xfrm>
            <a:off x="10661043" y="6853537"/>
            <a:ext cx="1088439" cy="323165"/>
          </a:xfrm>
          <a:prstGeom prst="rect">
            <a:avLst/>
          </a:prstGeom>
          <a:noFill/>
          <a:ln/>
        </p:spPr>
        <p:txBody>
          <a:bodyPr wrap="none" lIns="0" tIns="0" rIns="0" bIns="0" rtlCol="0" anchor="t">
            <a:spAutoFit/>
          </a:bodyPr>
          <a:lstStyle/>
          <a:p>
            <a:r>
              <a:rPr lang="en-US" sz="2100" dirty="0">
                <a:solidFill>
                  <a:srgbClr val="0A0A0A"/>
                </a:solidFill>
                <a:latin typeface="Open Sans SemiBold" pitchFamily="34" charset="0"/>
                <a:ea typeface="Open Sans SemiBold" pitchFamily="34" charset="-122"/>
                <a:cs typeface="Open Sans SemiBold" pitchFamily="34" charset="-120"/>
              </a:rPr>
              <a:t>Bảo mật</a:t>
            </a:r>
            <a:endParaRPr lang="en-US" sz="2100" dirty="0"/>
          </a:p>
        </p:txBody>
      </p:sp>
      <p:sp>
        <p:nvSpPr>
          <p:cNvPr id="24" name="Text 13"/>
          <p:cNvSpPr/>
          <p:nvPr/>
        </p:nvSpPr>
        <p:spPr>
          <a:xfrm>
            <a:off x="10260992" y="7417893"/>
            <a:ext cx="7346340" cy="713722"/>
          </a:xfrm>
          <a:prstGeom prst="rect">
            <a:avLst/>
          </a:prstGeom>
          <a:noFill/>
          <a:ln/>
        </p:spPr>
        <p:txBody>
          <a:bodyPr wrap="square" lIns="0" tIns="0" rIns="0" bIns="0" rtlCol="0" anchor="t">
            <a:spAutoFit/>
          </a:bodyPr>
          <a:lstStyle/>
          <a:p>
            <a:pPr>
              <a:lnSpc>
                <a:spcPct val="120000"/>
              </a:lnSpc>
            </a:pPr>
            <a:r>
              <a:rPr lang="en-US" sz="2000" dirty="0">
                <a:solidFill>
                  <a:srgbClr val="404040"/>
                </a:solidFill>
                <a:latin typeface="Open Sans" pitchFamily="34" charset="0"/>
                <a:ea typeface="Open Sans" pitchFamily="34" charset="-122"/>
                <a:cs typeface="Open Sans" pitchFamily="34" charset="-120"/>
              </a:rPr>
              <a:t>Cơ chế đăng xuất an toàn và bảo mật dữ liệu học tập cá nhân trên nhiều thiết bị.</a:t>
            </a:r>
            <a:endParaRPr lang="en-US" sz="2000" dirty="0"/>
          </a:p>
        </p:txBody>
      </p:sp>
      <p:sp>
        <p:nvSpPr>
          <p:cNvPr id="25" name="TextBox 24">
            <a:extLst>
              <a:ext uri="{FF2B5EF4-FFF2-40B4-BE49-F238E27FC236}">
                <a16:creationId xmlns:a16="http://schemas.microsoft.com/office/drawing/2014/main" id="{B92C36A2-8D8E-9DD2-D123-2B913B39EC9D}"/>
              </a:ext>
            </a:extLst>
          </p:cNvPr>
          <p:cNvSpPr txBox="1"/>
          <p:nvPr/>
        </p:nvSpPr>
        <p:spPr>
          <a:xfrm>
            <a:off x="17831821" y="9831884"/>
            <a:ext cx="415498"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26</a:t>
            </a:r>
            <a:endParaRPr lang="vi-V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0A513-7E3D-5411-B8C4-122C10A4EB58}"/>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7B3D45C3-F36A-429C-91F6-5C17E70AD9D8}"/>
              </a:ext>
            </a:extLst>
          </p:cNvPr>
          <p:cNvPicPr>
            <a:picLocks noChangeAspect="1"/>
          </p:cNvPicPr>
          <p:nvPr/>
        </p:nvPicPr>
        <p:blipFill>
          <a:blip r:embed="rId3"/>
          <a:stretch>
            <a:fillRect/>
          </a:stretch>
        </p:blipFill>
        <p:spPr>
          <a:xfrm>
            <a:off x="0" y="0"/>
            <a:ext cx="18288000" cy="10287000"/>
          </a:xfrm>
          <a:prstGeom prst="rect">
            <a:avLst/>
          </a:prstGeom>
        </p:spPr>
      </p:pic>
      <p:sp>
        <p:nvSpPr>
          <p:cNvPr id="3" name="Text 0">
            <a:extLst>
              <a:ext uri="{FF2B5EF4-FFF2-40B4-BE49-F238E27FC236}">
                <a16:creationId xmlns:a16="http://schemas.microsoft.com/office/drawing/2014/main" id="{ED60099F-1187-43A9-DCF5-0F3641C84918}"/>
              </a:ext>
            </a:extLst>
          </p:cNvPr>
          <p:cNvSpPr/>
          <p:nvPr/>
        </p:nvSpPr>
        <p:spPr>
          <a:xfrm>
            <a:off x="1714500" y="3899429"/>
            <a:ext cx="16573500" cy="2031325"/>
          </a:xfrm>
          <a:prstGeom prst="rect">
            <a:avLst/>
          </a:prstGeom>
          <a:noFill/>
          <a:ln/>
        </p:spPr>
        <p:txBody>
          <a:bodyPr wrap="square" lIns="0" tIns="0" rIns="0" bIns="0" rtlCol="0" anchor="t">
            <a:spAutoFit/>
          </a:bodyPr>
          <a:lstStyle/>
          <a:p>
            <a:pPr>
              <a:lnSpc>
                <a:spcPct val="88000"/>
              </a:lnSpc>
            </a:pPr>
            <a:r>
              <a:rPr lang="en-US" sz="7500" b="1" kern="0" spc="-2" dirty="0" err="1">
                <a:solidFill>
                  <a:srgbClr val="0A0A0A"/>
                </a:solidFill>
                <a:latin typeface="Montserrat Black" pitchFamily="34" charset="0"/>
                <a:ea typeface="Montserrat Black" pitchFamily="34" charset="-122"/>
                <a:cs typeface="Montserrat Black" pitchFamily="34" charset="-120"/>
              </a:rPr>
              <a:t>PHẦN</a:t>
            </a:r>
            <a:r>
              <a:rPr lang="en-US" sz="7500" b="1" kern="0" spc="-2" dirty="0">
                <a:solidFill>
                  <a:srgbClr val="0A0A0A"/>
                </a:solidFill>
                <a:latin typeface="Montserrat Black" pitchFamily="34" charset="0"/>
                <a:ea typeface="Montserrat Black" pitchFamily="34" charset="-122"/>
                <a:cs typeface="Montserrat Black" pitchFamily="34" charset="-120"/>
              </a:rPr>
              <a:t> 4: </a:t>
            </a:r>
            <a:r>
              <a:rPr lang="vi-VN" sz="7500" b="1" kern="0" spc="-2" dirty="0">
                <a:solidFill>
                  <a:srgbClr val="0A0A0A"/>
                </a:solidFill>
                <a:latin typeface="Montserrat Black" pitchFamily="34" charset="0"/>
                <a:ea typeface="Montserrat Black" pitchFamily="34" charset="-122"/>
                <a:cs typeface="Montserrat Black" pitchFamily="34" charset="-120"/>
              </a:rPr>
              <a:t>TỔNG KẾT &amp; </a:t>
            </a:r>
          </a:p>
          <a:p>
            <a:pPr>
              <a:lnSpc>
                <a:spcPct val="88000"/>
              </a:lnSpc>
            </a:pPr>
            <a:r>
              <a:rPr lang="vi-VN" sz="7500" b="1" kern="0" spc="-2" dirty="0">
                <a:solidFill>
                  <a:srgbClr val="0A0A0A"/>
                </a:solidFill>
                <a:latin typeface="Montserrat Black" pitchFamily="34" charset="0"/>
                <a:ea typeface="Montserrat Black" pitchFamily="34" charset="-122"/>
                <a:cs typeface="Montserrat Black" pitchFamily="34" charset="-120"/>
              </a:rPr>
              <a:t>HƯỚNG PHÁT TRIỂN</a:t>
            </a:r>
            <a:endParaRPr lang="en-US" sz="7500" dirty="0"/>
          </a:p>
        </p:txBody>
      </p:sp>
      <p:sp>
        <p:nvSpPr>
          <p:cNvPr id="4" name="TextBox 3">
            <a:extLst>
              <a:ext uri="{FF2B5EF4-FFF2-40B4-BE49-F238E27FC236}">
                <a16:creationId xmlns:a16="http://schemas.microsoft.com/office/drawing/2014/main" id="{F82CBE4D-7B97-F143-00DA-C57FC5F2B368}"/>
              </a:ext>
            </a:extLst>
          </p:cNvPr>
          <p:cNvSpPr txBox="1"/>
          <p:nvPr/>
        </p:nvSpPr>
        <p:spPr>
          <a:xfrm>
            <a:off x="17831821" y="9831884"/>
            <a:ext cx="415498"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27</a:t>
            </a:r>
            <a:endParaRPr lang="vi-V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08104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8288000" cy="10287000"/>
          </a:xfrm>
          <a:prstGeom prst="rect">
            <a:avLst/>
          </a:prstGeom>
        </p:spPr>
      </p:pic>
      <p:sp>
        <p:nvSpPr>
          <p:cNvPr id="3" name="Text 0"/>
          <p:cNvSpPr/>
          <p:nvPr/>
        </p:nvSpPr>
        <p:spPr>
          <a:xfrm>
            <a:off x="1143000" y="1163539"/>
            <a:ext cx="17145000" cy="615553"/>
          </a:xfrm>
          <a:prstGeom prst="rect">
            <a:avLst/>
          </a:prstGeom>
          <a:noFill/>
          <a:ln/>
        </p:spPr>
        <p:txBody>
          <a:bodyPr wrap="square" lIns="0" tIns="0" rIns="0" bIns="0" rtlCol="0" anchor="t">
            <a:spAutoFit/>
          </a:bodyPr>
          <a:lstStyle/>
          <a:p>
            <a:r>
              <a:rPr lang="en-US" sz="4000" b="1" dirty="0">
                <a:solidFill>
                  <a:srgbClr val="000000"/>
                </a:solidFill>
                <a:latin typeface="Montserrat Bold" pitchFamily="34" charset="0"/>
                <a:ea typeface="Montserrat Bold" pitchFamily="34" charset="-122"/>
                <a:cs typeface="Montserrat Bold" pitchFamily="34" charset="-120"/>
              </a:rPr>
              <a:t>ĐÁNH GIÁ MỨC ĐỘ HOÀN THIỆN CHỨC NĂNG</a:t>
            </a:r>
            <a:endParaRPr lang="en-US" sz="4000" dirty="0"/>
          </a:p>
        </p:txBody>
      </p:sp>
      <p:sp>
        <p:nvSpPr>
          <p:cNvPr id="4" name="Shape 1"/>
          <p:cNvSpPr/>
          <p:nvPr/>
        </p:nvSpPr>
        <p:spPr>
          <a:xfrm>
            <a:off x="1143001" y="2549427"/>
            <a:ext cx="857250" cy="857250"/>
          </a:xfrm>
          <a:prstGeom prst="rect">
            <a:avLst/>
          </a:prstGeom>
          <a:solidFill>
            <a:srgbClr val="D32F2F"/>
          </a:solidFill>
          <a:ln/>
        </p:spPr>
      </p:sp>
      <p:pic>
        <p:nvPicPr>
          <p:cNvPr id="5" name="Image 1" descr="preencoded.png"/>
          <p:cNvPicPr>
            <a:picLocks noChangeAspect="1"/>
          </p:cNvPicPr>
          <p:nvPr/>
        </p:nvPicPr>
        <p:blipFill>
          <a:blip r:embed="rId4"/>
          <a:stretch>
            <a:fillRect/>
          </a:stretch>
        </p:blipFill>
        <p:spPr>
          <a:xfrm>
            <a:off x="1371601" y="2778027"/>
            <a:ext cx="400050" cy="400050"/>
          </a:xfrm>
          <a:prstGeom prst="rect">
            <a:avLst/>
          </a:prstGeom>
        </p:spPr>
      </p:pic>
      <p:sp>
        <p:nvSpPr>
          <p:cNvPr id="6" name="Text 2"/>
          <p:cNvSpPr/>
          <p:nvPr/>
        </p:nvSpPr>
        <p:spPr>
          <a:xfrm>
            <a:off x="2228851" y="2747190"/>
            <a:ext cx="6715126" cy="492443"/>
          </a:xfrm>
          <a:prstGeom prst="rect">
            <a:avLst/>
          </a:prstGeom>
          <a:noFill/>
          <a:ln/>
        </p:spPr>
        <p:txBody>
          <a:bodyPr wrap="square" lIns="0" tIns="0" rIns="0" bIns="0" rtlCol="0" anchor="t">
            <a:spAutoFit/>
          </a:bodyPr>
          <a:lstStyle/>
          <a:p>
            <a:r>
              <a:rPr lang="en-US" sz="3200" dirty="0">
                <a:solidFill>
                  <a:srgbClr val="000000"/>
                </a:solidFill>
                <a:latin typeface="Montserrat Bold" panose="00000800000000000000" charset="-93"/>
                <a:ea typeface="Open Sans SemiBold" pitchFamily="34" charset="-122"/>
                <a:cs typeface="Open Sans SemiBold" pitchFamily="34" charset="-120"/>
              </a:rPr>
              <a:t>Quy trình học tập khép kín</a:t>
            </a:r>
            <a:endParaRPr lang="en-US" sz="3200" dirty="0">
              <a:latin typeface="Montserrat Bold" panose="00000800000000000000" charset="-93"/>
            </a:endParaRPr>
          </a:p>
        </p:txBody>
      </p:sp>
      <p:sp>
        <p:nvSpPr>
          <p:cNvPr id="7" name="Text 3"/>
          <p:cNvSpPr/>
          <p:nvPr/>
        </p:nvSpPr>
        <p:spPr>
          <a:xfrm>
            <a:off x="2228851" y="3378101"/>
            <a:ext cx="6715126" cy="756810"/>
          </a:xfrm>
          <a:prstGeom prst="rect">
            <a:avLst/>
          </a:prstGeom>
          <a:noFill/>
          <a:ln/>
        </p:spPr>
        <p:txBody>
          <a:bodyPr wrap="square" lIns="0" tIns="0" rIns="0" bIns="0" rtlCol="0" anchor="t">
            <a:spAutoFit/>
          </a:bodyPr>
          <a:lstStyle/>
          <a:p>
            <a:pPr>
              <a:lnSpc>
                <a:spcPct val="128000"/>
              </a:lnSpc>
            </a:pPr>
            <a:r>
              <a:rPr lang="en-US" sz="2000" dirty="0">
                <a:solidFill>
                  <a:srgbClr val="333333"/>
                </a:solidFill>
                <a:latin typeface="Open Sans" pitchFamily="34" charset="0"/>
                <a:ea typeface="Open Sans" pitchFamily="34" charset="-122"/>
                <a:cs typeface="Open Sans" pitchFamily="34" charset="-120"/>
              </a:rPr>
              <a:t>Tích hợp đầy đủ từ tạo từ vựng, học Flashcard đến ôn tập theo phương pháp SRS.</a:t>
            </a:r>
            <a:endParaRPr lang="en-US" sz="2000" dirty="0"/>
          </a:p>
        </p:txBody>
      </p:sp>
      <p:sp>
        <p:nvSpPr>
          <p:cNvPr id="8" name="Shape 4"/>
          <p:cNvSpPr/>
          <p:nvPr/>
        </p:nvSpPr>
        <p:spPr>
          <a:xfrm>
            <a:off x="9344027" y="2549427"/>
            <a:ext cx="857250" cy="857250"/>
          </a:xfrm>
          <a:prstGeom prst="rect">
            <a:avLst/>
          </a:prstGeom>
          <a:solidFill>
            <a:srgbClr val="D32F2F"/>
          </a:solidFill>
          <a:ln/>
        </p:spPr>
      </p:sp>
      <p:pic>
        <p:nvPicPr>
          <p:cNvPr id="9" name="Image 2" descr="preencoded.png"/>
          <p:cNvPicPr>
            <a:picLocks noChangeAspect="1"/>
          </p:cNvPicPr>
          <p:nvPr/>
        </p:nvPicPr>
        <p:blipFill>
          <a:blip r:embed="rId5"/>
          <a:stretch>
            <a:fillRect/>
          </a:stretch>
        </p:blipFill>
        <p:spPr>
          <a:xfrm>
            <a:off x="9547622" y="2778027"/>
            <a:ext cx="450056" cy="400050"/>
          </a:xfrm>
          <a:prstGeom prst="rect">
            <a:avLst/>
          </a:prstGeom>
        </p:spPr>
      </p:pic>
      <p:sp>
        <p:nvSpPr>
          <p:cNvPr id="10" name="Text 5"/>
          <p:cNvSpPr/>
          <p:nvPr/>
        </p:nvSpPr>
        <p:spPr>
          <a:xfrm>
            <a:off x="10429877" y="2747190"/>
            <a:ext cx="6715126" cy="492443"/>
          </a:xfrm>
          <a:prstGeom prst="rect">
            <a:avLst/>
          </a:prstGeom>
          <a:noFill/>
          <a:ln/>
        </p:spPr>
        <p:txBody>
          <a:bodyPr wrap="square" lIns="0" tIns="0" rIns="0" bIns="0" rtlCol="0" anchor="t">
            <a:spAutoFit/>
          </a:bodyPr>
          <a:lstStyle/>
          <a:p>
            <a:r>
              <a:rPr lang="en-US" sz="3200" dirty="0">
                <a:solidFill>
                  <a:srgbClr val="000000"/>
                </a:solidFill>
                <a:latin typeface="Montserrat Bold" panose="00000800000000000000" charset="-93"/>
                <a:ea typeface="Open Sans SemiBold" pitchFamily="34" charset="-122"/>
                <a:cs typeface="Open Sans SemiBold" pitchFamily="34" charset="-120"/>
              </a:rPr>
              <a:t>Tính năng cốt lõi</a:t>
            </a:r>
            <a:endParaRPr lang="en-US" sz="3200" dirty="0">
              <a:latin typeface="Montserrat Bold" panose="00000800000000000000" charset="-93"/>
            </a:endParaRPr>
          </a:p>
        </p:txBody>
      </p:sp>
      <p:sp>
        <p:nvSpPr>
          <p:cNvPr id="11" name="Text 6"/>
          <p:cNvSpPr/>
          <p:nvPr/>
        </p:nvSpPr>
        <p:spPr>
          <a:xfrm>
            <a:off x="10429877" y="3378101"/>
            <a:ext cx="6715126" cy="756810"/>
          </a:xfrm>
          <a:prstGeom prst="rect">
            <a:avLst/>
          </a:prstGeom>
          <a:noFill/>
          <a:ln/>
        </p:spPr>
        <p:txBody>
          <a:bodyPr wrap="square" lIns="0" tIns="0" rIns="0" bIns="0" rtlCol="0" anchor="t">
            <a:spAutoFit/>
          </a:bodyPr>
          <a:lstStyle/>
          <a:p>
            <a:pPr>
              <a:lnSpc>
                <a:spcPct val="128000"/>
              </a:lnSpc>
            </a:pPr>
            <a:r>
              <a:rPr lang="en-US" sz="2000" dirty="0">
                <a:solidFill>
                  <a:srgbClr val="333333"/>
                </a:solidFill>
                <a:latin typeface="Open Sans" pitchFamily="34" charset="0"/>
                <a:ea typeface="Open Sans" pitchFamily="34" charset="-122"/>
                <a:cs typeface="Open Sans" pitchFamily="34" charset="-120"/>
              </a:rPr>
              <a:t>Quản lý bộ từ cá nhân, tra cứu từ điển trực tuyến và nhập/xuất dữ liệu CSV linh hoạt.</a:t>
            </a:r>
            <a:endParaRPr lang="en-US" sz="2000" dirty="0"/>
          </a:p>
        </p:txBody>
      </p:sp>
      <p:sp>
        <p:nvSpPr>
          <p:cNvPr id="12" name="Shape 7"/>
          <p:cNvSpPr/>
          <p:nvPr/>
        </p:nvSpPr>
        <p:spPr>
          <a:xfrm>
            <a:off x="1143001" y="4601023"/>
            <a:ext cx="857250" cy="857250"/>
          </a:xfrm>
          <a:prstGeom prst="rect">
            <a:avLst/>
          </a:prstGeom>
          <a:solidFill>
            <a:srgbClr val="D32F2F"/>
          </a:solidFill>
          <a:ln/>
        </p:spPr>
      </p:sp>
      <p:pic>
        <p:nvPicPr>
          <p:cNvPr id="13" name="Image 3" descr="preencoded.png"/>
          <p:cNvPicPr>
            <a:picLocks noChangeAspect="1"/>
          </p:cNvPicPr>
          <p:nvPr/>
        </p:nvPicPr>
        <p:blipFill>
          <a:blip r:embed="rId6"/>
          <a:stretch>
            <a:fillRect/>
          </a:stretch>
        </p:blipFill>
        <p:spPr>
          <a:xfrm>
            <a:off x="1321595" y="4829623"/>
            <a:ext cx="500062" cy="400050"/>
          </a:xfrm>
          <a:prstGeom prst="rect">
            <a:avLst/>
          </a:prstGeom>
        </p:spPr>
      </p:pic>
      <p:sp>
        <p:nvSpPr>
          <p:cNvPr id="14" name="Text 8"/>
          <p:cNvSpPr/>
          <p:nvPr/>
        </p:nvSpPr>
        <p:spPr>
          <a:xfrm>
            <a:off x="2228851" y="4798786"/>
            <a:ext cx="6715126" cy="492443"/>
          </a:xfrm>
          <a:prstGeom prst="rect">
            <a:avLst/>
          </a:prstGeom>
          <a:noFill/>
          <a:ln/>
        </p:spPr>
        <p:txBody>
          <a:bodyPr wrap="square" lIns="0" tIns="0" rIns="0" bIns="0" rtlCol="0" anchor="t">
            <a:spAutoFit/>
          </a:bodyPr>
          <a:lstStyle/>
          <a:p>
            <a:r>
              <a:rPr lang="en-US" sz="3200" dirty="0">
                <a:solidFill>
                  <a:srgbClr val="000000"/>
                </a:solidFill>
                <a:latin typeface="Montserrat Bold" panose="00000800000000000000" charset="-93"/>
                <a:ea typeface="Open Sans SemiBold" pitchFamily="34" charset="-122"/>
                <a:cs typeface="Open Sans SemiBold" pitchFamily="34" charset="-120"/>
              </a:rPr>
              <a:t>Đồng bộ hóa &amp; Offline-First</a:t>
            </a:r>
            <a:endParaRPr lang="en-US" sz="3200" dirty="0">
              <a:latin typeface="Montserrat Bold" panose="00000800000000000000" charset="-93"/>
            </a:endParaRPr>
          </a:p>
        </p:txBody>
      </p:sp>
      <p:sp>
        <p:nvSpPr>
          <p:cNvPr id="15" name="Text 9"/>
          <p:cNvSpPr/>
          <p:nvPr/>
        </p:nvSpPr>
        <p:spPr>
          <a:xfrm>
            <a:off x="2228851" y="5429697"/>
            <a:ext cx="6715126" cy="756810"/>
          </a:xfrm>
          <a:prstGeom prst="rect">
            <a:avLst/>
          </a:prstGeom>
          <a:noFill/>
          <a:ln/>
        </p:spPr>
        <p:txBody>
          <a:bodyPr wrap="square" lIns="0" tIns="0" rIns="0" bIns="0" rtlCol="0" anchor="t">
            <a:spAutoFit/>
          </a:bodyPr>
          <a:lstStyle/>
          <a:p>
            <a:pPr>
              <a:lnSpc>
                <a:spcPct val="128000"/>
              </a:lnSpc>
            </a:pPr>
            <a:r>
              <a:rPr lang="en-US" sz="2000" dirty="0">
                <a:solidFill>
                  <a:srgbClr val="333333"/>
                </a:solidFill>
                <a:latin typeface="Open Sans" pitchFamily="34" charset="0"/>
                <a:ea typeface="Open Sans" pitchFamily="34" charset="-122"/>
                <a:cs typeface="Open Sans" pitchFamily="34" charset="-120"/>
              </a:rPr>
              <a:t>Hỗ trợ đồng bộ đám mây; đảm bảo trải nghiệm mượt mà ngay cả khi </a:t>
            </a:r>
            <a:r>
              <a:rPr lang="en-US" sz="2000" dirty="0">
                <a:solidFill>
                  <a:srgbClr val="D32F2F"/>
                </a:solidFill>
                <a:latin typeface="Open Sans SemiBold" pitchFamily="34" charset="0"/>
                <a:ea typeface="Open Sans SemiBold" pitchFamily="34" charset="-122"/>
                <a:cs typeface="Open Sans SemiBold" pitchFamily="34" charset="-120"/>
              </a:rPr>
              <a:t>không có Internet</a:t>
            </a:r>
            <a:r>
              <a:rPr lang="en-US" sz="2000" dirty="0">
                <a:solidFill>
                  <a:srgbClr val="333333"/>
                </a:solidFill>
                <a:latin typeface="Open Sans" pitchFamily="34" charset="0"/>
                <a:ea typeface="Open Sans" pitchFamily="34" charset="-122"/>
                <a:cs typeface="Open Sans" pitchFamily="34" charset="-120"/>
              </a:rPr>
              <a:t>.</a:t>
            </a:r>
            <a:endParaRPr lang="en-US" sz="2000" dirty="0"/>
          </a:p>
        </p:txBody>
      </p:sp>
      <p:sp>
        <p:nvSpPr>
          <p:cNvPr id="16" name="Shape 10"/>
          <p:cNvSpPr/>
          <p:nvPr/>
        </p:nvSpPr>
        <p:spPr>
          <a:xfrm>
            <a:off x="9344027" y="4601023"/>
            <a:ext cx="857250" cy="857250"/>
          </a:xfrm>
          <a:prstGeom prst="rect">
            <a:avLst/>
          </a:prstGeom>
          <a:solidFill>
            <a:srgbClr val="D32F2F"/>
          </a:solidFill>
          <a:ln/>
        </p:spPr>
      </p:sp>
      <p:pic>
        <p:nvPicPr>
          <p:cNvPr id="17" name="Image 4" descr="preencoded.png"/>
          <p:cNvPicPr>
            <a:picLocks noChangeAspect="1"/>
          </p:cNvPicPr>
          <p:nvPr/>
        </p:nvPicPr>
        <p:blipFill>
          <a:blip r:embed="rId7"/>
          <a:stretch>
            <a:fillRect/>
          </a:stretch>
        </p:blipFill>
        <p:spPr>
          <a:xfrm>
            <a:off x="9572627" y="4829623"/>
            <a:ext cx="400050" cy="400050"/>
          </a:xfrm>
          <a:prstGeom prst="rect">
            <a:avLst/>
          </a:prstGeom>
        </p:spPr>
      </p:pic>
      <p:sp>
        <p:nvSpPr>
          <p:cNvPr id="18" name="Text 11"/>
          <p:cNvSpPr/>
          <p:nvPr/>
        </p:nvSpPr>
        <p:spPr>
          <a:xfrm>
            <a:off x="10429877" y="4798786"/>
            <a:ext cx="6715126" cy="492443"/>
          </a:xfrm>
          <a:prstGeom prst="rect">
            <a:avLst/>
          </a:prstGeom>
          <a:noFill/>
          <a:ln/>
        </p:spPr>
        <p:txBody>
          <a:bodyPr wrap="square" lIns="0" tIns="0" rIns="0" bIns="0" rtlCol="0" anchor="t">
            <a:spAutoFit/>
          </a:bodyPr>
          <a:lstStyle/>
          <a:p>
            <a:r>
              <a:rPr lang="en-US" sz="3200" dirty="0">
                <a:solidFill>
                  <a:srgbClr val="000000"/>
                </a:solidFill>
                <a:latin typeface="Montserrat Bold" panose="00000800000000000000" charset="-93"/>
                <a:ea typeface="Open Sans SemiBold" pitchFamily="34" charset="-122"/>
                <a:cs typeface="Open Sans SemiBold" pitchFamily="34" charset="-120"/>
              </a:rPr>
              <a:t>Theo dõi tiến độ</a:t>
            </a:r>
            <a:endParaRPr lang="en-US" sz="3200" dirty="0">
              <a:latin typeface="Montserrat Bold" panose="00000800000000000000" charset="-93"/>
            </a:endParaRPr>
          </a:p>
        </p:txBody>
      </p:sp>
      <p:sp>
        <p:nvSpPr>
          <p:cNvPr id="19" name="Text 12"/>
          <p:cNvSpPr/>
          <p:nvPr/>
        </p:nvSpPr>
        <p:spPr>
          <a:xfrm>
            <a:off x="10429877" y="5429697"/>
            <a:ext cx="6715126" cy="756810"/>
          </a:xfrm>
          <a:prstGeom prst="rect">
            <a:avLst/>
          </a:prstGeom>
          <a:noFill/>
          <a:ln/>
        </p:spPr>
        <p:txBody>
          <a:bodyPr wrap="square" lIns="0" tIns="0" rIns="0" bIns="0" rtlCol="0" anchor="t">
            <a:spAutoFit/>
          </a:bodyPr>
          <a:lstStyle/>
          <a:p>
            <a:pPr>
              <a:lnSpc>
                <a:spcPct val="128000"/>
              </a:lnSpc>
            </a:pPr>
            <a:r>
              <a:rPr lang="en-US" sz="2000" dirty="0">
                <a:solidFill>
                  <a:srgbClr val="333333"/>
                </a:solidFill>
                <a:latin typeface="Open Sans" pitchFamily="34" charset="0"/>
                <a:ea typeface="Open Sans" pitchFamily="34" charset="-122"/>
                <a:cs typeface="Open Sans" pitchFamily="34" charset="-120"/>
              </a:rPr>
              <a:t>Hệ thống hóa kết quả học tập, quản lý hồ sơ người dùng và thống kê chi tiết.</a:t>
            </a:r>
            <a:endParaRPr lang="en-US" sz="2000" dirty="0"/>
          </a:p>
        </p:txBody>
      </p:sp>
      <p:sp>
        <p:nvSpPr>
          <p:cNvPr id="20" name="TextBox 19">
            <a:extLst>
              <a:ext uri="{FF2B5EF4-FFF2-40B4-BE49-F238E27FC236}">
                <a16:creationId xmlns:a16="http://schemas.microsoft.com/office/drawing/2014/main" id="{1FB9145A-50F9-AC35-9F3E-97A4000F5F9D}"/>
              </a:ext>
            </a:extLst>
          </p:cNvPr>
          <p:cNvSpPr txBox="1"/>
          <p:nvPr/>
        </p:nvSpPr>
        <p:spPr>
          <a:xfrm>
            <a:off x="17831821" y="9831884"/>
            <a:ext cx="415498"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28</a:t>
            </a:r>
            <a:endParaRPr lang="vi-V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8288000" cy="10287000"/>
          </a:xfrm>
          <a:prstGeom prst="rect">
            <a:avLst/>
          </a:prstGeom>
        </p:spPr>
      </p:pic>
      <p:sp>
        <p:nvSpPr>
          <p:cNvPr id="3" name="Text 0"/>
          <p:cNvSpPr/>
          <p:nvPr/>
        </p:nvSpPr>
        <p:spPr>
          <a:xfrm>
            <a:off x="1143000" y="1163539"/>
            <a:ext cx="17145000" cy="615553"/>
          </a:xfrm>
          <a:prstGeom prst="rect">
            <a:avLst/>
          </a:prstGeom>
          <a:noFill/>
          <a:ln/>
        </p:spPr>
        <p:txBody>
          <a:bodyPr wrap="square" lIns="0" tIns="0" rIns="0" bIns="0" rtlCol="0" anchor="t">
            <a:spAutoFit/>
          </a:bodyPr>
          <a:lstStyle/>
          <a:p>
            <a:r>
              <a:rPr lang="en-US" sz="4000" b="1" dirty="0">
                <a:solidFill>
                  <a:srgbClr val="000000"/>
                </a:solidFill>
                <a:latin typeface="Montserrat Bold" pitchFamily="34" charset="0"/>
                <a:ea typeface="Montserrat Bold" pitchFamily="34" charset="-122"/>
                <a:cs typeface="Montserrat Bold" pitchFamily="34" charset="-120"/>
              </a:rPr>
              <a:t>NỀN TẢNG KỸ THUẬT VÀ CÔNG NGHỆ</a:t>
            </a:r>
            <a:endParaRPr lang="en-US" sz="4000" dirty="0"/>
          </a:p>
        </p:txBody>
      </p:sp>
      <p:pic>
        <p:nvPicPr>
          <p:cNvPr id="4" name="Image 1" descr="preencoded.png"/>
          <p:cNvPicPr>
            <a:picLocks noChangeAspect="1"/>
          </p:cNvPicPr>
          <p:nvPr/>
        </p:nvPicPr>
        <p:blipFill>
          <a:blip r:embed="rId4"/>
          <a:stretch>
            <a:fillRect/>
          </a:stretch>
        </p:blipFill>
        <p:spPr>
          <a:xfrm>
            <a:off x="1150495" y="2657177"/>
            <a:ext cx="357188" cy="285750"/>
          </a:xfrm>
          <a:prstGeom prst="rect">
            <a:avLst/>
          </a:prstGeom>
        </p:spPr>
      </p:pic>
      <p:sp>
        <p:nvSpPr>
          <p:cNvPr id="5" name="Text 1"/>
          <p:cNvSpPr/>
          <p:nvPr/>
        </p:nvSpPr>
        <p:spPr>
          <a:xfrm>
            <a:off x="1714500" y="2635150"/>
            <a:ext cx="3546872" cy="307777"/>
          </a:xfrm>
          <a:prstGeom prst="rect">
            <a:avLst/>
          </a:prstGeom>
          <a:noFill/>
          <a:ln/>
        </p:spPr>
        <p:txBody>
          <a:bodyPr wrap="square" lIns="0" tIns="0" rIns="0" bIns="0" rtlCol="0" anchor="t">
            <a:spAutoFit/>
          </a:bodyPr>
          <a:lstStyle/>
          <a:p>
            <a:r>
              <a:rPr lang="en-US" sz="2000" dirty="0">
                <a:solidFill>
                  <a:srgbClr val="000000"/>
                </a:solidFill>
                <a:latin typeface="Open Sans SemiBold" pitchFamily="34" charset="0"/>
                <a:ea typeface="Open Sans SemiBold" pitchFamily="34" charset="-122"/>
                <a:cs typeface="Open Sans SemiBold" pitchFamily="34" charset="-120"/>
              </a:rPr>
              <a:t>Kotlin &amp; Jetpack Compose</a:t>
            </a:r>
            <a:endParaRPr lang="en-US" sz="2000" dirty="0"/>
          </a:p>
        </p:txBody>
      </p:sp>
      <p:sp>
        <p:nvSpPr>
          <p:cNvPr id="6" name="Text 2"/>
          <p:cNvSpPr/>
          <p:nvPr/>
        </p:nvSpPr>
        <p:spPr>
          <a:xfrm>
            <a:off x="1714501" y="3081636"/>
            <a:ext cx="5332810" cy="615553"/>
          </a:xfrm>
          <a:prstGeom prst="rect">
            <a:avLst/>
          </a:prstGeom>
          <a:noFill/>
          <a:ln/>
        </p:spPr>
        <p:txBody>
          <a:bodyPr wrap="square" lIns="0" tIns="0" rIns="0" bIns="0" rtlCol="0" anchor="t">
            <a:spAutoFit/>
          </a:bodyPr>
          <a:lstStyle/>
          <a:p>
            <a:r>
              <a:rPr lang="en-US" sz="2000" dirty="0">
                <a:solidFill>
                  <a:srgbClr val="666666"/>
                </a:solidFill>
                <a:latin typeface="Open Sans" pitchFamily="34" charset="0"/>
                <a:ea typeface="Open Sans" pitchFamily="34" charset="-122"/>
                <a:cs typeface="Open Sans" pitchFamily="34" charset="-120"/>
              </a:rPr>
              <a:t>Xây dựng giao diện hiện đại, tối ưu hóa hiệu năng.</a:t>
            </a:r>
            <a:endParaRPr lang="en-US" sz="2000" dirty="0"/>
          </a:p>
        </p:txBody>
      </p:sp>
      <p:pic>
        <p:nvPicPr>
          <p:cNvPr id="7" name="Image 2" descr="preencoded.png"/>
          <p:cNvPicPr>
            <a:picLocks noChangeAspect="1"/>
          </p:cNvPicPr>
          <p:nvPr/>
        </p:nvPicPr>
        <p:blipFill>
          <a:blip r:embed="rId5"/>
          <a:stretch>
            <a:fillRect/>
          </a:stretch>
        </p:blipFill>
        <p:spPr>
          <a:xfrm>
            <a:off x="1150496" y="4000203"/>
            <a:ext cx="285750" cy="285750"/>
          </a:xfrm>
          <a:prstGeom prst="rect">
            <a:avLst/>
          </a:prstGeom>
        </p:spPr>
      </p:pic>
      <p:sp>
        <p:nvSpPr>
          <p:cNvPr id="8" name="Text 3"/>
          <p:cNvSpPr/>
          <p:nvPr/>
        </p:nvSpPr>
        <p:spPr>
          <a:xfrm>
            <a:off x="1643063" y="3978176"/>
            <a:ext cx="3818334" cy="307777"/>
          </a:xfrm>
          <a:prstGeom prst="rect">
            <a:avLst/>
          </a:prstGeom>
          <a:noFill/>
          <a:ln/>
        </p:spPr>
        <p:txBody>
          <a:bodyPr wrap="square" lIns="0" tIns="0" rIns="0" bIns="0" rtlCol="0" anchor="t">
            <a:spAutoFit/>
          </a:bodyPr>
          <a:lstStyle/>
          <a:p>
            <a:r>
              <a:rPr lang="en-US" sz="2000" dirty="0">
                <a:solidFill>
                  <a:srgbClr val="000000"/>
                </a:solidFill>
                <a:latin typeface="Open Sans SemiBold" pitchFamily="34" charset="0"/>
                <a:ea typeface="Open Sans SemiBold" pitchFamily="34" charset="-122"/>
                <a:cs typeface="Open Sans SemiBold" pitchFamily="34" charset="-120"/>
              </a:rPr>
              <a:t>Clean Architecture &amp; MVVM</a:t>
            </a:r>
            <a:endParaRPr lang="en-US" sz="2000" dirty="0"/>
          </a:p>
        </p:txBody>
      </p:sp>
      <p:sp>
        <p:nvSpPr>
          <p:cNvPr id="9" name="Text 4"/>
          <p:cNvSpPr/>
          <p:nvPr/>
        </p:nvSpPr>
        <p:spPr>
          <a:xfrm>
            <a:off x="1643062" y="4424660"/>
            <a:ext cx="5150644" cy="615553"/>
          </a:xfrm>
          <a:prstGeom prst="rect">
            <a:avLst/>
          </a:prstGeom>
          <a:noFill/>
          <a:ln/>
        </p:spPr>
        <p:txBody>
          <a:bodyPr wrap="square" lIns="0" tIns="0" rIns="0" bIns="0" rtlCol="0" anchor="t">
            <a:spAutoFit/>
          </a:bodyPr>
          <a:lstStyle/>
          <a:p>
            <a:r>
              <a:rPr lang="en-US" sz="2000" dirty="0">
                <a:solidFill>
                  <a:srgbClr val="666666"/>
                </a:solidFill>
                <a:latin typeface="Open Sans" pitchFamily="34" charset="0"/>
                <a:ea typeface="Open Sans" pitchFamily="34" charset="-122"/>
                <a:cs typeface="Open Sans" pitchFamily="34" charset="-120"/>
              </a:rPr>
              <a:t>Tách biệt nghiệp vụ, dễ dàng bảo trì và mở rộng.</a:t>
            </a:r>
            <a:endParaRPr lang="en-US" sz="2000" dirty="0"/>
          </a:p>
        </p:txBody>
      </p:sp>
      <p:pic>
        <p:nvPicPr>
          <p:cNvPr id="10" name="Image 3" descr="preencoded.png"/>
          <p:cNvPicPr>
            <a:picLocks noChangeAspect="1"/>
          </p:cNvPicPr>
          <p:nvPr/>
        </p:nvPicPr>
        <p:blipFill>
          <a:blip r:embed="rId6"/>
          <a:stretch>
            <a:fillRect/>
          </a:stretch>
        </p:blipFill>
        <p:spPr>
          <a:xfrm>
            <a:off x="1150495" y="5343227"/>
            <a:ext cx="250032" cy="285750"/>
          </a:xfrm>
          <a:prstGeom prst="rect">
            <a:avLst/>
          </a:prstGeom>
        </p:spPr>
      </p:pic>
      <p:sp>
        <p:nvSpPr>
          <p:cNvPr id="11" name="Text 5"/>
          <p:cNvSpPr/>
          <p:nvPr/>
        </p:nvSpPr>
        <p:spPr>
          <a:xfrm>
            <a:off x="1607345" y="5321200"/>
            <a:ext cx="3275410" cy="307777"/>
          </a:xfrm>
          <a:prstGeom prst="rect">
            <a:avLst/>
          </a:prstGeom>
          <a:noFill/>
          <a:ln/>
        </p:spPr>
        <p:txBody>
          <a:bodyPr wrap="square" lIns="0" tIns="0" rIns="0" bIns="0" rtlCol="0" anchor="t">
            <a:spAutoFit/>
          </a:bodyPr>
          <a:lstStyle/>
          <a:p>
            <a:r>
              <a:rPr lang="en-US" sz="2000" dirty="0">
                <a:solidFill>
                  <a:srgbClr val="000000"/>
                </a:solidFill>
                <a:latin typeface="Open Sans SemiBold" pitchFamily="34" charset="0"/>
                <a:ea typeface="Open Sans SemiBold" pitchFamily="34" charset="-122"/>
                <a:cs typeface="Open Sans SemiBold" pitchFamily="34" charset="-120"/>
              </a:rPr>
              <a:t>Room &amp; Cloud Firestore</a:t>
            </a:r>
            <a:endParaRPr lang="en-US" sz="2000" dirty="0"/>
          </a:p>
        </p:txBody>
      </p:sp>
      <p:sp>
        <p:nvSpPr>
          <p:cNvPr id="12" name="Text 6"/>
          <p:cNvSpPr/>
          <p:nvPr/>
        </p:nvSpPr>
        <p:spPr>
          <a:xfrm>
            <a:off x="1607344" y="5767686"/>
            <a:ext cx="4793456" cy="615553"/>
          </a:xfrm>
          <a:prstGeom prst="rect">
            <a:avLst/>
          </a:prstGeom>
          <a:noFill/>
          <a:ln/>
        </p:spPr>
        <p:txBody>
          <a:bodyPr wrap="square" lIns="0" tIns="0" rIns="0" bIns="0" rtlCol="0" anchor="t">
            <a:spAutoFit/>
          </a:bodyPr>
          <a:lstStyle/>
          <a:p>
            <a:r>
              <a:rPr lang="en-US" sz="2000" dirty="0">
                <a:solidFill>
                  <a:srgbClr val="666666"/>
                </a:solidFill>
                <a:latin typeface="Open Sans" pitchFamily="34" charset="0"/>
                <a:ea typeface="Open Sans" pitchFamily="34" charset="-122"/>
                <a:cs typeface="Open Sans" pitchFamily="34" charset="-120"/>
              </a:rPr>
              <a:t>Quản lý dữ liệu linh hoạt giữa Local và Cloud.</a:t>
            </a:r>
            <a:endParaRPr lang="en-US" sz="2000" dirty="0"/>
          </a:p>
        </p:txBody>
      </p:sp>
      <p:pic>
        <p:nvPicPr>
          <p:cNvPr id="13" name="Image 4" descr="preencoded.png"/>
          <p:cNvPicPr>
            <a:picLocks noChangeAspect="1"/>
          </p:cNvPicPr>
          <p:nvPr/>
        </p:nvPicPr>
        <p:blipFill>
          <a:blip r:embed="rId7"/>
          <a:stretch>
            <a:fillRect/>
          </a:stretch>
        </p:blipFill>
        <p:spPr>
          <a:xfrm>
            <a:off x="1150496" y="6686253"/>
            <a:ext cx="285750" cy="285750"/>
          </a:xfrm>
          <a:prstGeom prst="rect">
            <a:avLst/>
          </a:prstGeom>
        </p:spPr>
      </p:pic>
      <p:sp>
        <p:nvSpPr>
          <p:cNvPr id="14" name="Text 7"/>
          <p:cNvSpPr/>
          <p:nvPr/>
        </p:nvSpPr>
        <p:spPr>
          <a:xfrm>
            <a:off x="1643062" y="6664226"/>
            <a:ext cx="3561160" cy="307777"/>
          </a:xfrm>
          <a:prstGeom prst="rect">
            <a:avLst/>
          </a:prstGeom>
          <a:noFill/>
          <a:ln/>
        </p:spPr>
        <p:txBody>
          <a:bodyPr wrap="square" lIns="0" tIns="0" rIns="0" bIns="0" rtlCol="0" anchor="t">
            <a:spAutoFit/>
          </a:bodyPr>
          <a:lstStyle/>
          <a:p>
            <a:r>
              <a:rPr lang="en-US" sz="2000" dirty="0">
                <a:solidFill>
                  <a:srgbClr val="000000"/>
                </a:solidFill>
                <a:latin typeface="Open Sans SemiBold" pitchFamily="34" charset="0"/>
                <a:ea typeface="Open Sans SemiBold" pitchFamily="34" charset="-122"/>
                <a:cs typeface="Open Sans SemiBold" pitchFamily="34" charset="-120"/>
              </a:rPr>
              <a:t>Hilt Dependency Injection</a:t>
            </a:r>
            <a:endParaRPr lang="en-US" sz="2000" dirty="0"/>
          </a:p>
        </p:txBody>
      </p:sp>
      <p:sp>
        <p:nvSpPr>
          <p:cNvPr id="15" name="Text 8"/>
          <p:cNvSpPr/>
          <p:nvPr/>
        </p:nvSpPr>
        <p:spPr>
          <a:xfrm>
            <a:off x="1643063" y="7110710"/>
            <a:ext cx="4650582" cy="615553"/>
          </a:xfrm>
          <a:prstGeom prst="rect">
            <a:avLst/>
          </a:prstGeom>
          <a:noFill/>
          <a:ln/>
        </p:spPr>
        <p:txBody>
          <a:bodyPr wrap="square" lIns="0" tIns="0" rIns="0" bIns="0" rtlCol="0" anchor="t">
            <a:spAutoFit/>
          </a:bodyPr>
          <a:lstStyle/>
          <a:p>
            <a:r>
              <a:rPr lang="en-US" sz="2000" dirty="0">
                <a:solidFill>
                  <a:srgbClr val="666666"/>
                </a:solidFill>
                <a:latin typeface="Open Sans" pitchFamily="34" charset="0"/>
                <a:ea typeface="Open Sans" pitchFamily="34" charset="-122"/>
                <a:cs typeface="Open Sans" pitchFamily="34" charset="-120"/>
              </a:rPr>
              <a:t>Tối ưu hóa quản lý thành phần và kiểm thử.</a:t>
            </a:r>
            <a:endParaRPr lang="en-US" sz="2000" dirty="0"/>
          </a:p>
        </p:txBody>
      </p:sp>
      <p:sp>
        <p:nvSpPr>
          <p:cNvPr id="16" name="Shape 9"/>
          <p:cNvSpPr/>
          <p:nvPr/>
        </p:nvSpPr>
        <p:spPr>
          <a:xfrm>
            <a:off x="10929939" y="2835176"/>
            <a:ext cx="4429126" cy="778668"/>
          </a:xfrm>
          <a:prstGeom prst="rect">
            <a:avLst/>
          </a:prstGeom>
          <a:solidFill>
            <a:srgbClr val="000000"/>
          </a:solidFill>
          <a:ln/>
        </p:spPr>
      </p:sp>
      <p:sp>
        <p:nvSpPr>
          <p:cNvPr id="17" name="Text 10"/>
          <p:cNvSpPr/>
          <p:nvPr/>
        </p:nvSpPr>
        <p:spPr>
          <a:xfrm>
            <a:off x="10929939" y="2835176"/>
            <a:ext cx="4429126" cy="822789"/>
          </a:xfrm>
          <a:prstGeom prst="rect">
            <a:avLst/>
          </a:prstGeom>
          <a:noFill/>
          <a:ln/>
        </p:spPr>
        <p:txBody>
          <a:bodyPr wrap="square" lIns="255016" tIns="255016" rIns="255016" bIns="255016" rtlCol="0" anchor="t">
            <a:spAutoFit/>
          </a:bodyPr>
          <a:lstStyle/>
          <a:p>
            <a:pPr algn="ctr"/>
            <a:r>
              <a:rPr lang="en-US" sz="2000" dirty="0">
                <a:solidFill>
                  <a:srgbClr val="FFFFFF"/>
                </a:solidFill>
                <a:latin typeface="Open Sans SemiBold" pitchFamily="34" charset="0"/>
                <a:ea typeface="Open Sans SemiBold" pitchFamily="34" charset="-122"/>
                <a:cs typeface="Open Sans SemiBold" pitchFamily="34" charset="-120"/>
              </a:rPr>
              <a:t>UI (Jetpack Compose)</a:t>
            </a:r>
            <a:endParaRPr lang="en-US" sz="2000" dirty="0"/>
          </a:p>
        </p:txBody>
      </p:sp>
      <p:sp>
        <p:nvSpPr>
          <p:cNvPr id="18" name="Shape 11"/>
          <p:cNvSpPr/>
          <p:nvPr/>
        </p:nvSpPr>
        <p:spPr>
          <a:xfrm>
            <a:off x="10929939" y="4185344"/>
            <a:ext cx="4429126" cy="778668"/>
          </a:xfrm>
          <a:prstGeom prst="rect">
            <a:avLst/>
          </a:prstGeom>
          <a:solidFill>
            <a:srgbClr val="D32F2F"/>
          </a:solidFill>
          <a:ln/>
        </p:spPr>
      </p:sp>
      <p:sp>
        <p:nvSpPr>
          <p:cNvPr id="19" name="Text 12"/>
          <p:cNvSpPr/>
          <p:nvPr/>
        </p:nvSpPr>
        <p:spPr>
          <a:xfrm>
            <a:off x="10929939" y="4185344"/>
            <a:ext cx="4429126" cy="822789"/>
          </a:xfrm>
          <a:prstGeom prst="rect">
            <a:avLst/>
          </a:prstGeom>
          <a:noFill/>
          <a:ln/>
        </p:spPr>
        <p:txBody>
          <a:bodyPr wrap="square" lIns="255016" tIns="255016" rIns="255016" bIns="255016" rtlCol="0" anchor="t">
            <a:spAutoFit/>
          </a:bodyPr>
          <a:lstStyle/>
          <a:p>
            <a:pPr algn="ctr"/>
            <a:r>
              <a:rPr lang="en-US" sz="2000" dirty="0">
                <a:solidFill>
                  <a:srgbClr val="FFFFFF"/>
                </a:solidFill>
                <a:latin typeface="Open Sans SemiBold" pitchFamily="34" charset="0"/>
                <a:ea typeface="Open Sans SemiBold" pitchFamily="34" charset="-122"/>
                <a:cs typeface="Open Sans SemiBold" pitchFamily="34" charset="-120"/>
              </a:rPr>
              <a:t>Presentation (MVVM)</a:t>
            </a:r>
            <a:endParaRPr lang="en-US" sz="2000" dirty="0"/>
          </a:p>
        </p:txBody>
      </p:sp>
      <p:sp>
        <p:nvSpPr>
          <p:cNvPr id="20" name="Shape 13"/>
          <p:cNvSpPr/>
          <p:nvPr/>
        </p:nvSpPr>
        <p:spPr>
          <a:xfrm>
            <a:off x="10929939" y="5535514"/>
            <a:ext cx="4429126" cy="778668"/>
          </a:xfrm>
          <a:prstGeom prst="rect">
            <a:avLst/>
          </a:prstGeom>
          <a:solidFill>
            <a:srgbClr val="000000"/>
          </a:solidFill>
          <a:ln/>
        </p:spPr>
      </p:sp>
      <p:sp>
        <p:nvSpPr>
          <p:cNvPr id="21" name="Text 14"/>
          <p:cNvSpPr/>
          <p:nvPr/>
        </p:nvSpPr>
        <p:spPr>
          <a:xfrm>
            <a:off x="10929939" y="5535514"/>
            <a:ext cx="4429126" cy="822789"/>
          </a:xfrm>
          <a:prstGeom prst="rect">
            <a:avLst/>
          </a:prstGeom>
          <a:noFill/>
          <a:ln/>
        </p:spPr>
        <p:txBody>
          <a:bodyPr wrap="square" lIns="255016" tIns="255016" rIns="255016" bIns="255016" rtlCol="0" anchor="t">
            <a:spAutoFit/>
          </a:bodyPr>
          <a:lstStyle/>
          <a:p>
            <a:pPr algn="ctr"/>
            <a:r>
              <a:rPr lang="en-US" sz="2000" dirty="0">
                <a:solidFill>
                  <a:srgbClr val="FFFFFF"/>
                </a:solidFill>
                <a:latin typeface="Open Sans SemiBold" pitchFamily="34" charset="0"/>
                <a:ea typeface="Open Sans SemiBold" pitchFamily="34" charset="-122"/>
                <a:cs typeface="Open Sans SemiBold" pitchFamily="34" charset="-120"/>
              </a:rPr>
              <a:t>Domain (Clean Arch)</a:t>
            </a:r>
            <a:endParaRPr lang="en-US" sz="2000" dirty="0"/>
          </a:p>
        </p:txBody>
      </p:sp>
      <p:sp>
        <p:nvSpPr>
          <p:cNvPr id="22" name="Shape 15"/>
          <p:cNvSpPr/>
          <p:nvPr/>
        </p:nvSpPr>
        <p:spPr>
          <a:xfrm>
            <a:off x="10929939" y="6885682"/>
            <a:ext cx="4429126" cy="778668"/>
          </a:xfrm>
          <a:prstGeom prst="rect">
            <a:avLst/>
          </a:prstGeom>
          <a:solidFill>
            <a:srgbClr val="D32F2F"/>
          </a:solidFill>
          <a:ln/>
        </p:spPr>
      </p:sp>
      <p:sp>
        <p:nvSpPr>
          <p:cNvPr id="23" name="Text 16"/>
          <p:cNvSpPr/>
          <p:nvPr/>
        </p:nvSpPr>
        <p:spPr>
          <a:xfrm>
            <a:off x="10929939" y="6885682"/>
            <a:ext cx="4429126" cy="822789"/>
          </a:xfrm>
          <a:prstGeom prst="rect">
            <a:avLst/>
          </a:prstGeom>
          <a:noFill/>
          <a:ln/>
        </p:spPr>
        <p:txBody>
          <a:bodyPr wrap="square" lIns="255016" tIns="255016" rIns="255016" bIns="255016" rtlCol="0" anchor="t">
            <a:spAutoFit/>
          </a:bodyPr>
          <a:lstStyle/>
          <a:p>
            <a:pPr algn="ctr"/>
            <a:r>
              <a:rPr lang="en-US" sz="2000" dirty="0">
                <a:solidFill>
                  <a:srgbClr val="FFFFFF"/>
                </a:solidFill>
                <a:latin typeface="Open Sans SemiBold" pitchFamily="34" charset="0"/>
                <a:ea typeface="Open Sans SemiBold" pitchFamily="34" charset="-122"/>
                <a:cs typeface="Open Sans SemiBold" pitchFamily="34" charset="-120"/>
              </a:rPr>
              <a:t>Data (Room / Firebase)</a:t>
            </a:r>
            <a:endParaRPr lang="en-US" sz="2000" dirty="0"/>
          </a:p>
        </p:txBody>
      </p:sp>
      <p:sp>
        <p:nvSpPr>
          <p:cNvPr id="24" name="TextBox 23">
            <a:extLst>
              <a:ext uri="{FF2B5EF4-FFF2-40B4-BE49-F238E27FC236}">
                <a16:creationId xmlns:a16="http://schemas.microsoft.com/office/drawing/2014/main" id="{C7BBBE2D-10A1-2885-033F-F06B384AA5B0}"/>
              </a:ext>
            </a:extLst>
          </p:cNvPr>
          <p:cNvSpPr txBox="1"/>
          <p:nvPr/>
        </p:nvSpPr>
        <p:spPr>
          <a:xfrm>
            <a:off x="17831821" y="9831884"/>
            <a:ext cx="415498"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29</a:t>
            </a:r>
            <a:endParaRPr lang="vi-V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8288000" cy="10287000"/>
          </a:xfrm>
          <a:prstGeom prst="rect">
            <a:avLst/>
          </a:prstGeom>
        </p:spPr>
      </p:pic>
      <p:sp>
        <p:nvSpPr>
          <p:cNvPr id="3" name="Text 0"/>
          <p:cNvSpPr/>
          <p:nvPr/>
        </p:nvSpPr>
        <p:spPr>
          <a:xfrm>
            <a:off x="1143000" y="1163539"/>
            <a:ext cx="17145000" cy="615553"/>
          </a:xfrm>
          <a:prstGeom prst="rect">
            <a:avLst/>
          </a:prstGeom>
          <a:noFill/>
          <a:ln/>
        </p:spPr>
        <p:txBody>
          <a:bodyPr wrap="square" lIns="0" tIns="0" rIns="0" bIns="0" rtlCol="0" anchor="t">
            <a:spAutoFit/>
          </a:bodyPr>
          <a:lstStyle/>
          <a:p>
            <a:r>
              <a:rPr lang="en-US" sz="4000" b="1" dirty="0">
                <a:solidFill>
                  <a:srgbClr val="000000"/>
                </a:solidFill>
                <a:latin typeface="Montserrat Bold" pitchFamily="34" charset="0"/>
                <a:ea typeface="Montserrat Bold" pitchFamily="34" charset="-122"/>
                <a:cs typeface="Montserrat Bold" pitchFamily="34" charset="-120"/>
              </a:rPr>
              <a:t>ĐIỂM NHẤN: ÔN TẬP THÔNG MINH</a:t>
            </a:r>
            <a:endParaRPr lang="en-US" sz="4000" dirty="0"/>
          </a:p>
        </p:txBody>
      </p:sp>
      <p:pic>
        <p:nvPicPr>
          <p:cNvPr id="4" name="Image 1" descr="preencoded.png"/>
          <p:cNvPicPr>
            <a:picLocks noChangeAspect="1"/>
          </p:cNvPicPr>
          <p:nvPr/>
        </p:nvPicPr>
        <p:blipFill>
          <a:blip r:embed="rId4"/>
          <a:stretch>
            <a:fillRect/>
          </a:stretch>
        </p:blipFill>
        <p:spPr>
          <a:xfrm>
            <a:off x="1143000" y="3020915"/>
            <a:ext cx="357188" cy="285750"/>
          </a:xfrm>
          <a:prstGeom prst="rect">
            <a:avLst/>
          </a:prstGeom>
        </p:spPr>
      </p:pic>
      <p:sp>
        <p:nvSpPr>
          <p:cNvPr id="5" name="Text 1"/>
          <p:cNvSpPr/>
          <p:nvPr/>
        </p:nvSpPr>
        <p:spPr>
          <a:xfrm>
            <a:off x="1714500" y="2949476"/>
            <a:ext cx="4762500" cy="492443"/>
          </a:xfrm>
          <a:prstGeom prst="rect">
            <a:avLst/>
          </a:prstGeom>
          <a:noFill/>
          <a:ln/>
        </p:spPr>
        <p:txBody>
          <a:bodyPr wrap="square" lIns="0" tIns="0" rIns="0" bIns="0" rtlCol="0" anchor="t">
            <a:spAutoFit/>
          </a:bodyPr>
          <a:lstStyle/>
          <a:p>
            <a:r>
              <a:rPr lang="en-US" sz="3200" dirty="0">
                <a:solidFill>
                  <a:srgbClr val="D32F2F"/>
                </a:solidFill>
                <a:latin typeface="Montserrat Bold" panose="00000800000000000000" charset="-93"/>
                <a:ea typeface="Open Sans SemiBold" pitchFamily="34" charset="-122"/>
                <a:cs typeface="Open Sans SemiBold" pitchFamily="34" charset="-120"/>
              </a:rPr>
              <a:t>Cơ chế tự động</a:t>
            </a:r>
            <a:endParaRPr lang="en-US" sz="3200" dirty="0">
              <a:latin typeface="Montserrat Bold" panose="00000800000000000000" charset="-93"/>
            </a:endParaRPr>
          </a:p>
        </p:txBody>
      </p:sp>
      <p:sp>
        <p:nvSpPr>
          <p:cNvPr id="6" name="Text 2"/>
          <p:cNvSpPr/>
          <p:nvPr/>
        </p:nvSpPr>
        <p:spPr>
          <a:xfrm>
            <a:off x="1143000" y="3635277"/>
            <a:ext cx="7572376" cy="756810"/>
          </a:xfrm>
          <a:prstGeom prst="rect">
            <a:avLst/>
          </a:prstGeom>
          <a:noFill/>
          <a:ln/>
        </p:spPr>
        <p:txBody>
          <a:bodyPr wrap="square" lIns="0" tIns="0" rIns="0" bIns="0" rtlCol="0" anchor="t">
            <a:spAutoFit/>
          </a:bodyPr>
          <a:lstStyle/>
          <a:p>
            <a:pPr>
              <a:lnSpc>
                <a:spcPct val="128000"/>
              </a:lnSpc>
            </a:pPr>
            <a:r>
              <a:rPr lang="en-US" sz="2000" dirty="0">
                <a:solidFill>
                  <a:srgbClr val="333333"/>
                </a:solidFill>
                <a:latin typeface="Open Sans" pitchFamily="34" charset="0"/>
                <a:ea typeface="Open Sans" pitchFamily="34" charset="-122"/>
                <a:cs typeface="Open Sans" pitchFamily="34" charset="-120"/>
              </a:rPr>
              <a:t>Hệ thống tự động tính toán lịch ôn tập dựa trên mức độ ghi nhớ của từng từ vựng, loại bỏ việc ghi chép thủ công.</a:t>
            </a:r>
            <a:endParaRPr lang="en-US" sz="2000" dirty="0"/>
          </a:p>
        </p:txBody>
      </p:sp>
      <p:pic>
        <p:nvPicPr>
          <p:cNvPr id="7" name="Image 2" descr="preencoded.png"/>
          <p:cNvPicPr>
            <a:picLocks noChangeAspect="1"/>
          </p:cNvPicPr>
          <p:nvPr/>
        </p:nvPicPr>
        <p:blipFill>
          <a:blip r:embed="rId5"/>
          <a:stretch>
            <a:fillRect/>
          </a:stretch>
        </p:blipFill>
        <p:spPr>
          <a:xfrm>
            <a:off x="1143000" y="5029647"/>
            <a:ext cx="214312" cy="285750"/>
          </a:xfrm>
          <a:prstGeom prst="rect">
            <a:avLst/>
          </a:prstGeom>
        </p:spPr>
      </p:pic>
      <p:sp>
        <p:nvSpPr>
          <p:cNvPr id="8" name="Text 3"/>
          <p:cNvSpPr/>
          <p:nvPr/>
        </p:nvSpPr>
        <p:spPr>
          <a:xfrm>
            <a:off x="1571627" y="4958208"/>
            <a:ext cx="4419510" cy="492443"/>
          </a:xfrm>
          <a:prstGeom prst="rect">
            <a:avLst/>
          </a:prstGeom>
          <a:noFill/>
          <a:ln/>
        </p:spPr>
        <p:txBody>
          <a:bodyPr wrap="square" lIns="0" tIns="0" rIns="0" bIns="0" rtlCol="0" anchor="t">
            <a:spAutoFit/>
          </a:bodyPr>
          <a:lstStyle/>
          <a:p>
            <a:r>
              <a:rPr lang="en-US" sz="3200" dirty="0">
                <a:solidFill>
                  <a:srgbClr val="D32F2F"/>
                </a:solidFill>
                <a:latin typeface="Montserrat Bold" panose="00000800000000000000" charset="-93"/>
                <a:ea typeface="Open Sans SemiBold" pitchFamily="34" charset="-122"/>
                <a:cs typeface="Open Sans SemiBold" pitchFamily="34" charset="-120"/>
              </a:rPr>
              <a:t>Tối ưu hóa thời gian</a:t>
            </a:r>
            <a:endParaRPr lang="en-US" sz="3200" dirty="0">
              <a:latin typeface="Montserrat Bold" panose="00000800000000000000" charset="-93"/>
            </a:endParaRPr>
          </a:p>
        </p:txBody>
      </p:sp>
      <p:sp>
        <p:nvSpPr>
          <p:cNvPr id="9" name="Text 4"/>
          <p:cNvSpPr/>
          <p:nvPr/>
        </p:nvSpPr>
        <p:spPr>
          <a:xfrm>
            <a:off x="1143000" y="5644009"/>
            <a:ext cx="7572376" cy="756810"/>
          </a:xfrm>
          <a:prstGeom prst="rect">
            <a:avLst/>
          </a:prstGeom>
          <a:noFill/>
          <a:ln/>
        </p:spPr>
        <p:txBody>
          <a:bodyPr wrap="square" lIns="0" tIns="0" rIns="0" bIns="0" rtlCol="0" anchor="t">
            <a:spAutoFit/>
          </a:bodyPr>
          <a:lstStyle/>
          <a:p>
            <a:pPr>
              <a:lnSpc>
                <a:spcPct val="128000"/>
              </a:lnSpc>
            </a:pPr>
            <a:r>
              <a:rPr lang="en-US" sz="2000" dirty="0">
                <a:solidFill>
                  <a:srgbClr val="333333"/>
                </a:solidFill>
                <a:latin typeface="Open Sans" pitchFamily="34" charset="0"/>
                <a:ea typeface="Open Sans" pitchFamily="34" charset="-122"/>
                <a:cs typeface="Open Sans" pitchFamily="34" charset="-120"/>
              </a:rPr>
              <a:t>Tập trung nguồn lực vào các từ vựng khó và sắp quên, giảm thiểu thời gian ôn tập các từ đã ghi nhớ tốt.</a:t>
            </a:r>
            <a:endParaRPr lang="en-US" sz="2000" dirty="0"/>
          </a:p>
        </p:txBody>
      </p:sp>
      <p:pic>
        <p:nvPicPr>
          <p:cNvPr id="10" name="Image 3" descr="preencoded.png"/>
          <p:cNvPicPr>
            <a:picLocks noChangeAspect="1"/>
          </p:cNvPicPr>
          <p:nvPr/>
        </p:nvPicPr>
        <p:blipFill>
          <a:blip r:embed="rId6"/>
          <a:stretch>
            <a:fillRect/>
          </a:stretch>
        </p:blipFill>
        <p:spPr>
          <a:xfrm>
            <a:off x="1143000" y="7038381"/>
            <a:ext cx="357188" cy="285750"/>
          </a:xfrm>
          <a:prstGeom prst="rect">
            <a:avLst/>
          </a:prstGeom>
        </p:spPr>
      </p:pic>
      <p:sp>
        <p:nvSpPr>
          <p:cNvPr id="11" name="Text 5"/>
          <p:cNvSpPr/>
          <p:nvPr/>
        </p:nvSpPr>
        <p:spPr>
          <a:xfrm>
            <a:off x="1714500" y="6966943"/>
            <a:ext cx="4486706" cy="492443"/>
          </a:xfrm>
          <a:prstGeom prst="rect">
            <a:avLst/>
          </a:prstGeom>
          <a:noFill/>
          <a:ln/>
        </p:spPr>
        <p:txBody>
          <a:bodyPr wrap="square" lIns="0" tIns="0" rIns="0" bIns="0" rtlCol="0" anchor="t">
            <a:spAutoFit/>
          </a:bodyPr>
          <a:lstStyle/>
          <a:p>
            <a:r>
              <a:rPr lang="en-US" sz="3200" dirty="0">
                <a:solidFill>
                  <a:srgbClr val="D32F2F"/>
                </a:solidFill>
                <a:latin typeface="Montserrat Bold" panose="00000800000000000000" charset="-93"/>
                <a:ea typeface="Open Sans SemiBold" pitchFamily="34" charset="-122"/>
                <a:cs typeface="Open Sans SemiBold" pitchFamily="34" charset="-120"/>
              </a:rPr>
              <a:t>Cá nhân hóa lộ trình</a:t>
            </a:r>
            <a:endParaRPr lang="en-US" sz="3200" dirty="0">
              <a:latin typeface="Montserrat Bold" panose="00000800000000000000" charset="-93"/>
            </a:endParaRPr>
          </a:p>
        </p:txBody>
      </p:sp>
      <p:sp>
        <p:nvSpPr>
          <p:cNvPr id="12" name="Text 6"/>
          <p:cNvSpPr/>
          <p:nvPr/>
        </p:nvSpPr>
        <p:spPr>
          <a:xfrm>
            <a:off x="1143000" y="7652743"/>
            <a:ext cx="7572376" cy="756810"/>
          </a:xfrm>
          <a:prstGeom prst="rect">
            <a:avLst/>
          </a:prstGeom>
          <a:noFill/>
          <a:ln/>
        </p:spPr>
        <p:txBody>
          <a:bodyPr wrap="square" lIns="0" tIns="0" rIns="0" bIns="0" rtlCol="0" anchor="t">
            <a:spAutoFit/>
          </a:bodyPr>
          <a:lstStyle/>
          <a:p>
            <a:pPr>
              <a:lnSpc>
                <a:spcPct val="128000"/>
              </a:lnSpc>
            </a:pPr>
            <a:r>
              <a:rPr lang="en-US" sz="2000" dirty="0">
                <a:solidFill>
                  <a:srgbClr val="333333"/>
                </a:solidFill>
                <a:latin typeface="Open Sans" pitchFamily="34" charset="0"/>
                <a:ea typeface="Open Sans" pitchFamily="34" charset="-122"/>
                <a:cs typeface="Open Sans" pitchFamily="34" charset="-120"/>
              </a:rPr>
              <a:t>Mỗi người dùng có một lịch trình học tập riêng biệt, thích ứng hoàn toàn với tốc độ tiếp thu cá nhân.</a:t>
            </a:r>
            <a:endParaRPr lang="en-US" sz="2000" dirty="0"/>
          </a:p>
        </p:txBody>
      </p:sp>
      <p:pic>
        <p:nvPicPr>
          <p:cNvPr id="13" name="Image 4" descr="preencoded.png"/>
          <p:cNvPicPr>
            <a:picLocks noChangeAspect="1"/>
          </p:cNvPicPr>
          <p:nvPr/>
        </p:nvPicPr>
        <p:blipFill>
          <a:blip r:embed="rId7"/>
          <a:stretch>
            <a:fillRect/>
          </a:stretch>
        </p:blipFill>
        <p:spPr>
          <a:xfrm>
            <a:off x="9572626" y="2635151"/>
            <a:ext cx="7572376" cy="5000626"/>
          </a:xfrm>
          <a:prstGeom prst="rect">
            <a:avLst/>
          </a:prstGeom>
        </p:spPr>
      </p:pic>
      <p:sp>
        <p:nvSpPr>
          <p:cNvPr id="14" name="Text 7"/>
          <p:cNvSpPr/>
          <p:nvPr/>
        </p:nvSpPr>
        <p:spPr>
          <a:xfrm>
            <a:off x="10247711" y="7778651"/>
            <a:ext cx="6222206" cy="615553"/>
          </a:xfrm>
          <a:prstGeom prst="rect">
            <a:avLst/>
          </a:prstGeom>
          <a:noFill/>
          <a:ln/>
        </p:spPr>
        <p:txBody>
          <a:bodyPr wrap="square" lIns="0" tIns="0" rIns="0" bIns="0" rtlCol="0" anchor="t">
            <a:spAutoFit/>
          </a:bodyPr>
          <a:lstStyle/>
          <a:p>
            <a:r>
              <a:rPr lang="en-US" sz="2000" i="1" dirty="0">
                <a:solidFill>
                  <a:srgbClr val="666666"/>
                </a:solidFill>
                <a:latin typeface="Open Sans" pitchFamily="34" charset="0"/>
                <a:ea typeface="Open Sans" pitchFamily="34" charset="-122"/>
                <a:cs typeface="Open Sans" pitchFamily="34" charset="-120"/>
              </a:rPr>
              <a:t>Minh họa: Hiệu quả của việc ôn tập ngắt quãng (Spaced Repetition)</a:t>
            </a:r>
            <a:endParaRPr lang="en-US" sz="2000" dirty="0"/>
          </a:p>
        </p:txBody>
      </p:sp>
      <p:sp>
        <p:nvSpPr>
          <p:cNvPr id="15" name="TextBox 14">
            <a:extLst>
              <a:ext uri="{FF2B5EF4-FFF2-40B4-BE49-F238E27FC236}">
                <a16:creationId xmlns:a16="http://schemas.microsoft.com/office/drawing/2014/main" id="{B0831C89-7849-B4AA-657C-48F907769B01}"/>
              </a:ext>
            </a:extLst>
          </p:cNvPr>
          <p:cNvSpPr txBox="1"/>
          <p:nvPr/>
        </p:nvSpPr>
        <p:spPr>
          <a:xfrm>
            <a:off x="17831821" y="9831884"/>
            <a:ext cx="415498"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30</a:t>
            </a:r>
            <a:endParaRPr lang="vi-V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8288000" cy="10287000"/>
          </a:xfrm>
          <a:prstGeom prst="rect">
            <a:avLst/>
          </a:prstGeom>
        </p:spPr>
      </p:pic>
      <p:sp>
        <p:nvSpPr>
          <p:cNvPr id="3" name="Text 0"/>
          <p:cNvSpPr/>
          <p:nvPr/>
        </p:nvSpPr>
        <p:spPr>
          <a:xfrm>
            <a:off x="1143000" y="1163539"/>
            <a:ext cx="17145000" cy="615553"/>
          </a:xfrm>
          <a:prstGeom prst="rect">
            <a:avLst/>
          </a:prstGeom>
          <a:noFill/>
          <a:ln/>
        </p:spPr>
        <p:txBody>
          <a:bodyPr wrap="square" lIns="0" tIns="0" rIns="0" bIns="0" rtlCol="0" anchor="t">
            <a:spAutoFit/>
          </a:bodyPr>
          <a:lstStyle/>
          <a:p>
            <a:r>
              <a:rPr lang="en-US" sz="4000" b="1" dirty="0">
                <a:solidFill>
                  <a:srgbClr val="000000"/>
                </a:solidFill>
                <a:latin typeface="Montserrat Bold" pitchFamily="34" charset="0"/>
                <a:ea typeface="Montserrat Bold" pitchFamily="34" charset="-122"/>
                <a:cs typeface="Montserrat Bold" pitchFamily="34" charset="-120"/>
              </a:rPr>
              <a:t>ĐỐI CHIẾU VỚI MỤC TIÊU DỰ ÁN</a:t>
            </a:r>
            <a:endParaRPr lang="en-US" sz="4000" dirty="0"/>
          </a:p>
        </p:txBody>
      </p:sp>
      <p:sp>
        <p:nvSpPr>
          <p:cNvPr id="4" name="Shape 1"/>
          <p:cNvSpPr/>
          <p:nvPr/>
        </p:nvSpPr>
        <p:spPr>
          <a:xfrm>
            <a:off x="1143000" y="2635150"/>
            <a:ext cx="5600700" cy="707232"/>
          </a:xfrm>
          <a:prstGeom prst="rect">
            <a:avLst/>
          </a:prstGeom>
          <a:solidFill>
            <a:srgbClr val="000000"/>
          </a:solidFill>
          <a:ln/>
        </p:spPr>
      </p:sp>
      <p:sp>
        <p:nvSpPr>
          <p:cNvPr id="5" name="Text 2"/>
          <p:cNvSpPr/>
          <p:nvPr/>
        </p:nvSpPr>
        <p:spPr>
          <a:xfrm>
            <a:off x="1143000" y="2608149"/>
            <a:ext cx="5600700" cy="761234"/>
          </a:xfrm>
          <a:prstGeom prst="rect">
            <a:avLst/>
          </a:prstGeom>
          <a:noFill/>
          <a:ln/>
        </p:spPr>
        <p:txBody>
          <a:bodyPr wrap="square" lIns="340106" tIns="255016" rIns="340106" bIns="255016" rtlCol="0" anchor="ctr">
            <a:spAutoFit/>
          </a:bodyPr>
          <a:lstStyle/>
          <a:p>
            <a:r>
              <a:rPr lang="en-US" sz="1600" b="1" dirty="0">
                <a:solidFill>
                  <a:srgbClr val="FFFFFF"/>
                </a:solidFill>
                <a:latin typeface="Montserrat Bold" pitchFamily="34" charset="0"/>
                <a:ea typeface="Montserrat Bold" pitchFamily="34" charset="-122"/>
                <a:cs typeface="Montserrat Bold" pitchFamily="34" charset="-120"/>
              </a:rPr>
              <a:t>MỤC TIÊU</a:t>
            </a:r>
            <a:endParaRPr lang="en-US" sz="1600" dirty="0"/>
          </a:p>
        </p:txBody>
      </p:sp>
      <p:sp>
        <p:nvSpPr>
          <p:cNvPr id="6" name="Shape 3"/>
          <p:cNvSpPr/>
          <p:nvPr/>
        </p:nvSpPr>
        <p:spPr>
          <a:xfrm>
            <a:off x="6743700" y="2635150"/>
            <a:ext cx="3200400" cy="707232"/>
          </a:xfrm>
          <a:prstGeom prst="rect">
            <a:avLst/>
          </a:prstGeom>
          <a:solidFill>
            <a:srgbClr val="000000"/>
          </a:solidFill>
          <a:ln/>
        </p:spPr>
      </p:sp>
      <p:sp>
        <p:nvSpPr>
          <p:cNvPr id="7" name="Text 4"/>
          <p:cNvSpPr/>
          <p:nvPr/>
        </p:nvSpPr>
        <p:spPr>
          <a:xfrm>
            <a:off x="6743700" y="2608151"/>
            <a:ext cx="3200400" cy="761234"/>
          </a:xfrm>
          <a:prstGeom prst="rect">
            <a:avLst/>
          </a:prstGeom>
          <a:noFill/>
          <a:ln/>
        </p:spPr>
        <p:txBody>
          <a:bodyPr wrap="square" lIns="340106" tIns="255016" rIns="340106" bIns="255016" rtlCol="0" anchor="ctr">
            <a:spAutoFit/>
          </a:bodyPr>
          <a:lstStyle/>
          <a:p>
            <a:r>
              <a:rPr lang="en-US" sz="1600" b="1" dirty="0">
                <a:solidFill>
                  <a:srgbClr val="FFFFFF"/>
                </a:solidFill>
                <a:latin typeface="Montserrat Bold" pitchFamily="34" charset="0"/>
                <a:ea typeface="Montserrat Bold" pitchFamily="34" charset="-122"/>
                <a:cs typeface="Montserrat Bold" pitchFamily="34" charset="-120"/>
              </a:rPr>
              <a:t>TRẠNG THÁI</a:t>
            </a:r>
            <a:endParaRPr lang="en-US" sz="1600" dirty="0"/>
          </a:p>
        </p:txBody>
      </p:sp>
      <p:sp>
        <p:nvSpPr>
          <p:cNvPr id="8" name="Shape 5"/>
          <p:cNvSpPr/>
          <p:nvPr/>
        </p:nvSpPr>
        <p:spPr>
          <a:xfrm>
            <a:off x="9944100" y="2635150"/>
            <a:ext cx="7200900" cy="707232"/>
          </a:xfrm>
          <a:prstGeom prst="rect">
            <a:avLst/>
          </a:prstGeom>
          <a:solidFill>
            <a:srgbClr val="000000"/>
          </a:solidFill>
          <a:ln/>
        </p:spPr>
      </p:sp>
      <p:sp>
        <p:nvSpPr>
          <p:cNvPr id="9" name="Text 6"/>
          <p:cNvSpPr/>
          <p:nvPr/>
        </p:nvSpPr>
        <p:spPr>
          <a:xfrm>
            <a:off x="9944100" y="2608149"/>
            <a:ext cx="7200900" cy="761234"/>
          </a:xfrm>
          <a:prstGeom prst="rect">
            <a:avLst/>
          </a:prstGeom>
          <a:noFill/>
          <a:ln/>
        </p:spPr>
        <p:txBody>
          <a:bodyPr wrap="square" lIns="340106" tIns="255016" rIns="340106" bIns="255016" rtlCol="0" anchor="ctr">
            <a:spAutoFit/>
          </a:bodyPr>
          <a:lstStyle/>
          <a:p>
            <a:r>
              <a:rPr lang="en-US" sz="1600" b="1" dirty="0">
                <a:solidFill>
                  <a:srgbClr val="FFFFFF"/>
                </a:solidFill>
                <a:latin typeface="Montserrat Bold" pitchFamily="34" charset="0"/>
                <a:ea typeface="Montserrat Bold" pitchFamily="34" charset="-122"/>
                <a:cs typeface="Montserrat Bold" pitchFamily="34" charset="-120"/>
              </a:rPr>
              <a:t>GHI CHÚ</a:t>
            </a:r>
            <a:endParaRPr lang="en-US" sz="1600" dirty="0"/>
          </a:p>
        </p:txBody>
      </p:sp>
      <p:sp>
        <p:nvSpPr>
          <p:cNvPr id="10" name="Text 7"/>
          <p:cNvSpPr/>
          <p:nvPr/>
        </p:nvSpPr>
        <p:spPr>
          <a:xfrm>
            <a:off x="1143000" y="3328373"/>
            <a:ext cx="5600700" cy="963854"/>
          </a:xfrm>
          <a:prstGeom prst="rect">
            <a:avLst/>
          </a:prstGeom>
          <a:noFill/>
          <a:ln/>
        </p:spPr>
        <p:txBody>
          <a:bodyPr wrap="square" lIns="340106" tIns="340106" rIns="340106" bIns="340106" rtlCol="0" anchor="ctr">
            <a:spAutoFit/>
          </a:bodyPr>
          <a:lstStyle/>
          <a:p>
            <a:r>
              <a:rPr lang="en-US" dirty="0">
                <a:solidFill>
                  <a:srgbClr val="000000"/>
                </a:solidFill>
                <a:latin typeface="Open Sans SemiBold" pitchFamily="34" charset="0"/>
                <a:ea typeface="Open Sans SemiBold" pitchFamily="34" charset="-122"/>
                <a:cs typeface="Open Sans SemiBold" pitchFamily="34" charset="-120"/>
              </a:rPr>
              <a:t>Ứng dụng Android hoàn chỉnh</a:t>
            </a:r>
            <a:endParaRPr lang="en-US" dirty="0"/>
          </a:p>
        </p:txBody>
      </p:sp>
      <p:pic>
        <p:nvPicPr>
          <p:cNvPr id="11" name="Image 1" descr="preencoded.png"/>
          <p:cNvPicPr>
            <a:picLocks noChangeAspect="1"/>
          </p:cNvPicPr>
          <p:nvPr/>
        </p:nvPicPr>
        <p:blipFill>
          <a:blip r:embed="rId4"/>
          <a:stretch>
            <a:fillRect/>
          </a:stretch>
        </p:blipFill>
        <p:spPr>
          <a:xfrm>
            <a:off x="7029450" y="3674566"/>
            <a:ext cx="257176" cy="257176"/>
          </a:xfrm>
          <a:prstGeom prst="rect">
            <a:avLst/>
          </a:prstGeom>
        </p:spPr>
      </p:pic>
      <p:sp>
        <p:nvSpPr>
          <p:cNvPr id="12" name="Text 8"/>
          <p:cNvSpPr/>
          <p:nvPr/>
        </p:nvSpPr>
        <p:spPr>
          <a:xfrm>
            <a:off x="7429500" y="3628133"/>
            <a:ext cx="1317668" cy="276999"/>
          </a:xfrm>
          <a:prstGeom prst="rect">
            <a:avLst/>
          </a:prstGeom>
          <a:noFill/>
          <a:ln/>
        </p:spPr>
        <p:txBody>
          <a:bodyPr wrap="none" lIns="0" tIns="0" rIns="0" bIns="0" rtlCol="0" anchor="t">
            <a:spAutoFit/>
          </a:bodyPr>
          <a:lstStyle/>
          <a:p>
            <a:r>
              <a:rPr lang="en-US" dirty="0">
                <a:solidFill>
                  <a:srgbClr val="D32F2F"/>
                </a:solidFill>
                <a:latin typeface="Open Sans SemiBold" pitchFamily="34" charset="0"/>
                <a:ea typeface="Open Sans SemiBold" pitchFamily="34" charset="-122"/>
                <a:cs typeface="Open Sans SemiBold" pitchFamily="34" charset="-120"/>
              </a:rPr>
              <a:t>Hoàn thành</a:t>
            </a:r>
            <a:endParaRPr lang="en-US" dirty="0"/>
          </a:p>
        </p:txBody>
      </p:sp>
      <p:sp>
        <p:nvSpPr>
          <p:cNvPr id="13" name="Text 9"/>
          <p:cNvSpPr/>
          <p:nvPr/>
        </p:nvSpPr>
        <p:spPr>
          <a:xfrm>
            <a:off x="9944100" y="3320679"/>
            <a:ext cx="7200900" cy="979242"/>
          </a:xfrm>
          <a:prstGeom prst="rect">
            <a:avLst/>
          </a:prstGeom>
          <a:noFill/>
          <a:ln/>
        </p:spPr>
        <p:txBody>
          <a:bodyPr wrap="square" lIns="340106" tIns="340106" rIns="340106" bIns="340106" rtlCol="0" anchor="ctr">
            <a:spAutoFit/>
          </a:bodyPr>
          <a:lstStyle/>
          <a:p>
            <a:r>
              <a:rPr lang="en-US" sz="1900" dirty="0">
                <a:solidFill>
                  <a:srgbClr val="333333"/>
                </a:solidFill>
                <a:latin typeface="Open Sans" pitchFamily="34" charset="0"/>
                <a:ea typeface="Open Sans" pitchFamily="34" charset="-122"/>
                <a:cs typeface="Open Sans" pitchFamily="34" charset="-120"/>
              </a:rPr>
              <a:t>Đầy đủ luồng nghiệp vụ từ đăng ký đến học tập.</a:t>
            </a:r>
            <a:endParaRPr lang="en-US" sz="1900" dirty="0"/>
          </a:p>
        </p:txBody>
      </p:sp>
      <p:sp>
        <p:nvSpPr>
          <p:cNvPr id="14" name="Text 10"/>
          <p:cNvSpPr/>
          <p:nvPr/>
        </p:nvSpPr>
        <p:spPr>
          <a:xfrm>
            <a:off x="1143000" y="4264205"/>
            <a:ext cx="5600700" cy="963854"/>
          </a:xfrm>
          <a:prstGeom prst="rect">
            <a:avLst/>
          </a:prstGeom>
          <a:noFill/>
          <a:ln/>
        </p:spPr>
        <p:txBody>
          <a:bodyPr wrap="square" lIns="340106" tIns="340106" rIns="340106" bIns="340106" rtlCol="0" anchor="ctr">
            <a:spAutoFit/>
          </a:bodyPr>
          <a:lstStyle/>
          <a:p>
            <a:r>
              <a:rPr lang="en-US" dirty="0">
                <a:solidFill>
                  <a:srgbClr val="000000"/>
                </a:solidFill>
                <a:latin typeface="Open Sans SemiBold" pitchFamily="34" charset="0"/>
                <a:ea typeface="Open Sans SemiBold" pitchFamily="34" charset="-122"/>
                <a:cs typeface="Open Sans SemiBold" pitchFamily="34" charset="-120"/>
              </a:rPr>
              <a:t>Thuật toán Spaced Repetition</a:t>
            </a:r>
            <a:endParaRPr lang="en-US" dirty="0"/>
          </a:p>
        </p:txBody>
      </p:sp>
      <p:pic>
        <p:nvPicPr>
          <p:cNvPr id="15" name="Image 2" descr="preencoded.png"/>
          <p:cNvPicPr>
            <a:picLocks noChangeAspect="1"/>
          </p:cNvPicPr>
          <p:nvPr/>
        </p:nvPicPr>
        <p:blipFill>
          <a:blip r:embed="rId5"/>
          <a:stretch>
            <a:fillRect/>
          </a:stretch>
        </p:blipFill>
        <p:spPr>
          <a:xfrm>
            <a:off x="7029450" y="4610398"/>
            <a:ext cx="257176" cy="257176"/>
          </a:xfrm>
          <a:prstGeom prst="rect">
            <a:avLst/>
          </a:prstGeom>
        </p:spPr>
      </p:pic>
      <p:sp>
        <p:nvSpPr>
          <p:cNvPr id="16" name="Text 11"/>
          <p:cNvSpPr/>
          <p:nvPr/>
        </p:nvSpPr>
        <p:spPr>
          <a:xfrm>
            <a:off x="7429500" y="4563965"/>
            <a:ext cx="1317668" cy="276999"/>
          </a:xfrm>
          <a:prstGeom prst="rect">
            <a:avLst/>
          </a:prstGeom>
          <a:noFill/>
          <a:ln/>
        </p:spPr>
        <p:txBody>
          <a:bodyPr wrap="none" lIns="0" tIns="0" rIns="0" bIns="0" rtlCol="0" anchor="t">
            <a:spAutoFit/>
          </a:bodyPr>
          <a:lstStyle/>
          <a:p>
            <a:r>
              <a:rPr lang="en-US" dirty="0">
                <a:solidFill>
                  <a:srgbClr val="D32F2F"/>
                </a:solidFill>
                <a:latin typeface="Open Sans SemiBold" pitchFamily="34" charset="0"/>
                <a:ea typeface="Open Sans SemiBold" pitchFamily="34" charset="-122"/>
                <a:cs typeface="Open Sans SemiBold" pitchFamily="34" charset="-120"/>
              </a:rPr>
              <a:t>Hoàn thành</a:t>
            </a:r>
            <a:endParaRPr lang="en-US" dirty="0"/>
          </a:p>
        </p:txBody>
      </p:sp>
      <p:sp>
        <p:nvSpPr>
          <p:cNvPr id="17" name="Text 12"/>
          <p:cNvSpPr/>
          <p:nvPr/>
        </p:nvSpPr>
        <p:spPr>
          <a:xfrm>
            <a:off x="9944100" y="4256511"/>
            <a:ext cx="7200900" cy="979242"/>
          </a:xfrm>
          <a:prstGeom prst="rect">
            <a:avLst/>
          </a:prstGeom>
          <a:noFill/>
          <a:ln/>
        </p:spPr>
        <p:txBody>
          <a:bodyPr wrap="square" lIns="340106" tIns="340106" rIns="340106" bIns="340106" rtlCol="0" anchor="ctr">
            <a:spAutoFit/>
          </a:bodyPr>
          <a:lstStyle/>
          <a:p>
            <a:r>
              <a:rPr lang="en-US" sz="1900" dirty="0">
                <a:solidFill>
                  <a:srgbClr val="333333"/>
                </a:solidFill>
                <a:latin typeface="Open Sans" pitchFamily="34" charset="0"/>
                <a:ea typeface="Open Sans" pitchFamily="34" charset="-122"/>
                <a:cs typeface="Open Sans" pitchFamily="34" charset="-120"/>
              </a:rPr>
              <a:t>Tích hợp thành công mô hình SM-2 thông minh.</a:t>
            </a:r>
            <a:endParaRPr lang="en-US" sz="1900" dirty="0"/>
          </a:p>
        </p:txBody>
      </p:sp>
      <p:sp>
        <p:nvSpPr>
          <p:cNvPr id="18" name="Text 13"/>
          <p:cNvSpPr/>
          <p:nvPr/>
        </p:nvSpPr>
        <p:spPr>
          <a:xfrm>
            <a:off x="1143000" y="5200035"/>
            <a:ext cx="5600700" cy="963854"/>
          </a:xfrm>
          <a:prstGeom prst="rect">
            <a:avLst/>
          </a:prstGeom>
          <a:noFill/>
          <a:ln/>
        </p:spPr>
        <p:txBody>
          <a:bodyPr wrap="square" lIns="340106" tIns="340106" rIns="340106" bIns="340106" rtlCol="0" anchor="ctr">
            <a:spAutoFit/>
          </a:bodyPr>
          <a:lstStyle/>
          <a:p>
            <a:r>
              <a:rPr lang="en-US" dirty="0">
                <a:solidFill>
                  <a:srgbClr val="000000"/>
                </a:solidFill>
                <a:latin typeface="Open Sans SemiBold" pitchFamily="34" charset="0"/>
                <a:ea typeface="Open Sans SemiBold" pitchFamily="34" charset="-122"/>
                <a:cs typeface="Open Sans SemiBold" pitchFamily="34" charset="-120"/>
              </a:rPr>
              <a:t>Đồng bộ &amp; Offline-First</a:t>
            </a:r>
            <a:endParaRPr lang="en-US" dirty="0"/>
          </a:p>
        </p:txBody>
      </p:sp>
      <p:pic>
        <p:nvPicPr>
          <p:cNvPr id="19" name="Image 3" descr="preencoded.png"/>
          <p:cNvPicPr>
            <a:picLocks noChangeAspect="1"/>
          </p:cNvPicPr>
          <p:nvPr/>
        </p:nvPicPr>
        <p:blipFill>
          <a:blip r:embed="rId4"/>
          <a:stretch>
            <a:fillRect/>
          </a:stretch>
        </p:blipFill>
        <p:spPr>
          <a:xfrm>
            <a:off x="7029450" y="5546228"/>
            <a:ext cx="257176" cy="257176"/>
          </a:xfrm>
          <a:prstGeom prst="rect">
            <a:avLst/>
          </a:prstGeom>
        </p:spPr>
      </p:pic>
      <p:sp>
        <p:nvSpPr>
          <p:cNvPr id="20" name="Text 14"/>
          <p:cNvSpPr/>
          <p:nvPr/>
        </p:nvSpPr>
        <p:spPr>
          <a:xfrm>
            <a:off x="7429500" y="5499795"/>
            <a:ext cx="1317668" cy="276999"/>
          </a:xfrm>
          <a:prstGeom prst="rect">
            <a:avLst/>
          </a:prstGeom>
          <a:noFill/>
          <a:ln/>
        </p:spPr>
        <p:txBody>
          <a:bodyPr wrap="none" lIns="0" tIns="0" rIns="0" bIns="0" rtlCol="0" anchor="t">
            <a:spAutoFit/>
          </a:bodyPr>
          <a:lstStyle/>
          <a:p>
            <a:r>
              <a:rPr lang="en-US" dirty="0">
                <a:solidFill>
                  <a:srgbClr val="D32F2F"/>
                </a:solidFill>
                <a:latin typeface="Open Sans SemiBold" pitchFamily="34" charset="0"/>
                <a:ea typeface="Open Sans SemiBold" pitchFamily="34" charset="-122"/>
                <a:cs typeface="Open Sans SemiBold" pitchFamily="34" charset="-120"/>
              </a:rPr>
              <a:t>Hoàn thành</a:t>
            </a:r>
            <a:endParaRPr lang="en-US" dirty="0"/>
          </a:p>
        </p:txBody>
      </p:sp>
      <p:sp>
        <p:nvSpPr>
          <p:cNvPr id="21" name="Text 15"/>
          <p:cNvSpPr/>
          <p:nvPr/>
        </p:nvSpPr>
        <p:spPr>
          <a:xfrm>
            <a:off x="9944100" y="5192341"/>
            <a:ext cx="7200900" cy="979242"/>
          </a:xfrm>
          <a:prstGeom prst="rect">
            <a:avLst/>
          </a:prstGeom>
          <a:noFill/>
          <a:ln/>
        </p:spPr>
        <p:txBody>
          <a:bodyPr wrap="square" lIns="340106" tIns="340106" rIns="340106" bIns="340106" rtlCol="0" anchor="ctr">
            <a:spAutoFit/>
          </a:bodyPr>
          <a:lstStyle/>
          <a:p>
            <a:r>
              <a:rPr lang="en-US" sz="1900" dirty="0">
                <a:solidFill>
                  <a:srgbClr val="333333"/>
                </a:solidFill>
                <a:latin typeface="Open Sans" pitchFamily="34" charset="0"/>
                <a:ea typeface="Open Sans" pitchFamily="34" charset="-122"/>
                <a:cs typeface="Open Sans" pitchFamily="34" charset="-120"/>
              </a:rPr>
              <a:t>Kết hợp Room và Firebase hoạt động ổn định.</a:t>
            </a:r>
            <a:endParaRPr lang="en-US" sz="1900" dirty="0"/>
          </a:p>
        </p:txBody>
      </p:sp>
      <p:sp>
        <p:nvSpPr>
          <p:cNvPr id="22" name="Text 16"/>
          <p:cNvSpPr/>
          <p:nvPr/>
        </p:nvSpPr>
        <p:spPr>
          <a:xfrm>
            <a:off x="1143000" y="6135867"/>
            <a:ext cx="5600700" cy="963854"/>
          </a:xfrm>
          <a:prstGeom prst="rect">
            <a:avLst/>
          </a:prstGeom>
          <a:noFill/>
          <a:ln/>
        </p:spPr>
        <p:txBody>
          <a:bodyPr wrap="square" lIns="340106" tIns="340106" rIns="340106" bIns="340106" rtlCol="0" anchor="ctr">
            <a:spAutoFit/>
          </a:bodyPr>
          <a:lstStyle/>
          <a:p>
            <a:r>
              <a:rPr lang="en-US" dirty="0">
                <a:solidFill>
                  <a:srgbClr val="000000"/>
                </a:solidFill>
                <a:latin typeface="Open Sans SemiBold" pitchFamily="34" charset="0"/>
                <a:ea typeface="Open Sans SemiBold" pitchFamily="34" charset="-122"/>
                <a:cs typeface="Open Sans SemiBold" pitchFamily="34" charset="-120"/>
              </a:rPr>
              <a:t>Cơ chế Streak &amp; Nhắc nhở</a:t>
            </a:r>
            <a:endParaRPr lang="en-US" dirty="0"/>
          </a:p>
        </p:txBody>
      </p:sp>
      <p:sp>
        <p:nvSpPr>
          <p:cNvPr id="24" name="Text 18"/>
          <p:cNvSpPr/>
          <p:nvPr/>
        </p:nvSpPr>
        <p:spPr>
          <a:xfrm>
            <a:off x="9944100" y="6128173"/>
            <a:ext cx="7200900" cy="979242"/>
          </a:xfrm>
          <a:prstGeom prst="rect">
            <a:avLst/>
          </a:prstGeom>
          <a:noFill/>
          <a:ln/>
        </p:spPr>
        <p:txBody>
          <a:bodyPr wrap="square" lIns="340106" tIns="340106" rIns="340106" bIns="340106" rtlCol="0" anchor="ctr">
            <a:spAutoFit/>
          </a:bodyPr>
          <a:lstStyle/>
          <a:p>
            <a:r>
              <a:rPr lang="vi-VN" sz="1900" dirty="0">
                <a:solidFill>
                  <a:srgbClr val="333333"/>
                </a:solidFill>
                <a:latin typeface="Open Sans" pitchFamily="34" charset="0"/>
                <a:ea typeface="Open Sans" pitchFamily="34" charset="-122"/>
                <a:cs typeface="Open Sans" pitchFamily="34" charset="-120"/>
              </a:rPr>
              <a:t>Hoàn thiện cơ bản</a:t>
            </a:r>
            <a:r>
              <a:rPr lang="en-US" sz="1900" dirty="0">
                <a:solidFill>
                  <a:srgbClr val="333333"/>
                </a:solidFill>
                <a:latin typeface="Open Sans" pitchFamily="34" charset="0"/>
                <a:ea typeface="Open Sans" pitchFamily="34" charset="-122"/>
                <a:cs typeface="Open Sans" pitchFamily="34" charset="-120"/>
              </a:rPr>
              <a:t>.</a:t>
            </a:r>
            <a:endParaRPr lang="en-US" sz="1900" dirty="0"/>
          </a:p>
        </p:txBody>
      </p:sp>
      <p:sp>
        <p:nvSpPr>
          <p:cNvPr id="25" name="TextBox 24">
            <a:extLst>
              <a:ext uri="{FF2B5EF4-FFF2-40B4-BE49-F238E27FC236}">
                <a16:creationId xmlns:a16="http://schemas.microsoft.com/office/drawing/2014/main" id="{42D6268B-326E-A219-E024-5D92F1EE3191}"/>
              </a:ext>
            </a:extLst>
          </p:cNvPr>
          <p:cNvSpPr txBox="1"/>
          <p:nvPr/>
        </p:nvSpPr>
        <p:spPr>
          <a:xfrm>
            <a:off x="17831821" y="9831884"/>
            <a:ext cx="415498"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31</a:t>
            </a:r>
            <a:endParaRPr lang="vi-VN" dirty="0">
              <a:latin typeface="Times New Roman" panose="02020603050405020304" pitchFamily="18" charset="0"/>
              <a:cs typeface="Times New Roman" panose="02020603050405020304" pitchFamily="18" charset="0"/>
            </a:endParaRPr>
          </a:p>
        </p:txBody>
      </p:sp>
      <p:pic>
        <p:nvPicPr>
          <p:cNvPr id="26" name="Image 3" descr="preencoded.png">
            <a:extLst>
              <a:ext uri="{FF2B5EF4-FFF2-40B4-BE49-F238E27FC236}">
                <a16:creationId xmlns:a16="http://schemas.microsoft.com/office/drawing/2014/main" id="{42191B5C-D6C0-9C69-5F74-4F225A2E6CF8}"/>
              </a:ext>
            </a:extLst>
          </p:cNvPr>
          <p:cNvPicPr>
            <a:picLocks noChangeAspect="1"/>
          </p:cNvPicPr>
          <p:nvPr/>
        </p:nvPicPr>
        <p:blipFill>
          <a:blip r:embed="rId4"/>
          <a:stretch>
            <a:fillRect/>
          </a:stretch>
        </p:blipFill>
        <p:spPr>
          <a:xfrm>
            <a:off x="7053262" y="6482060"/>
            <a:ext cx="257176" cy="257176"/>
          </a:xfrm>
          <a:prstGeom prst="rect">
            <a:avLst/>
          </a:prstGeom>
        </p:spPr>
      </p:pic>
      <p:sp>
        <p:nvSpPr>
          <p:cNvPr id="27" name="Text 14">
            <a:extLst>
              <a:ext uri="{FF2B5EF4-FFF2-40B4-BE49-F238E27FC236}">
                <a16:creationId xmlns:a16="http://schemas.microsoft.com/office/drawing/2014/main" id="{2C2FA02F-CEE0-BAA0-ECAD-29E451EC2A58}"/>
              </a:ext>
            </a:extLst>
          </p:cNvPr>
          <p:cNvSpPr/>
          <p:nvPr/>
        </p:nvSpPr>
        <p:spPr>
          <a:xfrm>
            <a:off x="7453312" y="6435627"/>
            <a:ext cx="1317668" cy="276999"/>
          </a:xfrm>
          <a:prstGeom prst="rect">
            <a:avLst/>
          </a:prstGeom>
          <a:noFill/>
          <a:ln/>
        </p:spPr>
        <p:txBody>
          <a:bodyPr wrap="none" lIns="0" tIns="0" rIns="0" bIns="0" rtlCol="0" anchor="t">
            <a:spAutoFit/>
          </a:bodyPr>
          <a:lstStyle/>
          <a:p>
            <a:r>
              <a:rPr lang="en-US" dirty="0">
                <a:solidFill>
                  <a:srgbClr val="D32F2F"/>
                </a:solidFill>
                <a:latin typeface="Open Sans SemiBold" pitchFamily="34" charset="0"/>
                <a:ea typeface="Open Sans SemiBold" pitchFamily="34" charset="-122"/>
                <a:cs typeface="Open Sans SemiBold" pitchFamily="34" charset="-120"/>
              </a:rPr>
              <a:t>Hoàn thành</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8288000" cy="10287000"/>
          </a:xfrm>
          <a:prstGeom prst="rect">
            <a:avLst/>
          </a:prstGeom>
        </p:spPr>
      </p:pic>
      <p:sp>
        <p:nvSpPr>
          <p:cNvPr id="3" name="Text 0"/>
          <p:cNvSpPr/>
          <p:nvPr/>
        </p:nvSpPr>
        <p:spPr>
          <a:xfrm>
            <a:off x="1143000" y="1163539"/>
            <a:ext cx="17145000" cy="615553"/>
          </a:xfrm>
          <a:prstGeom prst="rect">
            <a:avLst/>
          </a:prstGeom>
          <a:noFill/>
          <a:ln/>
        </p:spPr>
        <p:txBody>
          <a:bodyPr wrap="square" lIns="0" tIns="0" rIns="0" bIns="0" rtlCol="0" anchor="t">
            <a:spAutoFit/>
          </a:bodyPr>
          <a:lstStyle/>
          <a:p>
            <a:r>
              <a:rPr lang="en-US" sz="4000" b="1" dirty="0">
                <a:solidFill>
                  <a:srgbClr val="000000"/>
                </a:solidFill>
                <a:latin typeface="Montserrat Bold" pitchFamily="34" charset="0"/>
                <a:ea typeface="Montserrat Bold" pitchFamily="34" charset="-122"/>
                <a:cs typeface="Montserrat Bold" pitchFamily="34" charset="-120"/>
              </a:rPr>
              <a:t>HẠN CHẾ &amp; RỦI RO KỸ THUẬT</a:t>
            </a:r>
            <a:endParaRPr lang="en-US" sz="4000" dirty="0"/>
          </a:p>
        </p:txBody>
      </p:sp>
      <p:pic>
        <p:nvPicPr>
          <p:cNvPr id="4" name="Image 1" descr="preencoded.png"/>
          <p:cNvPicPr>
            <a:picLocks noChangeAspect="1"/>
          </p:cNvPicPr>
          <p:nvPr/>
        </p:nvPicPr>
        <p:blipFill>
          <a:blip r:embed="rId4"/>
          <a:stretch>
            <a:fillRect/>
          </a:stretch>
        </p:blipFill>
        <p:spPr>
          <a:xfrm>
            <a:off x="1271588" y="2906614"/>
            <a:ext cx="457200" cy="457200"/>
          </a:xfrm>
          <a:prstGeom prst="rect">
            <a:avLst/>
          </a:prstGeom>
        </p:spPr>
      </p:pic>
      <p:sp>
        <p:nvSpPr>
          <p:cNvPr id="5" name="Text 1"/>
          <p:cNvSpPr/>
          <p:nvPr/>
        </p:nvSpPr>
        <p:spPr>
          <a:xfrm>
            <a:off x="2143127" y="2942631"/>
            <a:ext cx="6715126" cy="492443"/>
          </a:xfrm>
          <a:prstGeom prst="rect">
            <a:avLst/>
          </a:prstGeom>
          <a:noFill/>
          <a:ln/>
        </p:spPr>
        <p:txBody>
          <a:bodyPr wrap="square" lIns="0" tIns="0" rIns="0" bIns="0" rtlCol="0" anchor="t">
            <a:spAutoFit/>
          </a:bodyPr>
          <a:lstStyle/>
          <a:p>
            <a:r>
              <a:rPr lang="en-US" sz="3200" dirty="0">
                <a:solidFill>
                  <a:srgbClr val="000000"/>
                </a:solidFill>
                <a:latin typeface="Montserrat Bold" panose="00000800000000000000" charset="-93"/>
                <a:ea typeface="Open Sans SemiBold" pitchFamily="34" charset="-122"/>
                <a:cs typeface="Open Sans SemiBold" pitchFamily="34" charset="-120"/>
              </a:rPr>
              <a:t>Phụ thuộc bên thứ ba</a:t>
            </a:r>
            <a:endParaRPr lang="en-US" sz="3200" dirty="0">
              <a:latin typeface="Montserrat Bold" panose="00000800000000000000" charset="-93"/>
            </a:endParaRPr>
          </a:p>
        </p:txBody>
      </p:sp>
      <p:sp>
        <p:nvSpPr>
          <p:cNvPr id="6" name="Text 2"/>
          <p:cNvSpPr/>
          <p:nvPr/>
        </p:nvSpPr>
        <p:spPr>
          <a:xfrm>
            <a:off x="2143127" y="3635277"/>
            <a:ext cx="6715126" cy="713722"/>
          </a:xfrm>
          <a:prstGeom prst="rect">
            <a:avLst/>
          </a:prstGeom>
          <a:noFill/>
          <a:ln/>
        </p:spPr>
        <p:txBody>
          <a:bodyPr wrap="square" lIns="0" tIns="0" rIns="0" bIns="0" rtlCol="0" anchor="t">
            <a:spAutoFit/>
          </a:bodyPr>
          <a:lstStyle/>
          <a:p>
            <a:pPr>
              <a:lnSpc>
                <a:spcPct val="120000"/>
              </a:lnSpc>
            </a:pPr>
            <a:r>
              <a:rPr lang="en-US" sz="2000" dirty="0">
                <a:solidFill>
                  <a:srgbClr val="333333"/>
                </a:solidFill>
                <a:latin typeface="Open Sans" pitchFamily="34" charset="0"/>
                <a:ea typeface="Open Sans" pitchFamily="34" charset="-122"/>
                <a:cs typeface="Open Sans" pitchFamily="34" charset="-120"/>
              </a:rPr>
              <a:t>Dịch vụ Firebase và Dictionary API yêu cầu kết nối Internet ổn định để hoạt động đầy đủ.</a:t>
            </a:r>
            <a:endParaRPr lang="en-US" sz="2000" dirty="0"/>
          </a:p>
        </p:txBody>
      </p:sp>
      <p:pic>
        <p:nvPicPr>
          <p:cNvPr id="7" name="Image 2" descr="preencoded.png"/>
          <p:cNvPicPr>
            <a:picLocks noChangeAspect="1"/>
          </p:cNvPicPr>
          <p:nvPr/>
        </p:nvPicPr>
        <p:blipFill>
          <a:blip r:embed="rId5"/>
          <a:stretch>
            <a:fillRect/>
          </a:stretch>
        </p:blipFill>
        <p:spPr>
          <a:xfrm>
            <a:off x="9558338" y="2906614"/>
            <a:ext cx="457200" cy="457200"/>
          </a:xfrm>
          <a:prstGeom prst="rect">
            <a:avLst/>
          </a:prstGeom>
        </p:spPr>
      </p:pic>
      <p:sp>
        <p:nvSpPr>
          <p:cNvPr id="8" name="Text 3"/>
          <p:cNvSpPr/>
          <p:nvPr/>
        </p:nvSpPr>
        <p:spPr>
          <a:xfrm>
            <a:off x="10429877" y="2942631"/>
            <a:ext cx="6715126" cy="492443"/>
          </a:xfrm>
          <a:prstGeom prst="rect">
            <a:avLst/>
          </a:prstGeom>
          <a:noFill/>
          <a:ln/>
        </p:spPr>
        <p:txBody>
          <a:bodyPr wrap="square" lIns="0" tIns="0" rIns="0" bIns="0" rtlCol="0" anchor="t">
            <a:spAutoFit/>
          </a:bodyPr>
          <a:lstStyle/>
          <a:p>
            <a:r>
              <a:rPr lang="en-US" sz="3200" dirty="0">
                <a:solidFill>
                  <a:srgbClr val="000000"/>
                </a:solidFill>
                <a:latin typeface="Montserrat Bold" panose="00000800000000000000" charset="-93"/>
                <a:ea typeface="Open Sans SemiBold" pitchFamily="34" charset="-122"/>
                <a:cs typeface="Open Sans SemiBold" pitchFamily="34" charset="-120"/>
              </a:rPr>
              <a:t>Tính năng chưa hoàn thiện</a:t>
            </a:r>
            <a:endParaRPr lang="en-US" sz="3200" dirty="0">
              <a:latin typeface="Montserrat Bold" panose="00000800000000000000" charset="-93"/>
            </a:endParaRPr>
          </a:p>
        </p:txBody>
      </p:sp>
      <p:sp>
        <p:nvSpPr>
          <p:cNvPr id="9" name="Text 4"/>
          <p:cNvSpPr/>
          <p:nvPr/>
        </p:nvSpPr>
        <p:spPr>
          <a:xfrm>
            <a:off x="10429877" y="3635277"/>
            <a:ext cx="6715126" cy="713722"/>
          </a:xfrm>
          <a:prstGeom prst="rect">
            <a:avLst/>
          </a:prstGeom>
          <a:noFill/>
          <a:ln/>
        </p:spPr>
        <p:txBody>
          <a:bodyPr wrap="square" lIns="0" tIns="0" rIns="0" bIns="0" rtlCol="0" anchor="t">
            <a:spAutoFit/>
          </a:bodyPr>
          <a:lstStyle/>
          <a:p>
            <a:pPr>
              <a:lnSpc>
                <a:spcPct val="120000"/>
              </a:lnSpc>
            </a:pPr>
            <a:r>
              <a:rPr lang="en-US" sz="2000" dirty="0">
                <a:solidFill>
                  <a:srgbClr val="333333"/>
                </a:solidFill>
                <a:latin typeface="Open Sans" pitchFamily="34" charset="0"/>
                <a:ea typeface="Open Sans" pitchFamily="34" charset="-122"/>
                <a:cs typeface="Open Sans" pitchFamily="34" charset="-120"/>
              </a:rPr>
              <a:t>Cơ chế Streak và nhắc học thông </a:t>
            </a:r>
            <a:r>
              <a:rPr lang="en-US" sz="2000" dirty="0" err="1">
                <a:solidFill>
                  <a:srgbClr val="333333"/>
                </a:solidFill>
                <a:latin typeface="Open Sans" pitchFamily="34" charset="0"/>
                <a:ea typeface="Open Sans" pitchFamily="34" charset="-122"/>
                <a:cs typeface="Open Sans" pitchFamily="34" charset="-120"/>
              </a:rPr>
              <a:t>minh</a:t>
            </a:r>
            <a:r>
              <a:rPr lang="en-US" sz="2000" dirty="0">
                <a:solidFill>
                  <a:srgbClr val="333333"/>
                </a:solidFill>
                <a:latin typeface="Open Sans" pitchFamily="34" charset="0"/>
                <a:ea typeface="Open Sans" pitchFamily="34" charset="-122"/>
                <a:cs typeface="Open Sans" pitchFamily="34" charset="-120"/>
              </a:rPr>
              <a:t> </a:t>
            </a:r>
            <a:r>
              <a:rPr lang="vi-VN" sz="2000" dirty="0">
                <a:solidFill>
                  <a:srgbClr val="333333"/>
                </a:solidFill>
                <a:latin typeface="Open Sans" pitchFamily="34" charset="0"/>
                <a:ea typeface="Open Sans" pitchFamily="34" charset="-122"/>
                <a:cs typeface="Open Sans" pitchFamily="34" charset="-120"/>
              </a:rPr>
              <a:t>đã còn nhưng </a:t>
            </a:r>
            <a:r>
              <a:rPr lang="en-US" sz="2000" dirty="0" err="1">
                <a:solidFill>
                  <a:srgbClr val="333333"/>
                </a:solidFill>
                <a:latin typeface="Open Sans" pitchFamily="34" charset="0"/>
                <a:ea typeface="Open Sans" pitchFamily="34" charset="-122"/>
                <a:cs typeface="Open Sans" pitchFamily="34" charset="-120"/>
              </a:rPr>
              <a:t>vẫn</a:t>
            </a:r>
            <a:r>
              <a:rPr lang="en-US" sz="2000" dirty="0">
                <a:solidFill>
                  <a:srgbClr val="333333"/>
                </a:solidFill>
                <a:latin typeface="Open Sans" pitchFamily="34" charset="0"/>
                <a:ea typeface="Open Sans" pitchFamily="34" charset="-122"/>
                <a:cs typeface="Open Sans" pitchFamily="34" charset="-120"/>
              </a:rPr>
              <a:t> đang ở </a:t>
            </a:r>
            <a:r>
              <a:rPr lang="vi-VN" sz="2000" dirty="0">
                <a:solidFill>
                  <a:srgbClr val="333333"/>
                </a:solidFill>
                <a:latin typeface="Open Sans" pitchFamily="34" charset="0"/>
                <a:ea typeface="Open Sans" pitchFamily="34" charset="-122"/>
                <a:cs typeface="Open Sans" pitchFamily="34" charset="-120"/>
              </a:rPr>
              <a:t>cơ bản</a:t>
            </a:r>
            <a:r>
              <a:rPr lang="en-US" sz="2000" dirty="0">
                <a:solidFill>
                  <a:srgbClr val="333333"/>
                </a:solidFill>
                <a:latin typeface="Open Sans" pitchFamily="34" charset="0"/>
                <a:ea typeface="Open Sans" pitchFamily="34" charset="-122"/>
                <a:cs typeface="Open Sans" pitchFamily="34" charset="-120"/>
              </a:rPr>
              <a:t>.</a:t>
            </a:r>
            <a:endParaRPr lang="en-US" sz="2000" dirty="0"/>
          </a:p>
        </p:txBody>
      </p:sp>
      <p:pic>
        <p:nvPicPr>
          <p:cNvPr id="10" name="Image 3" descr="preencoded.png"/>
          <p:cNvPicPr>
            <a:picLocks noChangeAspect="1"/>
          </p:cNvPicPr>
          <p:nvPr/>
        </p:nvPicPr>
        <p:blipFill>
          <a:blip r:embed="rId6"/>
          <a:stretch>
            <a:fillRect/>
          </a:stretch>
        </p:blipFill>
        <p:spPr>
          <a:xfrm>
            <a:off x="1271588" y="5535514"/>
            <a:ext cx="457200" cy="457200"/>
          </a:xfrm>
          <a:prstGeom prst="rect">
            <a:avLst/>
          </a:prstGeom>
        </p:spPr>
      </p:pic>
      <p:sp>
        <p:nvSpPr>
          <p:cNvPr id="11" name="Text 5"/>
          <p:cNvSpPr/>
          <p:nvPr/>
        </p:nvSpPr>
        <p:spPr>
          <a:xfrm>
            <a:off x="2143127" y="5571531"/>
            <a:ext cx="6715126" cy="492443"/>
          </a:xfrm>
          <a:prstGeom prst="rect">
            <a:avLst/>
          </a:prstGeom>
          <a:noFill/>
          <a:ln/>
        </p:spPr>
        <p:txBody>
          <a:bodyPr wrap="square" lIns="0" tIns="0" rIns="0" bIns="0" rtlCol="0" anchor="t">
            <a:spAutoFit/>
          </a:bodyPr>
          <a:lstStyle/>
          <a:p>
            <a:r>
              <a:rPr lang="en-US" sz="3200" dirty="0">
                <a:solidFill>
                  <a:srgbClr val="000000"/>
                </a:solidFill>
                <a:latin typeface="Montserrat Bold" panose="00000800000000000000" charset="-93"/>
                <a:ea typeface="Open Sans SemiBold" pitchFamily="34" charset="-122"/>
                <a:cs typeface="Open Sans SemiBold" pitchFamily="34" charset="-120"/>
              </a:rPr>
              <a:t>Kiểm thử hạn chế</a:t>
            </a:r>
            <a:endParaRPr lang="en-US" sz="3200" dirty="0">
              <a:latin typeface="Montserrat Bold" panose="00000800000000000000" charset="-93"/>
            </a:endParaRPr>
          </a:p>
        </p:txBody>
      </p:sp>
      <p:sp>
        <p:nvSpPr>
          <p:cNvPr id="12" name="Text 6"/>
          <p:cNvSpPr/>
          <p:nvPr/>
        </p:nvSpPr>
        <p:spPr>
          <a:xfrm>
            <a:off x="2143127" y="6264177"/>
            <a:ext cx="6715126" cy="713722"/>
          </a:xfrm>
          <a:prstGeom prst="rect">
            <a:avLst/>
          </a:prstGeom>
          <a:noFill/>
          <a:ln/>
        </p:spPr>
        <p:txBody>
          <a:bodyPr wrap="square" lIns="0" tIns="0" rIns="0" bIns="0" rtlCol="0" anchor="t">
            <a:spAutoFit/>
          </a:bodyPr>
          <a:lstStyle/>
          <a:p>
            <a:pPr>
              <a:lnSpc>
                <a:spcPct val="120000"/>
              </a:lnSpc>
            </a:pPr>
            <a:r>
              <a:rPr lang="en-US" sz="2000" dirty="0">
                <a:solidFill>
                  <a:srgbClr val="333333"/>
                </a:solidFill>
                <a:latin typeface="Open Sans" pitchFamily="34" charset="0"/>
                <a:ea typeface="Open Sans" pitchFamily="34" charset="-122"/>
                <a:cs typeface="Open Sans" pitchFamily="34" charset="-120"/>
              </a:rPr>
              <a:t>Số lượng Unit Test và UI Test chưa bao phủ toàn bộ các kịch bản nghiệp vụ quan trọng.</a:t>
            </a:r>
            <a:endParaRPr lang="en-US" sz="2000" dirty="0"/>
          </a:p>
        </p:txBody>
      </p:sp>
      <p:pic>
        <p:nvPicPr>
          <p:cNvPr id="13" name="Image 4" descr="preencoded.png"/>
          <p:cNvPicPr>
            <a:picLocks noChangeAspect="1"/>
          </p:cNvPicPr>
          <p:nvPr/>
        </p:nvPicPr>
        <p:blipFill>
          <a:blip r:embed="rId7"/>
          <a:stretch>
            <a:fillRect/>
          </a:stretch>
        </p:blipFill>
        <p:spPr>
          <a:xfrm>
            <a:off x="9615488" y="5535514"/>
            <a:ext cx="342900" cy="457200"/>
          </a:xfrm>
          <a:prstGeom prst="rect">
            <a:avLst/>
          </a:prstGeom>
        </p:spPr>
      </p:pic>
      <p:sp>
        <p:nvSpPr>
          <p:cNvPr id="14" name="Text 7"/>
          <p:cNvSpPr/>
          <p:nvPr/>
        </p:nvSpPr>
        <p:spPr>
          <a:xfrm>
            <a:off x="10429877" y="5571531"/>
            <a:ext cx="6715126" cy="492443"/>
          </a:xfrm>
          <a:prstGeom prst="rect">
            <a:avLst/>
          </a:prstGeom>
          <a:noFill/>
          <a:ln/>
        </p:spPr>
        <p:txBody>
          <a:bodyPr wrap="square" lIns="0" tIns="0" rIns="0" bIns="0" rtlCol="0" anchor="t">
            <a:spAutoFit/>
          </a:bodyPr>
          <a:lstStyle/>
          <a:p>
            <a:r>
              <a:rPr lang="en-US" sz="3200" dirty="0">
                <a:solidFill>
                  <a:srgbClr val="000000"/>
                </a:solidFill>
                <a:latin typeface="Montserrat Bold" panose="00000800000000000000" charset="-93"/>
                <a:ea typeface="Open Sans SemiBold" pitchFamily="34" charset="-122"/>
                <a:cs typeface="Open Sans SemiBold" pitchFamily="34" charset="-120"/>
              </a:rPr>
              <a:t>Giới hạn nền tảng</a:t>
            </a:r>
            <a:endParaRPr lang="en-US" sz="3200" dirty="0">
              <a:latin typeface="Montserrat Bold" panose="00000800000000000000" charset="-93"/>
            </a:endParaRPr>
          </a:p>
        </p:txBody>
      </p:sp>
      <p:sp>
        <p:nvSpPr>
          <p:cNvPr id="15" name="Text 8"/>
          <p:cNvSpPr/>
          <p:nvPr/>
        </p:nvSpPr>
        <p:spPr>
          <a:xfrm>
            <a:off x="10429877" y="6264176"/>
            <a:ext cx="6715126" cy="713722"/>
          </a:xfrm>
          <a:prstGeom prst="rect">
            <a:avLst/>
          </a:prstGeom>
          <a:noFill/>
          <a:ln/>
        </p:spPr>
        <p:txBody>
          <a:bodyPr wrap="square" lIns="0" tIns="0" rIns="0" bIns="0" rtlCol="0" anchor="t">
            <a:spAutoFit/>
          </a:bodyPr>
          <a:lstStyle/>
          <a:p>
            <a:pPr>
              <a:lnSpc>
                <a:spcPct val="120000"/>
              </a:lnSpc>
            </a:pPr>
            <a:r>
              <a:rPr lang="en-US" sz="2000" dirty="0">
                <a:solidFill>
                  <a:srgbClr val="333333"/>
                </a:solidFill>
                <a:latin typeface="Open Sans" pitchFamily="34" charset="0"/>
                <a:ea typeface="Open Sans" pitchFamily="34" charset="-122"/>
                <a:cs typeface="Open Sans" pitchFamily="34" charset="-120"/>
              </a:rPr>
              <a:t>Hiện tại ứng dụng chỉ hỗ trợ Android, chưa có giải pháp đa nền tảng cho iOS hoặc Web.</a:t>
            </a:r>
            <a:endParaRPr lang="en-US" sz="2000" dirty="0"/>
          </a:p>
        </p:txBody>
      </p:sp>
      <p:sp>
        <p:nvSpPr>
          <p:cNvPr id="16" name="Shape 9"/>
          <p:cNvSpPr/>
          <p:nvPr/>
        </p:nvSpPr>
        <p:spPr>
          <a:xfrm>
            <a:off x="1143000" y="8321576"/>
            <a:ext cx="16002000" cy="1271588"/>
          </a:xfrm>
          <a:prstGeom prst="rect">
            <a:avLst/>
          </a:prstGeom>
          <a:solidFill>
            <a:srgbClr val="F5F5F5"/>
          </a:solidFill>
          <a:ln/>
        </p:spPr>
      </p:sp>
      <p:sp>
        <p:nvSpPr>
          <p:cNvPr id="17" name="Shape 10"/>
          <p:cNvSpPr/>
          <p:nvPr/>
        </p:nvSpPr>
        <p:spPr>
          <a:xfrm>
            <a:off x="1143001" y="8321576"/>
            <a:ext cx="85726" cy="1271588"/>
          </a:xfrm>
          <a:prstGeom prst="rect">
            <a:avLst/>
          </a:prstGeom>
          <a:solidFill>
            <a:srgbClr val="D32F2F"/>
          </a:solidFill>
          <a:ln/>
        </p:spPr>
      </p:sp>
      <p:sp>
        <p:nvSpPr>
          <p:cNvPr id="18" name="Text 11"/>
          <p:cNvSpPr/>
          <p:nvPr/>
        </p:nvSpPr>
        <p:spPr>
          <a:xfrm>
            <a:off x="1571627" y="8607327"/>
            <a:ext cx="15144750" cy="615553"/>
          </a:xfrm>
          <a:prstGeom prst="rect">
            <a:avLst/>
          </a:prstGeom>
          <a:noFill/>
          <a:ln/>
        </p:spPr>
        <p:txBody>
          <a:bodyPr wrap="square" lIns="0" tIns="0" rIns="0" bIns="0" rtlCol="0" anchor="t">
            <a:spAutoFit/>
          </a:bodyPr>
          <a:lstStyle/>
          <a:p>
            <a:r>
              <a:rPr lang="en-US" sz="2000" b="1" i="1" dirty="0">
                <a:solidFill>
                  <a:srgbClr val="333333"/>
                </a:solidFill>
                <a:latin typeface="Open Sans Bold" pitchFamily="34" charset="0"/>
                <a:ea typeface="Open Sans Bold" pitchFamily="34" charset="-122"/>
                <a:cs typeface="Open Sans Bold" pitchFamily="34" charset="-120"/>
              </a:rPr>
              <a:t>Lưu ý:</a:t>
            </a:r>
            <a:r>
              <a:rPr lang="en-US" sz="2000" i="1" dirty="0">
                <a:solidFill>
                  <a:srgbClr val="333333"/>
                </a:solidFill>
                <a:latin typeface="Open Sans" pitchFamily="34" charset="0"/>
                <a:ea typeface="Open Sans" pitchFamily="34" charset="-122"/>
                <a:cs typeface="Open Sans" pitchFamily="34" charset="-120"/>
              </a:rPr>
              <a:t> Các rủi ro này cần được ưu tiên xử lý trong các giai đoạn bảo trì và nâng cấp tiếp theo để đảm bảo tính ổn định lâu dài của hệ thống.</a:t>
            </a:r>
            <a:endParaRPr lang="en-US" sz="2000" dirty="0"/>
          </a:p>
        </p:txBody>
      </p:sp>
      <p:sp>
        <p:nvSpPr>
          <p:cNvPr id="19" name="TextBox 18">
            <a:extLst>
              <a:ext uri="{FF2B5EF4-FFF2-40B4-BE49-F238E27FC236}">
                <a16:creationId xmlns:a16="http://schemas.microsoft.com/office/drawing/2014/main" id="{F5604104-62EA-D1E3-7CCE-FD7D09EE6ED8}"/>
              </a:ext>
            </a:extLst>
          </p:cNvPr>
          <p:cNvSpPr txBox="1"/>
          <p:nvPr/>
        </p:nvSpPr>
        <p:spPr>
          <a:xfrm>
            <a:off x="17831821" y="9831884"/>
            <a:ext cx="415498"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32</a:t>
            </a:r>
            <a:endParaRPr lang="vi-V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8288000" cy="10287000"/>
          </a:xfrm>
          <a:prstGeom prst="rect">
            <a:avLst/>
          </a:prstGeom>
        </p:spPr>
      </p:pic>
      <p:sp>
        <p:nvSpPr>
          <p:cNvPr id="3" name="Text 0"/>
          <p:cNvSpPr/>
          <p:nvPr/>
        </p:nvSpPr>
        <p:spPr>
          <a:xfrm>
            <a:off x="1143000" y="1163539"/>
            <a:ext cx="17145000" cy="615553"/>
          </a:xfrm>
          <a:prstGeom prst="rect">
            <a:avLst/>
          </a:prstGeom>
          <a:noFill/>
          <a:ln/>
        </p:spPr>
        <p:txBody>
          <a:bodyPr wrap="square" lIns="0" tIns="0" rIns="0" bIns="0" rtlCol="0" anchor="t">
            <a:spAutoFit/>
          </a:bodyPr>
          <a:lstStyle/>
          <a:p>
            <a:r>
              <a:rPr lang="en-US" sz="4000" b="1" dirty="0">
                <a:solidFill>
                  <a:srgbClr val="000000"/>
                </a:solidFill>
                <a:latin typeface="Montserrat Bold" pitchFamily="34" charset="0"/>
                <a:ea typeface="Montserrat Bold" pitchFamily="34" charset="-122"/>
                <a:cs typeface="Montserrat Bold" pitchFamily="34" charset="-120"/>
              </a:rPr>
              <a:t>LỘ TRÌNH PHÁT TRIỂN TIẾP THEO</a:t>
            </a:r>
            <a:endParaRPr lang="en-US" sz="4000" dirty="0"/>
          </a:p>
        </p:txBody>
      </p:sp>
      <p:sp>
        <p:nvSpPr>
          <p:cNvPr id="4" name="Shape 1"/>
          <p:cNvSpPr/>
          <p:nvPr/>
        </p:nvSpPr>
        <p:spPr>
          <a:xfrm>
            <a:off x="1143001" y="2778027"/>
            <a:ext cx="1000126" cy="1000126"/>
          </a:xfrm>
          <a:prstGeom prst="rect">
            <a:avLst/>
          </a:prstGeom>
          <a:solidFill>
            <a:srgbClr val="D32F2F"/>
          </a:solidFill>
          <a:ln w="27432">
            <a:solidFill>
              <a:srgbClr val="FFFFFF"/>
            </a:solidFill>
            <a:prstDash val="solid"/>
          </a:ln>
        </p:spPr>
      </p:sp>
      <p:pic>
        <p:nvPicPr>
          <p:cNvPr id="5" name="Image 1" descr="preencoded.png"/>
          <p:cNvPicPr>
            <a:picLocks noChangeAspect="1"/>
          </p:cNvPicPr>
          <p:nvPr/>
        </p:nvPicPr>
        <p:blipFill>
          <a:blip r:embed="rId4"/>
          <a:stretch>
            <a:fillRect/>
          </a:stretch>
        </p:blipFill>
        <p:spPr>
          <a:xfrm>
            <a:off x="1514476" y="3106638"/>
            <a:ext cx="257176" cy="342900"/>
          </a:xfrm>
          <a:prstGeom prst="rect">
            <a:avLst/>
          </a:prstGeom>
        </p:spPr>
      </p:pic>
      <p:sp>
        <p:nvSpPr>
          <p:cNvPr id="6" name="Text 2"/>
          <p:cNvSpPr/>
          <p:nvPr/>
        </p:nvSpPr>
        <p:spPr>
          <a:xfrm>
            <a:off x="1143000" y="4206776"/>
            <a:ext cx="7200900" cy="492443"/>
          </a:xfrm>
          <a:prstGeom prst="rect">
            <a:avLst/>
          </a:prstGeom>
          <a:noFill/>
          <a:ln/>
        </p:spPr>
        <p:txBody>
          <a:bodyPr wrap="square" lIns="0" tIns="0" rIns="0" bIns="0" rtlCol="0" anchor="t">
            <a:spAutoFit/>
          </a:bodyPr>
          <a:lstStyle/>
          <a:p>
            <a:r>
              <a:rPr lang="en-US" sz="3200" b="1" dirty="0">
                <a:solidFill>
                  <a:srgbClr val="000000"/>
                </a:solidFill>
                <a:latin typeface="Open Sans Bold" panose="020B0806030504020204" pitchFamily="34" charset="0"/>
                <a:ea typeface="Open Sans Bold" panose="020B0806030504020204" pitchFamily="34" charset="0"/>
                <a:cs typeface="Open Sans Bold" panose="020B0806030504020204" pitchFamily="34" charset="0"/>
              </a:rPr>
              <a:t>NGẮN HẠN (</a:t>
            </a:r>
            <a:r>
              <a:rPr lang="vi-VN" sz="3200" b="1" dirty="0">
                <a:solidFill>
                  <a:srgbClr val="000000"/>
                </a:solidFill>
                <a:latin typeface="Open Sans Bold" panose="020B0806030504020204" pitchFamily="34" charset="0"/>
                <a:ea typeface="Open Sans Bold" panose="020B0806030504020204" pitchFamily="34" charset="0"/>
                <a:cs typeface="Open Sans Bold" panose="020B0806030504020204" pitchFamily="34" charset="0"/>
              </a:rPr>
              <a:t>đã và đang thực hiện)</a:t>
            </a:r>
            <a:endParaRPr lang="en-US" sz="3200" dirty="0">
              <a:latin typeface="Open Sans Bold" panose="020B0806030504020204" pitchFamily="34" charset="0"/>
              <a:ea typeface="Open Sans Bold" panose="020B0806030504020204" pitchFamily="34" charset="0"/>
              <a:cs typeface="Open Sans Bold" panose="020B0806030504020204" pitchFamily="34" charset="0"/>
            </a:endParaRPr>
          </a:p>
        </p:txBody>
      </p:sp>
      <p:pic>
        <p:nvPicPr>
          <p:cNvPr id="7" name="Image 2" descr="preencoded.png"/>
          <p:cNvPicPr>
            <a:picLocks noChangeAspect="1"/>
          </p:cNvPicPr>
          <p:nvPr/>
        </p:nvPicPr>
        <p:blipFill>
          <a:blip r:embed="rId5"/>
          <a:stretch>
            <a:fillRect/>
          </a:stretch>
        </p:blipFill>
        <p:spPr>
          <a:xfrm>
            <a:off x="1143001" y="4996161"/>
            <a:ext cx="200026" cy="200026"/>
          </a:xfrm>
          <a:prstGeom prst="rect">
            <a:avLst/>
          </a:prstGeom>
        </p:spPr>
      </p:pic>
      <p:sp>
        <p:nvSpPr>
          <p:cNvPr id="8" name="Text 3"/>
          <p:cNvSpPr/>
          <p:nvPr/>
        </p:nvSpPr>
        <p:spPr>
          <a:xfrm>
            <a:off x="1514476" y="4910437"/>
            <a:ext cx="6500812" cy="307777"/>
          </a:xfrm>
          <a:prstGeom prst="rect">
            <a:avLst/>
          </a:prstGeom>
          <a:noFill/>
          <a:ln/>
        </p:spPr>
        <p:txBody>
          <a:bodyPr wrap="square" lIns="0" tIns="0" rIns="0" bIns="0" rtlCol="0" anchor="t">
            <a:spAutoFit/>
          </a:bodyPr>
          <a:lstStyle/>
          <a:p>
            <a:r>
              <a:rPr lang="en-US" sz="2000" dirty="0">
                <a:solidFill>
                  <a:srgbClr val="333333"/>
                </a:solidFill>
                <a:latin typeface="Open Sans" pitchFamily="34" charset="0"/>
                <a:ea typeface="Open Sans" pitchFamily="34" charset="-122"/>
                <a:cs typeface="Open Sans" pitchFamily="34" charset="-120"/>
              </a:rPr>
              <a:t>Hoàn thiện cơ chế </a:t>
            </a:r>
            <a:r>
              <a:rPr lang="en-US" sz="2000" dirty="0">
                <a:solidFill>
                  <a:srgbClr val="000000"/>
                </a:solidFill>
                <a:latin typeface="Open Sans SemiBold" pitchFamily="34" charset="0"/>
                <a:ea typeface="Open Sans SemiBold" pitchFamily="34" charset="-122"/>
                <a:cs typeface="Open Sans SemiBold" pitchFamily="34" charset="-120"/>
              </a:rPr>
              <a:t>Streak tự động</a:t>
            </a:r>
            <a:r>
              <a:rPr lang="en-US" sz="2000" dirty="0">
                <a:solidFill>
                  <a:srgbClr val="333333"/>
                </a:solidFill>
                <a:latin typeface="Open Sans" pitchFamily="34" charset="0"/>
                <a:ea typeface="Open Sans" pitchFamily="34" charset="-122"/>
                <a:cs typeface="Open Sans" pitchFamily="34" charset="-120"/>
              </a:rPr>
              <a:t> và nhắc nhở ôn tập.</a:t>
            </a:r>
            <a:endParaRPr lang="en-US" sz="2000" dirty="0"/>
          </a:p>
        </p:txBody>
      </p:sp>
      <p:pic>
        <p:nvPicPr>
          <p:cNvPr id="9" name="Image 3" descr="preencoded.png"/>
          <p:cNvPicPr>
            <a:picLocks noChangeAspect="1"/>
          </p:cNvPicPr>
          <p:nvPr/>
        </p:nvPicPr>
        <p:blipFill>
          <a:blip r:embed="rId6"/>
          <a:stretch>
            <a:fillRect/>
          </a:stretch>
        </p:blipFill>
        <p:spPr>
          <a:xfrm>
            <a:off x="1143001" y="5560517"/>
            <a:ext cx="200026" cy="200026"/>
          </a:xfrm>
          <a:prstGeom prst="rect">
            <a:avLst/>
          </a:prstGeom>
        </p:spPr>
      </p:pic>
      <p:sp>
        <p:nvSpPr>
          <p:cNvPr id="10" name="Text 4"/>
          <p:cNvSpPr/>
          <p:nvPr/>
        </p:nvSpPr>
        <p:spPr>
          <a:xfrm>
            <a:off x="1514477" y="5474793"/>
            <a:ext cx="6118622" cy="307777"/>
          </a:xfrm>
          <a:prstGeom prst="rect">
            <a:avLst/>
          </a:prstGeom>
          <a:noFill/>
          <a:ln/>
        </p:spPr>
        <p:txBody>
          <a:bodyPr wrap="square" lIns="0" tIns="0" rIns="0" bIns="0" rtlCol="0" anchor="t">
            <a:spAutoFit/>
          </a:bodyPr>
          <a:lstStyle/>
          <a:p>
            <a:r>
              <a:rPr lang="en-US" sz="2000" dirty="0">
                <a:solidFill>
                  <a:srgbClr val="333333"/>
                </a:solidFill>
                <a:latin typeface="Open Sans" pitchFamily="34" charset="0"/>
                <a:ea typeface="Open Sans" pitchFamily="34" charset="-122"/>
                <a:cs typeface="Open Sans" pitchFamily="34" charset="-120"/>
              </a:rPr>
              <a:t>Triển khai đầy đủ </a:t>
            </a:r>
            <a:r>
              <a:rPr lang="en-US" sz="2000" dirty="0">
                <a:solidFill>
                  <a:srgbClr val="000000"/>
                </a:solidFill>
                <a:latin typeface="Open Sans SemiBold" pitchFamily="34" charset="0"/>
                <a:ea typeface="Open Sans SemiBold" pitchFamily="34" charset="-122"/>
                <a:cs typeface="Open Sans SemiBold" pitchFamily="34" charset="-120"/>
              </a:rPr>
              <a:t>ReviewDueWorker</a:t>
            </a:r>
            <a:r>
              <a:rPr lang="en-US" sz="2000" dirty="0">
                <a:solidFill>
                  <a:srgbClr val="333333"/>
                </a:solidFill>
                <a:latin typeface="Open Sans" pitchFamily="34" charset="0"/>
                <a:ea typeface="Open Sans" pitchFamily="34" charset="-122"/>
                <a:cs typeface="Open Sans" pitchFamily="34" charset="-120"/>
              </a:rPr>
              <a:t> cho hệ thống.</a:t>
            </a:r>
            <a:endParaRPr lang="en-US" sz="2000" dirty="0"/>
          </a:p>
        </p:txBody>
      </p:sp>
      <p:sp>
        <p:nvSpPr>
          <p:cNvPr id="13" name="Shape 6"/>
          <p:cNvSpPr/>
          <p:nvPr/>
        </p:nvSpPr>
        <p:spPr>
          <a:xfrm>
            <a:off x="9944101" y="2778027"/>
            <a:ext cx="1000126" cy="1000126"/>
          </a:xfrm>
          <a:prstGeom prst="rect">
            <a:avLst/>
          </a:prstGeom>
          <a:solidFill>
            <a:srgbClr val="D32F2F"/>
          </a:solidFill>
          <a:ln w="27432">
            <a:solidFill>
              <a:srgbClr val="FFFFFF"/>
            </a:solidFill>
            <a:prstDash val="solid"/>
          </a:ln>
        </p:spPr>
      </p:sp>
      <p:pic>
        <p:nvPicPr>
          <p:cNvPr id="14" name="Image 5" descr="preencoded.png"/>
          <p:cNvPicPr>
            <a:picLocks noChangeAspect="1"/>
          </p:cNvPicPr>
          <p:nvPr/>
        </p:nvPicPr>
        <p:blipFill>
          <a:blip r:embed="rId7"/>
          <a:stretch>
            <a:fillRect/>
          </a:stretch>
        </p:blipFill>
        <p:spPr>
          <a:xfrm>
            <a:off x="10272712" y="3106638"/>
            <a:ext cx="342900" cy="342900"/>
          </a:xfrm>
          <a:prstGeom prst="rect">
            <a:avLst/>
          </a:prstGeom>
        </p:spPr>
      </p:pic>
      <p:sp>
        <p:nvSpPr>
          <p:cNvPr id="15" name="Text 7"/>
          <p:cNvSpPr/>
          <p:nvPr/>
        </p:nvSpPr>
        <p:spPr>
          <a:xfrm>
            <a:off x="9944100" y="4206776"/>
            <a:ext cx="7200900" cy="492443"/>
          </a:xfrm>
          <a:prstGeom prst="rect">
            <a:avLst/>
          </a:prstGeom>
          <a:noFill/>
          <a:ln/>
        </p:spPr>
        <p:txBody>
          <a:bodyPr wrap="square" lIns="0" tIns="0" rIns="0" bIns="0" rtlCol="0" anchor="t">
            <a:spAutoFit/>
          </a:bodyPr>
          <a:lstStyle/>
          <a:p>
            <a:r>
              <a:rPr lang="en-US" sz="3200" b="1" dirty="0">
                <a:solidFill>
                  <a:srgbClr val="000000"/>
                </a:solidFill>
                <a:latin typeface="Open Sans Bold" panose="020B0806030504020204" pitchFamily="34" charset="0"/>
                <a:ea typeface="Open Sans Bold" panose="020B0806030504020204" pitchFamily="34" charset="0"/>
                <a:cs typeface="Open Sans Bold" panose="020B0806030504020204" pitchFamily="34" charset="0"/>
              </a:rPr>
              <a:t>TRUNG HẠN</a:t>
            </a:r>
            <a:endParaRPr lang="en-US" sz="3200" dirty="0">
              <a:latin typeface="Open Sans Bold" panose="020B0806030504020204" pitchFamily="34" charset="0"/>
              <a:ea typeface="Open Sans Bold" panose="020B0806030504020204" pitchFamily="34" charset="0"/>
              <a:cs typeface="Open Sans Bold" panose="020B0806030504020204" pitchFamily="34" charset="0"/>
            </a:endParaRPr>
          </a:p>
        </p:txBody>
      </p:sp>
      <p:pic>
        <p:nvPicPr>
          <p:cNvPr id="16" name="Image 6" descr="preencoded.png"/>
          <p:cNvPicPr>
            <a:picLocks noChangeAspect="1"/>
          </p:cNvPicPr>
          <p:nvPr/>
        </p:nvPicPr>
        <p:blipFill>
          <a:blip r:embed="rId5"/>
          <a:stretch>
            <a:fillRect/>
          </a:stretch>
        </p:blipFill>
        <p:spPr>
          <a:xfrm>
            <a:off x="9944101" y="4996161"/>
            <a:ext cx="200026" cy="200026"/>
          </a:xfrm>
          <a:prstGeom prst="rect">
            <a:avLst/>
          </a:prstGeom>
        </p:spPr>
      </p:pic>
      <p:sp>
        <p:nvSpPr>
          <p:cNvPr id="17" name="Text 8"/>
          <p:cNvSpPr/>
          <p:nvPr/>
        </p:nvSpPr>
        <p:spPr>
          <a:xfrm>
            <a:off x="10315577" y="4910436"/>
            <a:ext cx="6829426" cy="615553"/>
          </a:xfrm>
          <a:prstGeom prst="rect">
            <a:avLst/>
          </a:prstGeom>
          <a:noFill/>
          <a:ln/>
        </p:spPr>
        <p:txBody>
          <a:bodyPr wrap="square" lIns="0" tIns="0" rIns="0" bIns="0" rtlCol="0" anchor="t">
            <a:spAutoFit/>
          </a:bodyPr>
          <a:lstStyle/>
          <a:p>
            <a:r>
              <a:rPr lang="en-US" sz="2000" dirty="0">
                <a:solidFill>
                  <a:srgbClr val="333333"/>
                </a:solidFill>
                <a:latin typeface="Open Sans" pitchFamily="34" charset="0"/>
                <a:ea typeface="Open Sans" pitchFamily="34" charset="-122"/>
                <a:cs typeface="Open Sans" pitchFamily="34" charset="-120"/>
              </a:rPr>
              <a:t>Đa dạng hóa hình thức học: </a:t>
            </a:r>
            <a:r>
              <a:rPr lang="en-US" sz="2000" dirty="0">
                <a:solidFill>
                  <a:srgbClr val="000000"/>
                </a:solidFill>
                <a:latin typeface="Open Sans SemiBold" pitchFamily="34" charset="0"/>
                <a:ea typeface="Open Sans SemiBold" pitchFamily="34" charset="-122"/>
                <a:cs typeface="Open Sans SemiBold" pitchFamily="34" charset="-120"/>
              </a:rPr>
              <a:t>Trắc nghiệm, luyện nghe, ghép từ</a:t>
            </a:r>
            <a:r>
              <a:rPr lang="en-US" sz="2000" dirty="0">
                <a:solidFill>
                  <a:srgbClr val="333333"/>
                </a:solidFill>
                <a:latin typeface="Open Sans" pitchFamily="34" charset="0"/>
                <a:ea typeface="Open Sans" pitchFamily="34" charset="-122"/>
                <a:cs typeface="Open Sans" pitchFamily="34" charset="-120"/>
              </a:rPr>
              <a:t>.</a:t>
            </a:r>
            <a:endParaRPr lang="en-US" sz="2000" dirty="0"/>
          </a:p>
        </p:txBody>
      </p:sp>
      <p:pic>
        <p:nvPicPr>
          <p:cNvPr id="18" name="Image 7" descr="preencoded.png"/>
          <p:cNvPicPr>
            <a:picLocks noChangeAspect="1"/>
          </p:cNvPicPr>
          <p:nvPr/>
        </p:nvPicPr>
        <p:blipFill>
          <a:blip r:embed="rId5"/>
          <a:stretch>
            <a:fillRect/>
          </a:stretch>
        </p:blipFill>
        <p:spPr>
          <a:xfrm>
            <a:off x="9944101" y="5910561"/>
            <a:ext cx="200026" cy="200026"/>
          </a:xfrm>
          <a:prstGeom prst="rect">
            <a:avLst/>
          </a:prstGeom>
        </p:spPr>
      </p:pic>
      <p:sp>
        <p:nvSpPr>
          <p:cNvPr id="19" name="Text 9"/>
          <p:cNvSpPr/>
          <p:nvPr/>
        </p:nvSpPr>
        <p:spPr>
          <a:xfrm>
            <a:off x="10315577" y="5824837"/>
            <a:ext cx="6829426" cy="615553"/>
          </a:xfrm>
          <a:prstGeom prst="rect">
            <a:avLst/>
          </a:prstGeom>
          <a:noFill/>
          <a:ln/>
        </p:spPr>
        <p:txBody>
          <a:bodyPr wrap="square" lIns="0" tIns="0" rIns="0" bIns="0" rtlCol="0" anchor="t">
            <a:spAutoFit/>
          </a:bodyPr>
          <a:lstStyle/>
          <a:p>
            <a:r>
              <a:rPr lang="en-US" sz="2000" dirty="0">
                <a:solidFill>
                  <a:srgbClr val="333333"/>
                </a:solidFill>
                <a:latin typeface="Open Sans" pitchFamily="34" charset="0"/>
                <a:ea typeface="Open Sans" pitchFamily="34" charset="-122"/>
                <a:cs typeface="Open Sans" pitchFamily="34" charset="-120"/>
              </a:rPr>
              <a:t>Phát triển tính năng </a:t>
            </a:r>
            <a:r>
              <a:rPr lang="en-US" sz="2000" dirty="0">
                <a:solidFill>
                  <a:srgbClr val="000000"/>
                </a:solidFill>
                <a:latin typeface="Open Sans SemiBold" pitchFamily="34" charset="0"/>
                <a:ea typeface="Open Sans SemiBold" pitchFamily="34" charset="-122"/>
                <a:cs typeface="Open Sans SemiBold" pitchFamily="34" charset="-120"/>
              </a:rPr>
              <a:t>Thống kê nâng cao</a:t>
            </a:r>
            <a:r>
              <a:rPr lang="en-US" sz="2000" dirty="0">
                <a:solidFill>
                  <a:srgbClr val="333333"/>
                </a:solidFill>
                <a:latin typeface="Open Sans" pitchFamily="34" charset="0"/>
                <a:ea typeface="Open Sans" pitchFamily="34" charset="-122"/>
                <a:cs typeface="Open Sans" pitchFamily="34" charset="-120"/>
              </a:rPr>
              <a:t> và Widget màn hình chính.</a:t>
            </a:r>
            <a:endParaRPr lang="en-US" sz="2000" dirty="0"/>
          </a:p>
        </p:txBody>
      </p:sp>
      <p:pic>
        <p:nvPicPr>
          <p:cNvPr id="20" name="Image 8" descr="preencoded.png"/>
          <p:cNvPicPr>
            <a:picLocks noChangeAspect="1"/>
          </p:cNvPicPr>
          <p:nvPr/>
        </p:nvPicPr>
        <p:blipFill>
          <a:blip r:embed="rId5"/>
          <a:stretch>
            <a:fillRect/>
          </a:stretch>
        </p:blipFill>
        <p:spPr>
          <a:xfrm>
            <a:off x="9944101" y="6824961"/>
            <a:ext cx="200026" cy="200026"/>
          </a:xfrm>
          <a:prstGeom prst="rect">
            <a:avLst/>
          </a:prstGeom>
        </p:spPr>
      </p:pic>
      <p:sp>
        <p:nvSpPr>
          <p:cNvPr id="21" name="Text 10"/>
          <p:cNvSpPr/>
          <p:nvPr/>
        </p:nvSpPr>
        <p:spPr>
          <a:xfrm>
            <a:off x="10315576" y="6739237"/>
            <a:ext cx="5689996" cy="307777"/>
          </a:xfrm>
          <a:prstGeom prst="rect">
            <a:avLst/>
          </a:prstGeom>
          <a:noFill/>
          <a:ln/>
        </p:spPr>
        <p:txBody>
          <a:bodyPr wrap="square" lIns="0" tIns="0" rIns="0" bIns="0" rtlCol="0" anchor="t">
            <a:spAutoFit/>
          </a:bodyPr>
          <a:lstStyle/>
          <a:p>
            <a:r>
              <a:rPr lang="en-US" sz="2000" dirty="0">
                <a:solidFill>
                  <a:srgbClr val="333333"/>
                </a:solidFill>
                <a:latin typeface="Open Sans" pitchFamily="34" charset="0"/>
                <a:ea typeface="Open Sans" pitchFamily="34" charset="-122"/>
                <a:cs typeface="Open Sans" pitchFamily="34" charset="-120"/>
              </a:rPr>
              <a:t>Xây dựng hệ sinh thái </a:t>
            </a:r>
            <a:r>
              <a:rPr lang="en-US" sz="2000" dirty="0">
                <a:solidFill>
                  <a:srgbClr val="000000"/>
                </a:solidFill>
                <a:latin typeface="Open Sans SemiBold" pitchFamily="34" charset="0"/>
                <a:ea typeface="Open Sans SemiBold" pitchFamily="34" charset="-122"/>
                <a:cs typeface="Open Sans SemiBold" pitchFamily="34" charset="-120"/>
              </a:rPr>
              <a:t>Chia sẻ bộ từ cộng đồng</a:t>
            </a:r>
            <a:r>
              <a:rPr lang="en-US" sz="2000" dirty="0">
                <a:solidFill>
                  <a:srgbClr val="333333"/>
                </a:solidFill>
                <a:latin typeface="Open Sans" pitchFamily="34" charset="0"/>
                <a:ea typeface="Open Sans" pitchFamily="34" charset="-122"/>
                <a:cs typeface="Open Sans" pitchFamily="34" charset="-120"/>
              </a:rPr>
              <a:t>.</a:t>
            </a:r>
            <a:endParaRPr lang="en-US" sz="2000" dirty="0"/>
          </a:p>
        </p:txBody>
      </p:sp>
      <p:sp>
        <p:nvSpPr>
          <p:cNvPr id="22" name="TextBox 21">
            <a:extLst>
              <a:ext uri="{FF2B5EF4-FFF2-40B4-BE49-F238E27FC236}">
                <a16:creationId xmlns:a16="http://schemas.microsoft.com/office/drawing/2014/main" id="{6E9E434D-D793-76EA-98C0-A2FCC7D95DE1}"/>
              </a:ext>
            </a:extLst>
          </p:cNvPr>
          <p:cNvSpPr txBox="1"/>
          <p:nvPr/>
        </p:nvSpPr>
        <p:spPr>
          <a:xfrm>
            <a:off x="17831821" y="9831884"/>
            <a:ext cx="415498"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33</a:t>
            </a:r>
            <a:endParaRPr lang="vi-V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8288000" cy="10287000"/>
          </a:xfrm>
          <a:prstGeom prst="rect">
            <a:avLst/>
          </a:prstGeom>
        </p:spPr>
      </p:pic>
      <p:sp>
        <p:nvSpPr>
          <p:cNvPr id="3" name="Text 0"/>
          <p:cNvSpPr/>
          <p:nvPr/>
        </p:nvSpPr>
        <p:spPr>
          <a:xfrm>
            <a:off x="1143000" y="1163539"/>
            <a:ext cx="17145000" cy="615553"/>
          </a:xfrm>
          <a:prstGeom prst="rect">
            <a:avLst/>
          </a:prstGeom>
          <a:noFill/>
          <a:ln/>
        </p:spPr>
        <p:txBody>
          <a:bodyPr wrap="square" lIns="0" tIns="0" rIns="0" bIns="0" rtlCol="0" anchor="t">
            <a:spAutoFit/>
          </a:bodyPr>
          <a:lstStyle/>
          <a:p>
            <a:r>
              <a:rPr lang="vi-VN" sz="4000" b="1" dirty="0">
                <a:solidFill>
                  <a:srgbClr val="000000"/>
                </a:solidFill>
                <a:latin typeface="Montserrat Bold" pitchFamily="34" charset="0"/>
                <a:ea typeface="Montserrat Bold" pitchFamily="34" charset="-122"/>
                <a:cs typeface="Montserrat Bold" pitchFamily="34" charset="-120"/>
              </a:rPr>
              <a:t>HƯỚNG PHÁT TRIỂN DÀI HẠN</a:t>
            </a:r>
            <a:endParaRPr lang="en-US" sz="4000" dirty="0"/>
          </a:p>
        </p:txBody>
      </p:sp>
      <p:sp>
        <p:nvSpPr>
          <p:cNvPr id="4" name="Shape 1"/>
          <p:cNvSpPr/>
          <p:nvPr/>
        </p:nvSpPr>
        <p:spPr>
          <a:xfrm>
            <a:off x="2905107" y="3063777"/>
            <a:ext cx="1428750" cy="1428750"/>
          </a:xfrm>
          <a:prstGeom prst="rect">
            <a:avLst/>
          </a:prstGeom>
          <a:solidFill>
            <a:srgbClr val="000000"/>
          </a:solidFill>
          <a:ln/>
        </p:spPr>
      </p:sp>
      <p:pic>
        <p:nvPicPr>
          <p:cNvPr id="5" name="Image 1" descr="preencoded.png"/>
          <p:cNvPicPr>
            <a:picLocks noChangeAspect="1"/>
          </p:cNvPicPr>
          <p:nvPr/>
        </p:nvPicPr>
        <p:blipFill>
          <a:blip r:embed="rId4"/>
          <a:stretch>
            <a:fillRect/>
          </a:stretch>
        </p:blipFill>
        <p:spPr>
          <a:xfrm>
            <a:off x="3333732" y="3492400"/>
            <a:ext cx="571500" cy="571500"/>
          </a:xfrm>
          <a:prstGeom prst="rect">
            <a:avLst/>
          </a:prstGeom>
        </p:spPr>
      </p:pic>
      <p:sp>
        <p:nvSpPr>
          <p:cNvPr id="6" name="Text 2"/>
          <p:cNvSpPr/>
          <p:nvPr/>
        </p:nvSpPr>
        <p:spPr>
          <a:xfrm>
            <a:off x="1143001" y="4921150"/>
            <a:ext cx="4953018" cy="492443"/>
          </a:xfrm>
          <a:prstGeom prst="rect">
            <a:avLst/>
          </a:prstGeom>
          <a:noFill/>
          <a:ln/>
        </p:spPr>
        <p:txBody>
          <a:bodyPr wrap="square" lIns="0" tIns="0" rIns="0" bIns="0" rtlCol="0" anchor="t">
            <a:spAutoFit/>
          </a:bodyPr>
          <a:lstStyle/>
          <a:p>
            <a:pPr algn="ctr"/>
            <a:r>
              <a:rPr lang="en-US" sz="3200" b="1" dirty="0">
                <a:solidFill>
                  <a:srgbClr val="000000"/>
                </a:solidFill>
                <a:latin typeface="Montserrat Bold" pitchFamily="34" charset="0"/>
                <a:ea typeface="Montserrat Bold" pitchFamily="34" charset="-122"/>
                <a:cs typeface="Montserrat Bold" pitchFamily="34" charset="-120"/>
              </a:rPr>
              <a:t>ĐA NỀN TẢNG</a:t>
            </a:r>
            <a:endParaRPr lang="en-US" sz="3200" dirty="0"/>
          </a:p>
        </p:txBody>
      </p:sp>
      <p:sp>
        <p:nvSpPr>
          <p:cNvPr id="7" name="Text 3"/>
          <p:cNvSpPr/>
          <p:nvPr/>
        </p:nvSpPr>
        <p:spPr>
          <a:xfrm>
            <a:off x="1143001" y="5860554"/>
            <a:ext cx="4953018" cy="1716560"/>
          </a:xfrm>
          <a:prstGeom prst="rect">
            <a:avLst/>
          </a:prstGeom>
          <a:noFill/>
          <a:ln/>
        </p:spPr>
        <p:txBody>
          <a:bodyPr wrap="square" lIns="0" tIns="170180" rIns="0" bIns="0" rtlCol="0" anchor="t">
            <a:spAutoFit/>
          </a:bodyPr>
          <a:lstStyle/>
          <a:p>
            <a:pPr algn="ctr">
              <a:lnSpc>
                <a:spcPct val="128000"/>
              </a:lnSpc>
            </a:pPr>
            <a:r>
              <a:rPr lang="en-US" sz="2000" dirty="0">
                <a:solidFill>
                  <a:srgbClr val="333333"/>
                </a:solidFill>
                <a:latin typeface="Open Sans" pitchFamily="34" charset="0"/>
                <a:ea typeface="Open Sans" pitchFamily="34" charset="-122"/>
                <a:cs typeface="Open Sans" pitchFamily="34" charset="-120"/>
              </a:rPr>
              <a:t>Phát triển hệ sinh thái toàn diện trên </a:t>
            </a:r>
            <a:r>
              <a:rPr lang="en-US" sz="2000" b="1" dirty="0">
                <a:solidFill>
                  <a:srgbClr val="333333"/>
                </a:solidFill>
                <a:latin typeface="Open Sans SemiBold" pitchFamily="34" charset="0"/>
                <a:ea typeface="Open Sans SemiBold" pitchFamily="34" charset="-122"/>
                <a:cs typeface="Open Sans SemiBold" pitchFamily="34" charset="-120"/>
              </a:rPr>
              <a:t>iOS</a:t>
            </a:r>
            <a:r>
              <a:rPr lang="en-US" sz="2000" dirty="0">
                <a:solidFill>
                  <a:srgbClr val="333333"/>
                </a:solidFill>
                <a:latin typeface="Open Sans" pitchFamily="34" charset="0"/>
                <a:ea typeface="Open Sans" pitchFamily="34" charset="-122"/>
                <a:cs typeface="Open Sans" pitchFamily="34" charset="-120"/>
              </a:rPr>
              <a:t> và </a:t>
            </a:r>
            <a:r>
              <a:rPr lang="en-US" sz="2000" b="1" dirty="0">
                <a:solidFill>
                  <a:srgbClr val="333333"/>
                </a:solidFill>
                <a:latin typeface="Open Sans SemiBold" pitchFamily="34" charset="0"/>
                <a:ea typeface="Open Sans SemiBold" pitchFamily="34" charset="-122"/>
                <a:cs typeface="Open Sans SemiBold" pitchFamily="34" charset="-120"/>
              </a:rPr>
              <a:t>Web</a:t>
            </a:r>
            <a:r>
              <a:rPr lang="en-US" sz="2000" dirty="0">
                <a:solidFill>
                  <a:srgbClr val="333333"/>
                </a:solidFill>
                <a:latin typeface="Open Sans" pitchFamily="34" charset="0"/>
                <a:ea typeface="Open Sans" pitchFamily="34" charset="-122"/>
                <a:cs typeface="Open Sans" pitchFamily="34" charset="-120"/>
              </a:rPr>
              <a:t>, cho phép người dùng học tập mọi lúc, mọi nơi với dữ liệu đồng bộ tuyệt đối.</a:t>
            </a:r>
            <a:endParaRPr lang="en-US" sz="2000" dirty="0"/>
          </a:p>
        </p:txBody>
      </p:sp>
      <p:sp>
        <p:nvSpPr>
          <p:cNvPr id="8" name="Shape 4"/>
          <p:cNvSpPr/>
          <p:nvPr/>
        </p:nvSpPr>
        <p:spPr>
          <a:xfrm>
            <a:off x="8429627" y="3063777"/>
            <a:ext cx="1428750" cy="1428750"/>
          </a:xfrm>
          <a:prstGeom prst="rect">
            <a:avLst/>
          </a:prstGeom>
          <a:solidFill>
            <a:srgbClr val="000000"/>
          </a:solidFill>
          <a:ln/>
        </p:spPr>
      </p:sp>
      <p:pic>
        <p:nvPicPr>
          <p:cNvPr id="9" name="Image 2" descr="preencoded.png"/>
          <p:cNvPicPr>
            <a:picLocks noChangeAspect="1"/>
          </p:cNvPicPr>
          <p:nvPr/>
        </p:nvPicPr>
        <p:blipFill>
          <a:blip r:embed="rId5"/>
          <a:stretch>
            <a:fillRect/>
          </a:stretch>
        </p:blipFill>
        <p:spPr>
          <a:xfrm>
            <a:off x="8858250" y="3492400"/>
            <a:ext cx="571500" cy="571500"/>
          </a:xfrm>
          <a:prstGeom prst="rect">
            <a:avLst/>
          </a:prstGeom>
        </p:spPr>
      </p:pic>
      <p:sp>
        <p:nvSpPr>
          <p:cNvPr id="10" name="Text 5"/>
          <p:cNvSpPr/>
          <p:nvPr/>
        </p:nvSpPr>
        <p:spPr>
          <a:xfrm>
            <a:off x="6667519" y="4921150"/>
            <a:ext cx="4953018" cy="492443"/>
          </a:xfrm>
          <a:prstGeom prst="rect">
            <a:avLst/>
          </a:prstGeom>
          <a:noFill/>
          <a:ln/>
        </p:spPr>
        <p:txBody>
          <a:bodyPr wrap="square" lIns="0" tIns="0" rIns="0" bIns="0" rtlCol="0" anchor="t">
            <a:spAutoFit/>
          </a:bodyPr>
          <a:lstStyle/>
          <a:p>
            <a:pPr algn="ctr"/>
            <a:r>
              <a:rPr lang="en-US" sz="3200" b="1" dirty="0">
                <a:solidFill>
                  <a:srgbClr val="000000"/>
                </a:solidFill>
                <a:latin typeface="Montserrat Bold" pitchFamily="34" charset="0"/>
                <a:ea typeface="Montserrat Bold" pitchFamily="34" charset="-122"/>
                <a:cs typeface="Montserrat Bold" pitchFamily="34" charset="-120"/>
              </a:rPr>
              <a:t>TÍCH HỢP AI</a:t>
            </a:r>
            <a:endParaRPr lang="en-US" sz="3200" dirty="0"/>
          </a:p>
        </p:txBody>
      </p:sp>
      <p:sp>
        <p:nvSpPr>
          <p:cNvPr id="11" name="Text 6"/>
          <p:cNvSpPr/>
          <p:nvPr/>
        </p:nvSpPr>
        <p:spPr>
          <a:xfrm>
            <a:off x="6667519" y="5860554"/>
            <a:ext cx="4953018" cy="1716560"/>
          </a:xfrm>
          <a:prstGeom prst="rect">
            <a:avLst/>
          </a:prstGeom>
          <a:noFill/>
          <a:ln/>
        </p:spPr>
        <p:txBody>
          <a:bodyPr wrap="square" lIns="0" tIns="170180" rIns="0" bIns="0" rtlCol="0" anchor="t">
            <a:spAutoFit/>
          </a:bodyPr>
          <a:lstStyle/>
          <a:p>
            <a:pPr algn="ctr">
              <a:lnSpc>
                <a:spcPct val="128000"/>
              </a:lnSpc>
            </a:pPr>
            <a:r>
              <a:rPr lang="en-US" sz="2000" dirty="0">
                <a:solidFill>
                  <a:srgbClr val="333333"/>
                </a:solidFill>
                <a:latin typeface="Open Sans" pitchFamily="34" charset="0"/>
                <a:ea typeface="Open Sans" pitchFamily="34" charset="-122"/>
                <a:cs typeface="Open Sans" pitchFamily="34" charset="-120"/>
              </a:rPr>
              <a:t>Ứng dụng </a:t>
            </a:r>
            <a:r>
              <a:rPr lang="en-US" sz="2000" b="1" dirty="0">
                <a:solidFill>
                  <a:srgbClr val="333333"/>
                </a:solidFill>
                <a:latin typeface="Open Sans SemiBold" pitchFamily="34" charset="0"/>
                <a:ea typeface="Open Sans SemiBold" pitchFamily="34" charset="-122"/>
                <a:cs typeface="Open Sans SemiBold" pitchFamily="34" charset="-120"/>
              </a:rPr>
              <a:t>Trí tuệ nhân tạo</a:t>
            </a:r>
            <a:r>
              <a:rPr lang="en-US" sz="2000" dirty="0">
                <a:solidFill>
                  <a:srgbClr val="333333"/>
                </a:solidFill>
                <a:latin typeface="Open Sans" pitchFamily="34" charset="0"/>
                <a:ea typeface="Open Sans" pitchFamily="34" charset="-122"/>
                <a:cs typeface="Open Sans" pitchFamily="34" charset="-120"/>
              </a:rPr>
              <a:t> để gợi ý lộ trình học tập cá nhân hóa, tự động sinh ví dụ minh họa và hỗ trợ luyện phát âm thông minh.</a:t>
            </a:r>
            <a:endParaRPr lang="en-US" sz="2000" dirty="0"/>
          </a:p>
        </p:txBody>
      </p:sp>
      <p:sp>
        <p:nvSpPr>
          <p:cNvPr id="12" name="Shape 7"/>
          <p:cNvSpPr/>
          <p:nvPr/>
        </p:nvSpPr>
        <p:spPr>
          <a:xfrm>
            <a:off x="13954145" y="3063777"/>
            <a:ext cx="1428750" cy="1428750"/>
          </a:xfrm>
          <a:prstGeom prst="rect">
            <a:avLst/>
          </a:prstGeom>
          <a:solidFill>
            <a:srgbClr val="000000"/>
          </a:solidFill>
          <a:ln/>
        </p:spPr>
      </p:sp>
      <p:pic>
        <p:nvPicPr>
          <p:cNvPr id="13" name="Image 3" descr="preencoded.png"/>
          <p:cNvPicPr>
            <a:picLocks noChangeAspect="1"/>
          </p:cNvPicPr>
          <p:nvPr/>
        </p:nvPicPr>
        <p:blipFill>
          <a:blip r:embed="rId6"/>
          <a:stretch>
            <a:fillRect/>
          </a:stretch>
        </p:blipFill>
        <p:spPr>
          <a:xfrm>
            <a:off x="14347051" y="3492400"/>
            <a:ext cx="642938" cy="571500"/>
          </a:xfrm>
          <a:prstGeom prst="rect">
            <a:avLst/>
          </a:prstGeom>
        </p:spPr>
      </p:pic>
      <p:sp>
        <p:nvSpPr>
          <p:cNvPr id="14" name="Text 8"/>
          <p:cNvSpPr/>
          <p:nvPr/>
        </p:nvSpPr>
        <p:spPr>
          <a:xfrm>
            <a:off x="12192039" y="4921150"/>
            <a:ext cx="4953018" cy="492443"/>
          </a:xfrm>
          <a:prstGeom prst="rect">
            <a:avLst/>
          </a:prstGeom>
          <a:noFill/>
          <a:ln/>
        </p:spPr>
        <p:txBody>
          <a:bodyPr wrap="square" lIns="0" tIns="0" rIns="0" bIns="0" rtlCol="0" anchor="t">
            <a:spAutoFit/>
          </a:bodyPr>
          <a:lstStyle/>
          <a:p>
            <a:pPr algn="ctr"/>
            <a:r>
              <a:rPr lang="en-US" sz="3200" b="1" dirty="0">
                <a:solidFill>
                  <a:srgbClr val="000000"/>
                </a:solidFill>
                <a:latin typeface="Montserrat Bold" pitchFamily="34" charset="0"/>
                <a:ea typeface="Montserrat Bold" pitchFamily="34" charset="-122"/>
                <a:cs typeface="Montserrat Bold" pitchFamily="34" charset="-120"/>
              </a:rPr>
              <a:t>THƯƠNG MẠI HÓA</a:t>
            </a:r>
            <a:endParaRPr lang="en-US" sz="3200" dirty="0"/>
          </a:p>
        </p:txBody>
      </p:sp>
      <p:sp>
        <p:nvSpPr>
          <p:cNvPr id="15" name="Text 9"/>
          <p:cNvSpPr/>
          <p:nvPr/>
        </p:nvSpPr>
        <p:spPr>
          <a:xfrm>
            <a:off x="12192039" y="5860554"/>
            <a:ext cx="4953018" cy="1716560"/>
          </a:xfrm>
          <a:prstGeom prst="rect">
            <a:avLst/>
          </a:prstGeom>
          <a:noFill/>
          <a:ln/>
        </p:spPr>
        <p:txBody>
          <a:bodyPr wrap="square" lIns="0" tIns="170180" rIns="0" bIns="0" rtlCol="0" anchor="t">
            <a:spAutoFit/>
          </a:bodyPr>
          <a:lstStyle/>
          <a:p>
            <a:pPr algn="ctr">
              <a:lnSpc>
                <a:spcPct val="128000"/>
              </a:lnSpc>
            </a:pPr>
            <a:r>
              <a:rPr lang="en-US" sz="2000" dirty="0">
                <a:solidFill>
                  <a:srgbClr val="333333"/>
                </a:solidFill>
                <a:latin typeface="Open Sans" pitchFamily="34" charset="0"/>
                <a:ea typeface="Open Sans" pitchFamily="34" charset="-122"/>
                <a:cs typeface="Open Sans" pitchFamily="34" charset="-120"/>
              </a:rPr>
              <a:t>Nghiên cứu mô hình kinh doanh </a:t>
            </a:r>
            <a:r>
              <a:rPr lang="en-US" sz="2000" b="1" dirty="0">
                <a:solidFill>
                  <a:srgbClr val="333333"/>
                </a:solidFill>
                <a:latin typeface="Open Sans SemiBold" pitchFamily="34" charset="0"/>
                <a:ea typeface="Open Sans SemiBold" pitchFamily="34" charset="-122"/>
                <a:cs typeface="Open Sans SemiBold" pitchFamily="34" charset="-120"/>
              </a:rPr>
              <a:t>Freemium</a:t>
            </a:r>
            <a:r>
              <a:rPr lang="en-US" sz="2000" dirty="0">
                <a:solidFill>
                  <a:srgbClr val="333333"/>
                </a:solidFill>
                <a:latin typeface="Open Sans" pitchFamily="34" charset="0"/>
                <a:ea typeface="Open Sans" pitchFamily="34" charset="-122"/>
                <a:cs typeface="Open Sans" pitchFamily="34" charset="-120"/>
              </a:rPr>
              <a:t>, cung cấp các tính năng cao cấp và nội dung chuyên sâu cho người dùng trả phí.</a:t>
            </a:r>
            <a:endParaRPr lang="en-US" sz="2000" dirty="0"/>
          </a:p>
        </p:txBody>
      </p:sp>
      <p:sp>
        <p:nvSpPr>
          <p:cNvPr id="16" name="TextBox 15">
            <a:extLst>
              <a:ext uri="{FF2B5EF4-FFF2-40B4-BE49-F238E27FC236}">
                <a16:creationId xmlns:a16="http://schemas.microsoft.com/office/drawing/2014/main" id="{339F42D7-363F-7ACA-AD5A-B883C06F14AB}"/>
              </a:ext>
            </a:extLst>
          </p:cNvPr>
          <p:cNvSpPr txBox="1"/>
          <p:nvPr/>
        </p:nvSpPr>
        <p:spPr>
          <a:xfrm>
            <a:off x="17831821" y="9831884"/>
            <a:ext cx="415498"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34</a:t>
            </a:r>
            <a:endParaRPr lang="vi-V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8288000" cy="10287000"/>
          </a:xfrm>
          <a:prstGeom prst="rect">
            <a:avLst/>
          </a:prstGeom>
        </p:spPr>
      </p:pic>
      <p:sp>
        <p:nvSpPr>
          <p:cNvPr id="3" name="Text 0"/>
          <p:cNvSpPr/>
          <p:nvPr/>
        </p:nvSpPr>
        <p:spPr>
          <a:xfrm>
            <a:off x="4245175" y="2981734"/>
            <a:ext cx="9797654" cy="1754326"/>
          </a:xfrm>
          <a:prstGeom prst="rect">
            <a:avLst/>
          </a:prstGeom>
          <a:noFill/>
          <a:ln/>
        </p:spPr>
        <p:txBody>
          <a:bodyPr wrap="square" lIns="0" tIns="0" rIns="0" bIns="0" rtlCol="0" anchor="t">
            <a:spAutoFit/>
          </a:bodyPr>
          <a:lstStyle/>
          <a:p>
            <a:pPr algn="ctr"/>
            <a:r>
              <a:rPr lang="en-US" sz="5700" b="1" kern="0" spc="2" dirty="0">
                <a:solidFill>
                  <a:srgbClr val="D32F2F"/>
                </a:solidFill>
                <a:latin typeface="Montserrat Bold" pitchFamily="34" charset="0"/>
                <a:ea typeface="Montserrat Bold" pitchFamily="34" charset="-122"/>
                <a:cs typeface="Montserrat Bold" pitchFamily="34" charset="-120"/>
              </a:rPr>
              <a:t>CẢM </a:t>
            </a:r>
            <a:r>
              <a:rPr lang="en-US" sz="5700" b="1" kern="0" spc="2" dirty="0" err="1">
                <a:solidFill>
                  <a:srgbClr val="D32F2F"/>
                </a:solidFill>
                <a:latin typeface="Montserrat Bold" pitchFamily="34" charset="0"/>
                <a:ea typeface="Montserrat Bold" pitchFamily="34" charset="-122"/>
                <a:cs typeface="Montserrat Bold" pitchFamily="34" charset="-120"/>
              </a:rPr>
              <a:t>ƠN</a:t>
            </a:r>
            <a:r>
              <a:rPr lang="en-US" sz="5700" b="1" kern="0" spc="2" dirty="0">
                <a:solidFill>
                  <a:srgbClr val="D32F2F"/>
                </a:solidFill>
                <a:latin typeface="Montserrat Bold" pitchFamily="34" charset="0"/>
                <a:ea typeface="Montserrat Bold" pitchFamily="34" charset="-122"/>
                <a:cs typeface="Montserrat Bold" pitchFamily="34" charset="-120"/>
              </a:rPr>
              <a:t> </a:t>
            </a:r>
            <a:r>
              <a:rPr lang="en-US" sz="5700" b="1" kern="0" spc="2" dirty="0" err="1">
                <a:solidFill>
                  <a:srgbClr val="D32F2F"/>
                </a:solidFill>
                <a:latin typeface="Montserrat Bold" pitchFamily="34" charset="0"/>
                <a:ea typeface="Montserrat Bold" pitchFamily="34" charset="-122"/>
                <a:cs typeface="Montserrat Bold" pitchFamily="34" charset="-120"/>
              </a:rPr>
              <a:t>THẦY</a:t>
            </a:r>
            <a:r>
              <a:rPr lang="en-US" sz="5700" b="1" kern="0" spc="2" dirty="0">
                <a:solidFill>
                  <a:srgbClr val="D32F2F"/>
                </a:solidFill>
                <a:latin typeface="Montserrat Bold" pitchFamily="34" charset="0"/>
                <a:ea typeface="Montserrat Bold" pitchFamily="34" charset="-122"/>
                <a:cs typeface="Montserrat Bold" pitchFamily="34" charset="-120"/>
              </a:rPr>
              <a:t>
VÀ CÁC BẠN!</a:t>
            </a:r>
            <a:endParaRPr lang="en-US" sz="5700" dirty="0"/>
          </a:p>
        </p:txBody>
      </p:sp>
      <p:sp>
        <p:nvSpPr>
          <p:cNvPr id="4" name="Text 1"/>
          <p:cNvSpPr/>
          <p:nvPr/>
        </p:nvSpPr>
        <p:spPr>
          <a:xfrm>
            <a:off x="4245175" y="5903528"/>
            <a:ext cx="9797654" cy="553998"/>
          </a:xfrm>
          <a:prstGeom prst="rect">
            <a:avLst/>
          </a:prstGeom>
          <a:noFill/>
          <a:ln/>
        </p:spPr>
        <p:txBody>
          <a:bodyPr wrap="square" lIns="0" tIns="0" rIns="0" bIns="0" rtlCol="0" anchor="t">
            <a:spAutoFit/>
          </a:bodyPr>
          <a:lstStyle/>
          <a:p>
            <a:pPr algn="ctr"/>
            <a:r>
              <a:rPr lang="en-US" sz="3600" dirty="0">
                <a:solidFill>
                  <a:srgbClr val="000000"/>
                </a:solidFill>
                <a:latin typeface="Open Sans SemiBold" pitchFamily="34" charset="0"/>
                <a:ea typeface="Open Sans SemiBold" pitchFamily="34" charset="-122"/>
                <a:cs typeface="Open Sans SemiBold" pitchFamily="34" charset="-120"/>
              </a:rPr>
              <a:t>Q&amp;A</a:t>
            </a:r>
            <a:endParaRPr lang="en-US" sz="3600" dirty="0"/>
          </a:p>
        </p:txBody>
      </p:sp>
      <p:sp>
        <p:nvSpPr>
          <p:cNvPr id="5" name="TextBox 4">
            <a:extLst>
              <a:ext uri="{FF2B5EF4-FFF2-40B4-BE49-F238E27FC236}">
                <a16:creationId xmlns:a16="http://schemas.microsoft.com/office/drawing/2014/main" id="{D6B16DF8-FE0C-8DE8-CA0D-EFAF91C92304}"/>
              </a:ext>
            </a:extLst>
          </p:cNvPr>
          <p:cNvSpPr txBox="1"/>
          <p:nvPr/>
        </p:nvSpPr>
        <p:spPr>
          <a:xfrm>
            <a:off x="17872502" y="9791700"/>
            <a:ext cx="415498"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35</a:t>
            </a:r>
            <a:endParaRPr lang="vi-VN"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hủ đề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TotalTime>
  <Words>4673</Words>
  <Application>Microsoft Office PowerPoint</Application>
  <PresentationFormat>Custom</PresentationFormat>
  <Paragraphs>532</Paragraphs>
  <Slides>35</Slides>
  <Notes>34</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35</vt:i4>
      </vt:variant>
    </vt:vector>
  </HeadingPairs>
  <TitlesOfParts>
    <vt:vector size="48" baseType="lpstr">
      <vt:lpstr>Open Sans</vt:lpstr>
      <vt:lpstr>Fraunces Bold</vt:lpstr>
      <vt:lpstr>Open Sans Bold</vt:lpstr>
      <vt:lpstr>Montserrat Bold</vt:lpstr>
      <vt:lpstr>Arial</vt:lpstr>
      <vt:lpstr>Times New Roman</vt:lpstr>
      <vt:lpstr>Open Sans SemiBold</vt:lpstr>
      <vt:lpstr>Montserrat Black</vt:lpstr>
      <vt:lpstr>Fraunces Italics</vt:lpstr>
      <vt:lpstr>Fraunces</vt:lpstr>
      <vt:lpstr>Montserrat ExtraBold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LTDD</dc:title>
  <dc:creator>Huỳnh Thanh Nhân</dc:creator>
  <cp:lastModifiedBy>nhan2</cp:lastModifiedBy>
  <cp:revision>24</cp:revision>
  <dcterms:created xsi:type="dcterms:W3CDTF">2006-08-16T00:00:00Z</dcterms:created>
  <dcterms:modified xsi:type="dcterms:W3CDTF">2026-06-05T12:02:52Z</dcterms:modified>
  <dc:identifier>DAHEYipBWZE</dc:identifier>
</cp:coreProperties>
</file>